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1a's transcript column stitched into 2b's spotlit canvas, with no threshold between them. Thirteen steps, desktop and mobile.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Thirteen steps down one spine, with two off-ramps: the can't-share handover at step 4, and room mode running the same spine on a big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moment before anyone speaks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answered → becomes the first chip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chips now — no counter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fork · the one place the data line is said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can't-share off-ramp leaves the spine at step 4 and never reaches the canvas. The seam works because the column never closes - but the transcript scrolls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transition, no “start” button, no new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box the conversation lives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coach says why it's skipping the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interesting answer, not a blank to skip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is upstream, and nothing reads as an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bet, written against a measure that already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in words · never a number · off in room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sharp, what's open, then the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is stored — if they don't take it here, it's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this pairing creates that neither pack had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calls: whether the canvas pins, whether the can't-share path gets a local canvas, and whether room mode runs this spine.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FECE6"/>
        </a:solidFill>
      </p:bgPr>
    </p:bg>
    <p:spTree>
      <p:nvGrpSpPr>
        <p:cNvPr id="1" name=""/>
        <p:cNvGrpSpPr/>
        <p:nvPr/>
      </p:nvGrpSpPr>
      <p:grpSpPr>
        <a:xfrm>
          <a:off x="0" y="0"/>
          <a:ext cx="0" cy="0"/>
          <a:chOff x="0" y="0"/>
          <a:chExt cx="0" cy="0"/>
        </a:xfrm>
      </p:grpSpPr>
      <p:sp>
        <p:nvSpPr>
          <p:cNvPr id="2" name="Text 0"/>
          <p:cNvSpPr/>
          <p:nvPr/>
        </p:nvSpPr>
        <p:spPr>
          <a:xfrm>
            <a:off x="914400" y="914400"/>
            <a:ext cx="4926553"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b="1" spc="234" kern="0" dirty="0">
                <a:solidFill>
                  <a:srgbClr val="8A8479"/>
                </a:solidFill>
                <a:latin typeface="Courier New" pitchFamily="34" charset="0"/>
                <a:ea typeface="Courier New" pitchFamily="34" charset="-122"/>
                <a:cs typeface="Courier New" pitchFamily="34" charset="-120"/>
              </a:rPr>
              <a:t>BETTERGOALS.AI · END TO END</a:t>
            </a:r>
            <a:endParaRPr lang="en-US" sz="1950" dirty="0"/>
          </a:p>
        </p:txBody>
      </p:sp>
      <p:sp>
        <p:nvSpPr>
          <p:cNvPr id="3" name="Text 1"/>
          <p:cNvSpPr/>
          <p:nvPr/>
        </p:nvSpPr>
        <p:spPr>
          <a:xfrm>
            <a:off x="12136636" y="914400"/>
            <a:ext cx="5760660" cy="276225"/>
          </a:xfrm>
          <a:prstGeom prst="rect">
            <a:avLst/>
          </a:prstGeom>
          <a:noFill/>
          <a:ln/>
        </p:spPr>
        <p:txBody>
          <a:bodyPr wrap="square" lIns="25400" tIns="25400" rIns="25400" bIns="25400" rtlCol="0" anchor="t">
            <a:normAutofit/>
          </a:bodyPr>
          <a:lstStyle/>
          <a:p>
            <a:pPr algn="l" indent="0" marL="0">
              <a:lnSpc>
                <a:spcPct val="86207"/>
              </a:lnSpc>
              <a:buNone/>
            </a:pPr>
            <a:r>
              <a:rPr lang="en-US" sz="1875" b="1" dirty="0">
                <a:solidFill>
                  <a:srgbClr val="8A8479"/>
                </a:solidFill>
                <a:latin typeface="Courier New" pitchFamily="34" charset="0"/>
                <a:ea typeface="Courier New" pitchFamily="34" charset="-122"/>
                <a:cs typeface="Courier New" pitchFamily="34" charset="-120"/>
              </a:rPr>
              <a:t>a Sooner Safer Happier community project</a:t>
            </a:r>
            <a:endParaRPr lang="en-US" sz="1875" dirty="0"/>
          </a:p>
        </p:txBody>
      </p:sp>
      <p:sp>
        <p:nvSpPr>
          <p:cNvPr id="4" name="Text 2"/>
          <p:cNvSpPr/>
          <p:nvPr/>
        </p:nvSpPr>
        <p:spPr>
          <a:xfrm>
            <a:off x="914400" y="3403402"/>
            <a:ext cx="15304770" cy="1998166"/>
          </a:xfrm>
          <a:prstGeom prst="rect">
            <a:avLst/>
          </a:prstGeom>
          <a:noFill/>
          <a:ln/>
        </p:spPr>
        <p:txBody>
          <a:bodyPr wrap="square" lIns="25400" tIns="25400" rIns="25400" bIns="25400" rtlCol="0" anchor="t">
            <a:normAutofit/>
          </a:bodyPr>
          <a:lstStyle/>
          <a:p>
            <a:pPr algn="l" indent="0" marL="0">
              <a:lnSpc>
                <a:spcPct val="91062"/>
              </a:lnSpc>
              <a:buNone/>
            </a:pPr>
            <a:r>
              <a:rPr lang="en-US" sz="7350" dirty="0">
                <a:solidFill>
                  <a:srgbClr val="1B1B1B"/>
                </a:solidFill>
                <a:latin typeface="Arial" pitchFamily="34" charset="0"/>
                <a:ea typeface="Arial" pitchFamily="34" charset="-122"/>
                <a:cs typeface="Arial" pitchFamily="34" charset="-120"/>
              </a:rPr>
              <a:t>One column, start to finish. The canvas rises into it.</a:t>
            </a:r>
            <a:endParaRPr lang="en-US" sz="7350" dirty="0"/>
          </a:p>
        </p:txBody>
      </p:sp>
      <p:sp>
        <p:nvSpPr>
          <p:cNvPr id="5" name="Text 3"/>
          <p:cNvSpPr/>
          <p:nvPr/>
        </p:nvSpPr>
        <p:spPr>
          <a:xfrm>
            <a:off x="914400" y="5687318"/>
            <a:ext cx="12165330" cy="977205"/>
          </a:xfrm>
          <a:prstGeom prst="rect">
            <a:avLst/>
          </a:prstGeom>
          <a:noFill/>
          <a:ln/>
        </p:spPr>
        <p:txBody>
          <a:bodyPr wrap="square" lIns="25400" tIns="25400" rIns="25400" bIns="25400" rtlCol="0" anchor="t">
            <a:normAutofit/>
          </a:bodyPr>
          <a:lstStyle/>
          <a:p>
            <a:pPr algn="l" indent="0" marL="0">
              <a:lnSpc>
                <a:spcPct val="126410"/>
              </a:lnSpc>
              <a:buNone/>
            </a:pPr>
            <a:r>
              <a:rPr lang="en-US" sz="2550" dirty="0">
                <a:solidFill>
                  <a:srgbClr val="3A352D"/>
                </a:solidFill>
                <a:latin typeface="Helvetica" pitchFamily="34" charset="0"/>
                <a:ea typeface="Helvetica" pitchFamily="34" charset="-122"/>
                <a:cs typeface="Helvetica" pitchFamily="34" charset="-120"/>
              </a:rPr>
              <a:t>The transcript column from </a:t>
            </a:r>
            <a:pPr algn="l" indent="0" marL="0">
              <a:lnSpc>
                <a:spcPct val="126410"/>
              </a:lnSpc>
              <a:buNone/>
            </a:pPr>
            <a:r>
              <a:rPr lang="en-US" sz="2550" b="1" dirty="0">
                <a:solidFill>
                  <a:srgbClr val="3A352D"/>
                </a:solidFill>
                <a:latin typeface="Helvetica" pitchFamily="34" charset="0"/>
                <a:ea typeface="Helvetica" pitchFamily="34" charset="-122"/>
                <a:cs typeface="Helvetica" pitchFamily="34" charset="-120"/>
              </a:rPr>
              <a:t>1a </a:t>
            </a:r>
            <a:pPr algn="l" indent="0" marL="0">
              <a:lnSpc>
                <a:spcPct val="126410"/>
              </a:lnSpc>
              <a:buNone/>
            </a:pPr>
            <a:r>
              <a:rPr lang="en-US" sz="2550" dirty="0">
                <a:solidFill>
                  <a:srgbClr val="3A352D"/>
                </a:solidFill>
                <a:latin typeface="Helvetica" pitchFamily="34" charset="0"/>
                <a:ea typeface="Helvetica" pitchFamily="34" charset="-122"/>
                <a:cs typeface="Helvetica" pitchFamily="34" charset="-120"/>
              </a:rPr>
              <a:t>running straight into the spotlit canvas from </a:t>
            </a:r>
            <a:pPr algn="l" indent="0" marL="0">
              <a:lnSpc>
                <a:spcPct val="126410"/>
              </a:lnSpc>
              <a:buNone/>
            </a:pPr>
            <a:r>
              <a:rPr lang="en-US" sz="2550" b="1" dirty="0">
                <a:solidFill>
                  <a:srgbClr val="3A352D"/>
                </a:solidFill>
                <a:latin typeface="Helvetica" pitchFamily="34" charset="0"/>
                <a:ea typeface="Helvetica" pitchFamily="34" charset="-122"/>
                <a:cs typeface="Helvetica" pitchFamily="34" charset="-120"/>
              </a:rPr>
              <a:t>2b </a:t>
            </a:r>
            <a:pPr algn="l" indent="0" marL="0">
              <a:lnSpc>
                <a:spcPct val="126410"/>
              </a:lnSpc>
              <a:buNone/>
            </a:pPr>
            <a:r>
              <a:rPr lang="en-US" sz="2550" dirty="0">
                <a:solidFill>
                  <a:srgbClr val="3A352D"/>
                </a:solidFill>
                <a:latin typeface="Helvetica" pitchFamily="34" charset="0"/>
                <a:ea typeface="Helvetica" pitchFamily="34" charset="-122"/>
                <a:cs typeface="Helvetica" pitchFamily="34" charset="-120"/>
              </a:rPr>
              <a:t>— no threshold, no new page. Thirteen steps, desktop and mobile for each.</a:t>
            </a:r>
            <a:endParaRPr lang="en-US" sz="2550" dirty="0"/>
          </a:p>
        </p:txBody>
      </p:sp>
      <p:sp>
        <p:nvSpPr>
          <p:cNvPr id="6" name="Shape 4"/>
          <p:cNvSpPr/>
          <p:nvPr/>
        </p:nvSpPr>
        <p:spPr>
          <a:xfrm>
            <a:off x="914400" y="8867775"/>
            <a:ext cx="1870770" cy="504825"/>
          </a:xfrm>
          <a:prstGeom prst="roundRect">
            <a:avLst>
              <a:gd name="adj" fmla="val 37736"/>
            </a:avLst>
          </a:prstGeom>
          <a:solidFill>
            <a:srgbClr val="FAF8F4"/>
          </a:solidFill>
          <a:ln w="9525">
            <a:solidFill>
              <a:srgbClr val="9A968E"/>
            </a:solidFill>
            <a:prstDash val="dash"/>
          </a:ln>
        </p:spPr>
      </p:sp>
      <p:sp>
        <p:nvSpPr>
          <p:cNvPr id="7" name="Text 5"/>
          <p:cNvSpPr/>
          <p:nvPr/>
        </p:nvSpPr>
        <p:spPr>
          <a:xfrm>
            <a:off x="1152525" y="8982075"/>
            <a:ext cx="1470720" cy="314325"/>
          </a:xfrm>
          <a:prstGeom prst="rect">
            <a:avLst/>
          </a:prstGeom>
          <a:noFill/>
          <a:ln/>
        </p:spPr>
        <p:txBody>
          <a:bodyPr wrap="square" lIns="25400" tIns="25400" rIns="25400" bIns="25400" rtlCol="0" anchor="t">
            <a:normAutofit/>
          </a:bodyPr>
          <a:lstStyle/>
          <a:p>
            <a:pPr algn="l" indent="0" marL="0">
              <a:buNone/>
            </a:pPr>
            <a:r>
              <a:rPr lang="en-US" sz="1875" dirty="0">
                <a:solidFill>
                  <a:srgbClr val="4A463F"/>
                </a:solidFill>
                <a:latin typeface="Arial" pitchFamily="34" charset="0"/>
                <a:ea typeface="Arial" pitchFamily="34" charset="-122"/>
                <a:cs typeface="Arial" pitchFamily="34" charset="-120"/>
              </a:rPr>
              <a:t>Triage 01–04</a:t>
            </a:r>
            <a:endParaRPr lang="en-US" sz="1875" dirty="0"/>
          </a:p>
        </p:txBody>
      </p:sp>
      <p:sp>
        <p:nvSpPr>
          <p:cNvPr id="8" name="Shape 6"/>
          <p:cNvSpPr/>
          <p:nvPr/>
        </p:nvSpPr>
        <p:spPr>
          <a:xfrm>
            <a:off x="2937570" y="8867775"/>
            <a:ext cx="1866156" cy="504825"/>
          </a:xfrm>
          <a:prstGeom prst="roundRect">
            <a:avLst>
              <a:gd name="adj" fmla="val 37736"/>
            </a:avLst>
          </a:prstGeom>
          <a:solidFill>
            <a:srgbClr val="FAF8F4"/>
          </a:solidFill>
          <a:ln w="9525">
            <a:solidFill>
              <a:srgbClr val="9A968E"/>
            </a:solidFill>
            <a:prstDash val="dash"/>
          </a:ln>
        </p:spPr>
      </p:sp>
      <p:sp>
        <p:nvSpPr>
          <p:cNvPr id="9" name="Text 7"/>
          <p:cNvSpPr/>
          <p:nvPr/>
        </p:nvSpPr>
        <p:spPr>
          <a:xfrm>
            <a:off x="3175695" y="8982075"/>
            <a:ext cx="1466106" cy="314325"/>
          </a:xfrm>
          <a:prstGeom prst="rect">
            <a:avLst/>
          </a:prstGeom>
          <a:noFill/>
          <a:ln/>
        </p:spPr>
        <p:txBody>
          <a:bodyPr wrap="square" lIns="25400" tIns="25400" rIns="25400" bIns="25400" rtlCol="0" anchor="t">
            <a:normAutofit/>
          </a:bodyPr>
          <a:lstStyle/>
          <a:p>
            <a:pPr algn="l" indent="0" marL="0">
              <a:buNone/>
            </a:pPr>
            <a:r>
              <a:rPr lang="en-US" sz="1875" dirty="0">
                <a:solidFill>
                  <a:srgbClr val="4A463F"/>
                </a:solidFill>
                <a:latin typeface="Arial" pitchFamily="34" charset="0"/>
                <a:ea typeface="Arial" pitchFamily="34" charset="-122"/>
                <a:cs typeface="Arial" pitchFamily="34" charset="-120"/>
              </a:rPr>
              <a:t>The seam 05</a:t>
            </a:r>
            <a:endParaRPr lang="en-US" sz="1875" dirty="0"/>
          </a:p>
        </p:txBody>
      </p:sp>
      <p:sp>
        <p:nvSpPr>
          <p:cNvPr id="10" name="Shape 8"/>
          <p:cNvSpPr/>
          <p:nvPr/>
        </p:nvSpPr>
        <p:spPr>
          <a:xfrm>
            <a:off x="4956125" y="8867775"/>
            <a:ext cx="2193131" cy="504825"/>
          </a:xfrm>
          <a:prstGeom prst="roundRect">
            <a:avLst>
              <a:gd name="adj" fmla="val 37736"/>
            </a:avLst>
          </a:prstGeom>
          <a:solidFill>
            <a:srgbClr val="FAF8F4"/>
          </a:solidFill>
          <a:ln w="9525">
            <a:solidFill>
              <a:srgbClr val="9A968E"/>
            </a:solidFill>
            <a:prstDash val="dash"/>
          </a:ln>
        </p:spPr>
      </p:sp>
      <p:sp>
        <p:nvSpPr>
          <p:cNvPr id="11" name="Text 9"/>
          <p:cNvSpPr/>
          <p:nvPr/>
        </p:nvSpPr>
        <p:spPr>
          <a:xfrm>
            <a:off x="5194250" y="8982075"/>
            <a:ext cx="1793081" cy="314325"/>
          </a:xfrm>
          <a:prstGeom prst="rect">
            <a:avLst/>
          </a:prstGeom>
          <a:noFill/>
          <a:ln/>
        </p:spPr>
        <p:txBody>
          <a:bodyPr wrap="square" lIns="25400" tIns="25400" rIns="25400" bIns="25400" rtlCol="0" anchor="t">
            <a:normAutofit/>
          </a:bodyPr>
          <a:lstStyle/>
          <a:p>
            <a:pPr algn="l" indent="0" marL="0">
              <a:buNone/>
            </a:pPr>
            <a:r>
              <a:rPr lang="en-US" sz="1875" dirty="0">
                <a:solidFill>
                  <a:srgbClr val="4A463F"/>
                </a:solidFill>
                <a:latin typeface="Arial" pitchFamily="34" charset="0"/>
                <a:ea typeface="Arial" pitchFamily="34" charset="-122"/>
                <a:cs typeface="Arial" pitchFamily="34" charset="-120"/>
              </a:rPr>
              <a:t>Coaching 06–11</a:t>
            </a:r>
            <a:endParaRPr lang="en-US" sz="1875" dirty="0"/>
          </a:p>
        </p:txBody>
      </p:sp>
      <p:sp>
        <p:nvSpPr>
          <p:cNvPr id="12" name="Shape 10"/>
          <p:cNvSpPr/>
          <p:nvPr/>
        </p:nvSpPr>
        <p:spPr>
          <a:xfrm>
            <a:off x="7301657" y="8867775"/>
            <a:ext cx="2038796" cy="504825"/>
          </a:xfrm>
          <a:prstGeom prst="roundRect">
            <a:avLst>
              <a:gd name="adj" fmla="val 37736"/>
            </a:avLst>
          </a:prstGeom>
          <a:solidFill>
            <a:srgbClr val="FAF8F4"/>
          </a:solidFill>
          <a:ln w="9525">
            <a:solidFill>
              <a:srgbClr val="9A968E"/>
            </a:solidFill>
            <a:prstDash val="dash"/>
          </a:ln>
        </p:spPr>
      </p:sp>
      <p:sp>
        <p:nvSpPr>
          <p:cNvPr id="13" name="Text 11"/>
          <p:cNvSpPr/>
          <p:nvPr/>
        </p:nvSpPr>
        <p:spPr>
          <a:xfrm>
            <a:off x="7539782" y="8982075"/>
            <a:ext cx="1638746" cy="314325"/>
          </a:xfrm>
          <a:prstGeom prst="rect">
            <a:avLst/>
          </a:prstGeom>
          <a:noFill/>
          <a:ln/>
        </p:spPr>
        <p:txBody>
          <a:bodyPr wrap="square" lIns="25400" tIns="25400" rIns="25400" bIns="25400" rtlCol="0" anchor="t">
            <a:normAutofit/>
          </a:bodyPr>
          <a:lstStyle/>
          <a:p>
            <a:pPr algn="l" indent="0" marL="0">
              <a:buNone/>
            </a:pPr>
            <a:r>
              <a:rPr lang="en-US" sz="1875" dirty="0">
                <a:solidFill>
                  <a:srgbClr val="4A463F"/>
                </a:solidFill>
                <a:latin typeface="Arial" pitchFamily="34" charset="0"/>
                <a:ea typeface="Arial" pitchFamily="34" charset="-122"/>
                <a:cs typeface="Arial" pitchFamily="34" charset="-120"/>
              </a:rPr>
              <a:t>Leaving 12–13</a:t>
            </a:r>
            <a:endParaRPr lang="en-US" sz="18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FECE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FECE6"/>
          </a:solidFill>
          <a:ln/>
        </p:spPr>
      </p:sp>
      <p:sp>
        <p:nvSpPr>
          <p:cNvPr id="3" name="Shape 1"/>
          <p:cNvSpPr/>
          <p:nvPr/>
        </p:nvSpPr>
        <p:spPr>
          <a:xfrm>
            <a:off x="609600" y="1066800"/>
            <a:ext cx="17068800" cy="19050"/>
          </a:xfrm>
          <a:prstGeom prst="rect">
            <a:avLst/>
          </a:prstGeom>
          <a:solidFill>
            <a:srgbClr val="1B1B1B"/>
          </a:solidFill>
          <a:ln/>
        </p:spPr>
      </p:sp>
      <p:sp>
        <p:nvSpPr>
          <p:cNvPr id="4" name="Text 2"/>
          <p:cNvSpPr/>
          <p:nvPr/>
        </p:nvSpPr>
        <p:spPr>
          <a:xfrm>
            <a:off x="609600" y="495300"/>
            <a:ext cx="8057034" cy="476250"/>
          </a:xfrm>
          <a:prstGeom prst="rect">
            <a:avLst/>
          </a:prstGeom>
          <a:noFill/>
          <a:ln/>
        </p:spPr>
        <p:txBody>
          <a:bodyPr wrap="square" lIns="25400" tIns="25400" rIns="25400" bIns="25400" rtlCol="0" anchor="t">
            <a:normAutofit/>
          </a:bodyPr>
          <a:lstStyle/>
          <a:p>
            <a:pPr algn="l" indent="0" marL="0">
              <a:lnSpc>
                <a:spcPct val="102222"/>
              </a:lnSpc>
              <a:buNone/>
            </a:pPr>
            <a:r>
              <a:rPr lang="en-US" sz="3000" b="1" dirty="0">
                <a:solidFill>
                  <a:srgbClr val="1B1B1B"/>
                </a:solidFill>
                <a:latin typeface="Helvetica" pitchFamily="34" charset="0"/>
                <a:ea typeface="Helvetica" pitchFamily="34" charset="-122"/>
                <a:cs typeface="Helvetica" pitchFamily="34" charset="-120"/>
              </a:rPr>
              <a:t>Thirteen steps, one spine, two off-ramps</a:t>
            </a:r>
            <a:endParaRPr lang="en-US" sz="3000" dirty="0"/>
          </a:p>
        </p:txBody>
      </p:sp>
      <p:sp>
        <p:nvSpPr>
          <p:cNvPr id="5" name="Text 3"/>
          <p:cNvSpPr/>
          <p:nvPr/>
        </p:nvSpPr>
        <p:spPr>
          <a:xfrm>
            <a:off x="15573970" y="695325"/>
            <a:ext cx="2314873" cy="228600"/>
          </a:xfrm>
          <a:prstGeom prst="rect">
            <a:avLst/>
          </a:prstGeom>
          <a:noFill/>
          <a:ln/>
        </p:spPr>
        <p:txBody>
          <a:bodyPr wrap="none" lIns="25400" tIns="25400" rIns="25400" bIns="25400" rtlCol="0" anchor="t">
            <a:normAutofit/>
          </a:bodyPr>
          <a:lstStyle/>
          <a:p>
            <a:pPr algn="l" indent="0" marL="0">
              <a:lnSpc>
                <a:spcPct val="86957"/>
              </a:lnSpc>
              <a:buNone/>
            </a:pPr>
            <a:r>
              <a:rPr lang="en-US" sz="1500" b="1" spc="150" kern="0" dirty="0">
                <a:solidFill>
                  <a:srgbClr val="8A8479"/>
                </a:solidFill>
                <a:latin typeface="Courier New" pitchFamily="34" charset="0"/>
                <a:ea typeface="Courier New" pitchFamily="34" charset="-122"/>
                <a:cs typeface="Courier New" pitchFamily="34" charset="-120"/>
              </a:rPr>
              <a:t>HOW TO READ THESE</a:t>
            </a:r>
            <a:endParaRPr lang="en-US" sz="1500" dirty="0"/>
          </a:p>
        </p:txBody>
      </p:sp>
      <p:sp>
        <p:nvSpPr>
          <p:cNvPr id="6" name="Shape 4"/>
          <p:cNvSpPr/>
          <p:nvPr/>
        </p:nvSpPr>
        <p:spPr>
          <a:xfrm>
            <a:off x="609600" y="3509218"/>
            <a:ext cx="17068800" cy="2668339"/>
          </a:xfrm>
          <a:prstGeom prst="roundRect">
            <a:avLst>
              <a:gd name="adj" fmla="val 3570"/>
            </a:avLst>
          </a:prstGeom>
          <a:solidFill>
            <a:srgbClr val="FAF8F4"/>
          </a:solidFill>
          <a:ln w="6569">
            <a:solidFill>
              <a:srgbClr val="E2DED7"/>
            </a:solidFill>
            <a:prstDash val="solid"/>
          </a:ln>
        </p:spPr>
      </p:sp>
      <p:sp>
        <p:nvSpPr>
          <p:cNvPr id="7" name="Shape 5"/>
          <p:cNvSpPr/>
          <p:nvPr/>
        </p:nvSpPr>
        <p:spPr>
          <a:xfrm>
            <a:off x="932408" y="3776811"/>
            <a:ext cx="1791742" cy="637431"/>
          </a:xfrm>
          <a:prstGeom prst="roundRect">
            <a:avLst>
              <a:gd name="adj" fmla="val 7471"/>
            </a:avLst>
          </a:prstGeom>
          <a:solidFill>
            <a:srgbClr val="FFFFFF"/>
          </a:solidFill>
          <a:ln w="6569">
            <a:solidFill>
              <a:srgbClr val="D8D3CB"/>
            </a:solidFill>
            <a:prstDash val="solid"/>
          </a:ln>
        </p:spPr>
      </p:sp>
      <p:sp>
        <p:nvSpPr>
          <p:cNvPr id="8" name="Text 6"/>
          <p:cNvSpPr/>
          <p:nvPr/>
        </p:nvSpPr>
        <p:spPr>
          <a:xfrm>
            <a:off x="1005652" y="3831005"/>
            <a:ext cx="1721454" cy="567143"/>
          </a:xfrm>
          <a:prstGeom prst="rect">
            <a:avLst/>
          </a:prstGeom>
          <a:noFill/>
          <a:ln/>
        </p:spPr>
        <p:txBody>
          <a:bodyPr wrap="square" lIns="25400" tIns="25400" rIns="25400" bIns="25400" rtlCol="0" anchor="t">
            <a:normAutofit/>
          </a:bodyPr>
          <a:lstStyle/>
          <a:p>
            <a:pPr algn="l" indent="0" marL="0">
              <a:lnSpc>
                <a:spcPct val="117000"/>
              </a:lnSpc>
              <a:buNone/>
            </a:pPr>
            <a:r>
              <a:rPr lang="en-US" sz="675" b="1" dirty="0">
                <a:solidFill>
                  <a:srgbClr val="4A463F"/>
                </a:solidFill>
                <a:latin typeface="Courier New" pitchFamily="34" charset="0"/>
                <a:ea typeface="Courier New" pitchFamily="34" charset="-122"/>
                <a:cs typeface="Courier New" pitchFamily="34" charset="-120"/>
              </a:rPr>
              <a:t>01 </a:t>
            </a:r>
            <a:pPr algn="l" indent="0" marL="0">
              <a:lnSpc>
                <a:spcPct val="117000"/>
              </a:lnSpc>
              <a:buNone/>
            </a:pPr>
            <a:r>
              <a:rPr lang="en-US" sz="675" dirty="0">
                <a:solidFill>
                  <a:srgbClr val="4A463F"/>
                </a:solidFill>
                <a:highlight>
                  <a:srgbClr val="FFFFFF"/>
                </a:highlight>
                <a:latin typeface="Courier New" pitchFamily="34" charset="0"/>
                <a:ea typeface="Courier New" pitchFamily="34" charset="-122"/>
                <a:cs typeface="Courier New" pitchFamily="34" charset="-120"/>
              </a:rPr>
              <a:t>landing</a:t>
            </a:r>
            <a:endParaRPr lang="en-US" sz="675" dirty="0"/>
          </a:p>
        </p:txBody>
      </p:sp>
      <p:sp>
        <p:nvSpPr>
          <p:cNvPr id="9" name="Text 7"/>
          <p:cNvSpPr/>
          <p:nvPr/>
        </p:nvSpPr>
        <p:spPr>
          <a:xfrm>
            <a:off x="2834580" y="3943499"/>
            <a:ext cx="243334" cy="342007"/>
          </a:xfrm>
          <a:prstGeom prst="rect">
            <a:avLst/>
          </a:prstGeom>
          <a:noFill/>
          <a:ln/>
        </p:spPr>
        <p:txBody>
          <a:bodyPr wrap="square" lIns="25400" tIns="25400" rIns="25400" bIns="25400" rtlCol="0" anchor="t">
            <a:normAutofit/>
          </a:bodyPr>
          <a:lstStyle/>
          <a:p>
            <a:pPr algn="l" indent="0" marL="0">
              <a:lnSpc>
                <a:spcPct val="91667"/>
              </a:lnSpc>
              <a:buNone/>
            </a:pPr>
            <a:r>
              <a:rPr lang="en-US" sz="825" dirty="0">
                <a:solidFill>
                  <a:srgbClr val="A8A29A"/>
                </a:solidFill>
                <a:latin typeface="Courier New" pitchFamily="34" charset="0"/>
                <a:ea typeface="Courier New" pitchFamily="34" charset="-122"/>
                <a:cs typeface="Courier New" pitchFamily="34" charset="-120"/>
              </a:rPr>
              <a:t>→</a:t>
            </a:r>
            <a:endParaRPr lang="en-US" sz="825" dirty="0"/>
          </a:p>
        </p:txBody>
      </p:sp>
      <p:sp>
        <p:nvSpPr>
          <p:cNvPr id="10" name="Shape 8"/>
          <p:cNvSpPr/>
          <p:nvPr/>
        </p:nvSpPr>
        <p:spPr>
          <a:xfrm>
            <a:off x="3112145" y="3776811"/>
            <a:ext cx="2201763" cy="637431"/>
          </a:xfrm>
          <a:prstGeom prst="roundRect">
            <a:avLst>
              <a:gd name="adj" fmla="val 7471"/>
            </a:avLst>
          </a:prstGeom>
          <a:solidFill>
            <a:srgbClr val="FFFFFF"/>
          </a:solidFill>
          <a:ln w="6569">
            <a:solidFill>
              <a:srgbClr val="D8D3CB"/>
            </a:solidFill>
            <a:prstDash val="solid"/>
          </a:ln>
        </p:spPr>
      </p:sp>
      <p:sp>
        <p:nvSpPr>
          <p:cNvPr id="11" name="Text 9"/>
          <p:cNvSpPr/>
          <p:nvPr/>
        </p:nvSpPr>
        <p:spPr>
          <a:xfrm>
            <a:off x="3185389" y="3831005"/>
            <a:ext cx="2131475" cy="567143"/>
          </a:xfrm>
          <a:prstGeom prst="rect">
            <a:avLst/>
          </a:prstGeom>
          <a:noFill/>
          <a:ln/>
        </p:spPr>
        <p:txBody>
          <a:bodyPr wrap="square" lIns="25400" tIns="25400" rIns="25400" bIns="25400" rtlCol="0" anchor="t">
            <a:normAutofit/>
          </a:bodyPr>
          <a:lstStyle/>
          <a:p>
            <a:pPr algn="l" indent="0" marL="0">
              <a:lnSpc>
                <a:spcPct val="117000"/>
              </a:lnSpc>
              <a:buNone/>
            </a:pPr>
            <a:r>
              <a:rPr lang="en-US" sz="675" b="1" dirty="0">
                <a:solidFill>
                  <a:srgbClr val="4A463F"/>
                </a:solidFill>
                <a:latin typeface="Courier New" pitchFamily="34" charset="0"/>
                <a:ea typeface="Courier New" pitchFamily="34" charset="-122"/>
                <a:cs typeface="Courier New" pitchFamily="34" charset="-120"/>
              </a:rPr>
              <a:t>02 </a:t>
            </a:r>
            <a:pPr algn="l" indent="0" marL="0">
              <a:lnSpc>
                <a:spcPct val="117000"/>
              </a:lnSpc>
              <a:buNone/>
            </a:pPr>
            <a:r>
              <a:rPr lang="en-US" sz="675" dirty="0">
                <a:solidFill>
                  <a:srgbClr val="4A463F"/>
                </a:solidFill>
                <a:highlight>
                  <a:srgbClr val="FFFFFF"/>
                </a:highlight>
                <a:latin typeface="Courier New" pitchFamily="34" charset="0"/>
                <a:ea typeface="Courier New" pitchFamily="34" charset="-122"/>
                <a:cs typeface="Courier New" pitchFamily="34" charset="-120"/>
              </a:rPr>
              <a:t>who's here</a:t>
            </a:r>
            <a:endParaRPr lang="en-US" sz="675" dirty="0"/>
          </a:p>
        </p:txBody>
      </p:sp>
      <p:sp>
        <p:nvSpPr>
          <p:cNvPr id="12" name="Text 10"/>
          <p:cNvSpPr/>
          <p:nvPr/>
        </p:nvSpPr>
        <p:spPr>
          <a:xfrm>
            <a:off x="5424339" y="3943499"/>
            <a:ext cx="243334" cy="342007"/>
          </a:xfrm>
          <a:prstGeom prst="rect">
            <a:avLst/>
          </a:prstGeom>
          <a:noFill/>
          <a:ln/>
        </p:spPr>
        <p:txBody>
          <a:bodyPr wrap="square" lIns="25400" tIns="25400" rIns="25400" bIns="25400" rtlCol="0" anchor="t">
            <a:normAutofit/>
          </a:bodyPr>
          <a:lstStyle/>
          <a:p>
            <a:pPr algn="l" indent="0" marL="0">
              <a:lnSpc>
                <a:spcPct val="91667"/>
              </a:lnSpc>
              <a:buNone/>
            </a:pPr>
            <a:r>
              <a:rPr lang="en-US" sz="825" dirty="0">
                <a:solidFill>
                  <a:srgbClr val="A8A29A"/>
                </a:solidFill>
                <a:latin typeface="Courier New" pitchFamily="34" charset="0"/>
                <a:ea typeface="Courier New" pitchFamily="34" charset="-122"/>
                <a:cs typeface="Courier New" pitchFamily="34" charset="-120"/>
              </a:rPr>
              <a:t>→</a:t>
            </a:r>
            <a:endParaRPr lang="en-US" sz="825" dirty="0"/>
          </a:p>
        </p:txBody>
      </p:sp>
      <p:sp>
        <p:nvSpPr>
          <p:cNvPr id="13" name="Shape 11"/>
          <p:cNvSpPr/>
          <p:nvPr/>
        </p:nvSpPr>
        <p:spPr>
          <a:xfrm>
            <a:off x="5701903" y="3776811"/>
            <a:ext cx="3021806" cy="637431"/>
          </a:xfrm>
          <a:prstGeom prst="roundRect">
            <a:avLst>
              <a:gd name="adj" fmla="val 7471"/>
            </a:avLst>
          </a:prstGeom>
          <a:solidFill>
            <a:srgbClr val="FFFFFF"/>
          </a:solidFill>
          <a:ln w="6569">
            <a:solidFill>
              <a:srgbClr val="D8D3CB"/>
            </a:solidFill>
            <a:prstDash val="solid"/>
          </a:ln>
        </p:spPr>
      </p:sp>
      <p:sp>
        <p:nvSpPr>
          <p:cNvPr id="14" name="Text 12"/>
          <p:cNvSpPr/>
          <p:nvPr/>
        </p:nvSpPr>
        <p:spPr>
          <a:xfrm>
            <a:off x="5775147" y="3831005"/>
            <a:ext cx="2965973" cy="567143"/>
          </a:xfrm>
          <a:prstGeom prst="rect">
            <a:avLst/>
          </a:prstGeom>
          <a:noFill/>
          <a:ln/>
        </p:spPr>
        <p:txBody>
          <a:bodyPr wrap="square" lIns="25400" tIns="25400" rIns="25400" bIns="25400" rtlCol="0" anchor="t">
            <a:normAutofit/>
          </a:bodyPr>
          <a:lstStyle/>
          <a:p>
            <a:pPr algn="l" indent="0" marL="0">
              <a:lnSpc>
                <a:spcPct val="117000"/>
              </a:lnSpc>
              <a:buNone/>
            </a:pPr>
            <a:r>
              <a:rPr lang="en-US" sz="675" b="1" dirty="0">
                <a:solidFill>
                  <a:srgbClr val="4A463F"/>
                </a:solidFill>
                <a:latin typeface="Courier New" pitchFamily="34" charset="0"/>
                <a:ea typeface="Courier New" pitchFamily="34" charset="-122"/>
                <a:cs typeface="Courier New" pitchFamily="34" charset="-120"/>
              </a:rPr>
              <a:t>03 </a:t>
            </a:r>
            <a:pPr algn="l" indent="0" marL="0">
              <a:lnSpc>
                <a:spcPct val="117000"/>
              </a:lnSpc>
              <a:buNone/>
            </a:pPr>
            <a:r>
              <a:rPr lang="en-US" sz="675" dirty="0">
                <a:solidFill>
                  <a:srgbClr val="4A463F"/>
                </a:solidFill>
                <a:highlight>
                  <a:srgbClr val="FFFFFF"/>
                </a:highlight>
                <a:latin typeface="Courier New" pitchFamily="34" charset="0"/>
                <a:ea typeface="Courier New" pitchFamily="34" charset="-122"/>
                <a:cs typeface="Courier New" pitchFamily="34" charset="-120"/>
              </a:rPr>
              <a:t>what you brought</a:t>
            </a:r>
            <a:endParaRPr lang="en-US" sz="675" dirty="0"/>
          </a:p>
        </p:txBody>
      </p:sp>
      <p:sp>
        <p:nvSpPr>
          <p:cNvPr id="15" name="Text 13"/>
          <p:cNvSpPr/>
          <p:nvPr/>
        </p:nvSpPr>
        <p:spPr>
          <a:xfrm>
            <a:off x="8834140" y="3943499"/>
            <a:ext cx="243334" cy="342007"/>
          </a:xfrm>
          <a:prstGeom prst="rect">
            <a:avLst/>
          </a:prstGeom>
          <a:noFill/>
          <a:ln/>
        </p:spPr>
        <p:txBody>
          <a:bodyPr wrap="square" lIns="25400" tIns="25400" rIns="25400" bIns="25400" rtlCol="0" anchor="t">
            <a:normAutofit/>
          </a:bodyPr>
          <a:lstStyle/>
          <a:p>
            <a:pPr algn="l" indent="0" marL="0">
              <a:lnSpc>
                <a:spcPct val="91667"/>
              </a:lnSpc>
              <a:buNone/>
            </a:pPr>
            <a:r>
              <a:rPr lang="en-US" sz="825" dirty="0">
                <a:solidFill>
                  <a:srgbClr val="A8A29A"/>
                </a:solidFill>
                <a:latin typeface="Courier New" pitchFamily="34" charset="0"/>
                <a:ea typeface="Courier New" pitchFamily="34" charset="-122"/>
                <a:cs typeface="Courier New" pitchFamily="34" charset="-120"/>
              </a:rPr>
              <a:t>→</a:t>
            </a:r>
            <a:endParaRPr lang="en-US" sz="825" dirty="0"/>
          </a:p>
        </p:txBody>
      </p:sp>
      <p:sp>
        <p:nvSpPr>
          <p:cNvPr id="16" name="Shape 14"/>
          <p:cNvSpPr/>
          <p:nvPr/>
        </p:nvSpPr>
        <p:spPr>
          <a:xfrm>
            <a:off x="9111704" y="3776811"/>
            <a:ext cx="3021806" cy="637431"/>
          </a:xfrm>
          <a:prstGeom prst="roundRect">
            <a:avLst>
              <a:gd name="adj" fmla="val 7471"/>
            </a:avLst>
          </a:prstGeom>
          <a:solidFill>
            <a:srgbClr val="FFFFFF"/>
          </a:solidFill>
          <a:ln w="6569">
            <a:solidFill>
              <a:srgbClr val="D8D3CB"/>
            </a:solidFill>
            <a:prstDash val="solid"/>
          </a:ln>
        </p:spPr>
      </p:sp>
      <p:sp>
        <p:nvSpPr>
          <p:cNvPr id="17" name="Text 15"/>
          <p:cNvSpPr/>
          <p:nvPr/>
        </p:nvSpPr>
        <p:spPr>
          <a:xfrm>
            <a:off x="9184948" y="3831005"/>
            <a:ext cx="2965973" cy="567143"/>
          </a:xfrm>
          <a:prstGeom prst="rect">
            <a:avLst/>
          </a:prstGeom>
          <a:noFill/>
          <a:ln/>
        </p:spPr>
        <p:txBody>
          <a:bodyPr wrap="square" lIns="25400" tIns="25400" rIns="25400" bIns="25400" rtlCol="0" anchor="t">
            <a:normAutofit/>
          </a:bodyPr>
          <a:lstStyle/>
          <a:p>
            <a:pPr algn="l" indent="0" marL="0">
              <a:lnSpc>
                <a:spcPct val="117000"/>
              </a:lnSpc>
              <a:buNone/>
            </a:pPr>
            <a:r>
              <a:rPr lang="en-US" sz="675" b="1" dirty="0">
                <a:solidFill>
                  <a:srgbClr val="4A463F"/>
                </a:solidFill>
                <a:latin typeface="Courier New" pitchFamily="34" charset="0"/>
                <a:ea typeface="Courier New" pitchFamily="34" charset="-122"/>
                <a:cs typeface="Courier New" pitchFamily="34" charset="-120"/>
              </a:rPr>
              <a:t>04 </a:t>
            </a:r>
            <a:pPr algn="l" indent="0" marL="0">
              <a:lnSpc>
                <a:spcPct val="117000"/>
              </a:lnSpc>
              <a:buNone/>
            </a:pPr>
            <a:r>
              <a:rPr lang="en-US" sz="675" dirty="0">
                <a:solidFill>
                  <a:srgbClr val="4A463F"/>
                </a:solidFill>
                <a:highlight>
                  <a:srgbClr val="FFFFFF"/>
                </a:highlight>
                <a:latin typeface="Courier New" pitchFamily="34" charset="0"/>
                <a:ea typeface="Courier New" pitchFamily="34" charset="-122"/>
                <a:cs typeface="Courier New" pitchFamily="34" charset="-120"/>
              </a:rPr>
              <a:t>can you share it</a:t>
            </a:r>
            <a:endParaRPr lang="en-US" sz="675" dirty="0"/>
          </a:p>
        </p:txBody>
      </p:sp>
      <p:sp>
        <p:nvSpPr>
          <p:cNvPr id="18" name="Text 16"/>
          <p:cNvSpPr/>
          <p:nvPr/>
        </p:nvSpPr>
        <p:spPr>
          <a:xfrm>
            <a:off x="12243941" y="3943499"/>
            <a:ext cx="243334" cy="342007"/>
          </a:xfrm>
          <a:prstGeom prst="rect">
            <a:avLst/>
          </a:prstGeom>
          <a:noFill/>
          <a:ln/>
        </p:spPr>
        <p:txBody>
          <a:bodyPr wrap="square" lIns="25400" tIns="25400" rIns="25400" bIns="25400" rtlCol="0" anchor="t">
            <a:normAutofit/>
          </a:bodyPr>
          <a:lstStyle/>
          <a:p>
            <a:pPr algn="l" indent="0" marL="0">
              <a:lnSpc>
                <a:spcPct val="91667"/>
              </a:lnSpc>
              <a:buNone/>
            </a:pPr>
            <a:r>
              <a:rPr lang="en-US" sz="825" dirty="0">
                <a:solidFill>
                  <a:srgbClr val="A8A29A"/>
                </a:solidFill>
                <a:latin typeface="Courier New" pitchFamily="34" charset="0"/>
                <a:ea typeface="Courier New" pitchFamily="34" charset="-122"/>
                <a:cs typeface="Courier New" pitchFamily="34" charset="-120"/>
              </a:rPr>
              <a:t>→</a:t>
            </a:r>
            <a:endParaRPr lang="en-US" sz="825" dirty="0"/>
          </a:p>
        </p:txBody>
      </p:sp>
      <p:sp>
        <p:nvSpPr>
          <p:cNvPr id="19" name="Shape 17"/>
          <p:cNvSpPr/>
          <p:nvPr/>
        </p:nvSpPr>
        <p:spPr>
          <a:xfrm>
            <a:off x="12521505" y="3776811"/>
            <a:ext cx="3709243" cy="637431"/>
          </a:xfrm>
          <a:prstGeom prst="roundRect">
            <a:avLst>
              <a:gd name="adj" fmla="val 7471"/>
            </a:avLst>
          </a:prstGeom>
          <a:ln w="6569">
            <a:solidFill>
              <a:srgbClr val="D8D3CB"/>
            </a:solidFill>
            <a:prstDash val="dash"/>
          </a:ln>
        </p:spPr>
      </p:sp>
      <p:sp>
        <p:nvSpPr>
          <p:cNvPr id="20" name="Text 18"/>
          <p:cNvSpPr/>
          <p:nvPr/>
        </p:nvSpPr>
        <p:spPr>
          <a:xfrm>
            <a:off x="12594749" y="3831005"/>
            <a:ext cx="3674033" cy="567143"/>
          </a:xfrm>
          <a:prstGeom prst="rect">
            <a:avLst/>
          </a:prstGeom>
          <a:noFill/>
          <a:ln/>
        </p:spPr>
        <p:txBody>
          <a:bodyPr wrap="square" lIns="25400" tIns="25400" rIns="25400" bIns="25400" rtlCol="0" anchor="t">
            <a:normAutofit/>
          </a:bodyPr>
          <a:lstStyle/>
          <a:p>
            <a:pPr algn="l" indent="0" marL="0">
              <a:lnSpc>
                <a:spcPct val="117000"/>
              </a:lnSpc>
              <a:buNone/>
            </a:pPr>
            <a:r>
              <a:rPr lang="en-US" sz="675" dirty="0">
                <a:solidFill>
                  <a:srgbClr val="6B665E"/>
                </a:solidFill>
                <a:latin typeface="Courier New" pitchFamily="34" charset="0"/>
                <a:ea typeface="Courier New" pitchFamily="34" charset="-122"/>
                <a:cs typeface="Courier New" pitchFamily="34" charset="-120"/>
              </a:rPr>
              <a:t>↳ can't share · handover</a:t>
            </a:r>
            <a:endParaRPr lang="en-US" sz="675" dirty="0"/>
          </a:p>
        </p:txBody>
      </p:sp>
      <p:sp>
        <p:nvSpPr>
          <p:cNvPr id="21" name="Text 19"/>
          <p:cNvSpPr/>
          <p:nvPr/>
        </p:nvSpPr>
        <p:spPr>
          <a:xfrm>
            <a:off x="16341179" y="3943499"/>
            <a:ext cx="243334" cy="342007"/>
          </a:xfrm>
          <a:prstGeom prst="rect">
            <a:avLst/>
          </a:prstGeom>
          <a:noFill/>
          <a:ln/>
        </p:spPr>
        <p:txBody>
          <a:bodyPr wrap="square" lIns="25400" tIns="25400" rIns="25400" bIns="25400" rtlCol="0" anchor="t">
            <a:normAutofit/>
          </a:bodyPr>
          <a:lstStyle/>
          <a:p>
            <a:pPr algn="l" indent="0" marL="0">
              <a:lnSpc>
                <a:spcPct val="91667"/>
              </a:lnSpc>
              <a:buNone/>
            </a:pPr>
            <a:r>
              <a:rPr lang="en-US" sz="825" dirty="0">
                <a:solidFill>
                  <a:srgbClr val="A8A29A"/>
                </a:solidFill>
                <a:latin typeface="Courier New" pitchFamily="34" charset="0"/>
                <a:ea typeface="Courier New" pitchFamily="34" charset="-122"/>
                <a:cs typeface="Courier New" pitchFamily="34" charset="-120"/>
              </a:rPr>
              <a:t>·</a:t>
            </a:r>
            <a:endParaRPr lang="en-US" sz="825" dirty="0"/>
          </a:p>
        </p:txBody>
      </p:sp>
      <p:sp>
        <p:nvSpPr>
          <p:cNvPr id="22" name="Shape 20"/>
          <p:cNvSpPr/>
          <p:nvPr/>
        </p:nvSpPr>
        <p:spPr>
          <a:xfrm>
            <a:off x="932408" y="4524673"/>
            <a:ext cx="1928366" cy="637431"/>
          </a:xfrm>
          <a:prstGeom prst="roundRect">
            <a:avLst>
              <a:gd name="adj" fmla="val 7471"/>
            </a:avLst>
          </a:prstGeom>
          <a:solidFill>
            <a:srgbClr val="EAF1F9"/>
          </a:solidFill>
          <a:ln w="6569">
            <a:solidFill>
              <a:srgbClr val="C9D8EA"/>
            </a:solidFill>
            <a:prstDash val="solid"/>
          </a:ln>
        </p:spPr>
      </p:sp>
      <p:sp>
        <p:nvSpPr>
          <p:cNvPr id="23" name="Text 21"/>
          <p:cNvSpPr/>
          <p:nvPr/>
        </p:nvSpPr>
        <p:spPr>
          <a:xfrm>
            <a:off x="1005652" y="4578867"/>
            <a:ext cx="1858078" cy="567143"/>
          </a:xfrm>
          <a:prstGeom prst="rect">
            <a:avLst/>
          </a:prstGeom>
          <a:noFill/>
          <a:ln/>
        </p:spPr>
        <p:txBody>
          <a:bodyPr wrap="square" lIns="25400" tIns="25400" rIns="25400" bIns="25400" rtlCol="0" anchor="t">
            <a:normAutofit/>
          </a:bodyPr>
          <a:lstStyle/>
          <a:p>
            <a:pPr algn="l" indent="0" marL="0">
              <a:lnSpc>
                <a:spcPct val="117000"/>
              </a:lnSpc>
              <a:buNone/>
            </a:pPr>
            <a:r>
              <a:rPr lang="en-US" sz="675" b="1" dirty="0">
                <a:solidFill>
                  <a:srgbClr val="4A463F"/>
                </a:solidFill>
                <a:latin typeface="Courier New" pitchFamily="34" charset="0"/>
                <a:ea typeface="Courier New" pitchFamily="34" charset="-122"/>
                <a:cs typeface="Courier New" pitchFamily="34" charset="-120"/>
              </a:rPr>
              <a:t>05 </a:t>
            </a:r>
            <a:pPr algn="l" indent="0" marL="0">
              <a:lnSpc>
                <a:spcPct val="117000"/>
              </a:lnSpc>
              <a:buNone/>
            </a:pPr>
            <a:r>
              <a:rPr lang="en-US" sz="675" dirty="0">
                <a:solidFill>
                  <a:srgbClr val="4A463F"/>
                </a:solidFill>
                <a:highlight>
                  <a:srgbClr val="EAF1F9"/>
                </a:highlight>
                <a:latin typeface="Courier New" pitchFamily="34" charset="0"/>
                <a:ea typeface="Courier New" pitchFamily="34" charset="-122"/>
                <a:cs typeface="Courier New" pitchFamily="34" charset="-120"/>
              </a:rPr>
              <a:t>the seam</a:t>
            </a:r>
            <a:endParaRPr lang="en-US" sz="675" dirty="0"/>
          </a:p>
        </p:txBody>
      </p:sp>
      <p:sp>
        <p:nvSpPr>
          <p:cNvPr id="24" name="Text 22"/>
          <p:cNvSpPr/>
          <p:nvPr/>
        </p:nvSpPr>
        <p:spPr>
          <a:xfrm>
            <a:off x="2971205" y="4691360"/>
            <a:ext cx="243334" cy="342007"/>
          </a:xfrm>
          <a:prstGeom prst="rect">
            <a:avLst/>
          </a:prstGeom>
          <a:noFill/>
          <a:ln/>
        </p:spPr>
        <p:txBody>
          <a:bodyPr wrap="square" lIns="25400" tIns="25400" rIns="25400" bIns="25400" rtlCol="0" anchor="t">
            <a:normAutofit/>
          </a:bodyPr>
          <a:lstStyle/>
          <a:p>
            <a:pPr algn="l" indent="0" marL="0">
              <a:lnSpc>
                <a:spcPct val="91667"/>
              </a:lnSpc>
              <a:buNone/>
            </a:pPr>
            <a:r>
              <a:rPr lang="en-US" sz="825" dirty="0">
                <a:solidFill>
                  <a:srgbClr val="A8A29A"/>
                </a:solidFill>
                <a:latin typeface="Courier New" pitchFamily="34" charset="0"/>
                <a:ea typeface="Courier New" pitchFamily="34" charset="-122"/>
                <a:cs typeface="Courier New" pitchFamily="34" charset="-120"/>
              </a:rPr>
              <a:t>→</a:t>
            </a:r>
            <a:endParaRPr lang="en-US" sz="825" dirty="0"/>
          </a:p>
        </p:txBody>
      </p:sp>
      <p:sp>
        <p:nvSpPr>
          <p:cNvPr id="25" name="Shape 23"/>
          <p:cNvSpPr/>
          <p:nvPr/>
        </p:nvSpPr>
        <p:spPr>
          <a:xfrm>
            <a:off x="3248769" y="4524673"/>
            <a:ext cx="1928366" cy="637431"/>
          </a:xfrm>
          <a:prstGeom prst="roundRect">
            <a:avLst>
              <a:gd name="adj" fmla="val 7471"/>
            </a:avLst>
          </a:prstGeom>
          <a:solidFill>
            <a:srgbClr val="FFFFFF"/>
          </a:solidFill>
          <a:ln w="6569">
            <a:solidFill>
              <a:srgbClr val="D8D3CB"/>
            </a:solidFill>
            <a:prstDash val="solid"/>
          </a:ln>
        </p:spPr>
      </p:sp>
      <p:sp>
        <p:nvSpPr>
          <p:cNvPr id="26" name="Text 24"/>
          <p:cNvSpPr/>
          <p:nvPr/>
        </p:nvSpPr>
        <p:spPr>
          <a:xfrm>
            <a:off x="3322013" y="4578867"/>
            <a:ext cx="1858078" cy="567143"/>
          </a:xfrm>
          <a:prstGeom prst="rect">
            <a:avLst/>
          </a:prstGeom>
          <a:noFill/>
          <a:ln/>
        </p:spPr>
        <p:txBody>
          <a:bodyPr wrap="square" lIns="25400" tIns="25400" rIns="25400" bIns="25400" rtlCol="0" anchor="t">
            <a:normAutofit/>
          </a:bodyPr>
          <a:lstStyle/>
          <a:p>
            <a:pPr algn="l" indent="0" marL="0">
              <a:lnSpc>
                <a:spcPct val="117000"/>
              </a:lnSpc>
              <a:buNone/>
            </a:pPr>
            <a:r>
              <a:rPr lang="en-US" sz="675" b="1" dirty="0">
                <a:solidFill>
                  <a:srgbClr val="4A463F"/>
                </a:solidFill>
                <a:latin typeface="Courier New" pitchFamily="34" charset="0"/>
                <a:ea typeface="Courier New" pitchFamily="34" charset="-122"/>
                <a:cs typeface="Courier New" pitchFamily="34" charset="-120"/>
              </a:rPr>
              <a:t>06 </a:t>
            </a:r>
            <a:pPr algn="l" indent="0" marL="0">
              <a:lnSpc>
                <a:spcPct val="117000"/>
              </a:lnSpc>
              <a:buNone/>
            </a:pPr>
            <a:r>
              <a:rPr lang="en-US" sz="675" dirty="0">
                <a:solidFill>
                  <a:srgbClr val="4A463F"/>
                </a:solidFill>
                <a:highlight>
                  <a:srgbClr val="FFFFFF"/>
                </a:highlight>
                <a:latin typeface="Courier New" pitchFamily="34" charset="0"/>
                <a:ea typeface="Courier New" pitchFamily="34" charset="-122"/>
                <a:cs typeface="Courier New" pitchFamily="34" charset="-120"/>
              </a:rPr>
              <a:t>centre ①</a:t>
            </a:r>
            <a:endParaRPr lang="en-US" sz="675" dirty="0"/>
          </a:p>
        </p:txBody>
      </p:sp>
      <p:sp>
        <p:nvSpPr>
          <p:cNvPr id="27" name="Text 25"/>
          <p:cNvSpPr/>
          <p:nvPr/>
        </p:nvSpPr>
        <p:spPr>
          <a:xfrm>
            <a:off x="5287566" y="4691360"/>
            <a:ext cx="243334" cy="342007"/>
          </a:xfrm>
          <a:prstGeom prst="rect">
            <a:avLst/>
          </a:prstGeom>
          <a:noFill/>
          <a:ln/>
        </p:spPr>
        <p:txBody>
          <a:bodyPr wrap="square" lIns="25400" tIns="25400" rIns="25400" bIns="25400" rtlCol="0" anchor="t">
            <a:normAutofit/>
          </a:bodyPr>
          <a:lstStyle/>
          <a:p>
            <a:pPr algn="l" indent="0" marL="0">
              <a:lnSpc>
                <a:spcPct val="91667"/>
              </a:lnSpc>
              <a:buNone/>
            </a:pPr>
            <a:r>
              <a:rPr lang="en-US" sz="825" dirty="0">
                <a:solidFill>
                  <a:srgbClr val="A8A29A"/>
                </a:solidFill>
                <a:latin typeface="Courier New" pitchFamily="34" charset="0"/>
                <a:ea typeface="Courier New" pitchFamily="34" charset="-122"/>
                <a:cs typeface="Courier New" pitchFamily="34" charset="-120"/>
              </a:rPr>
              <a:t>→</a:t>
            </a:r>
            <a:endParaRPr lang="en-US" sz="825" dirty="0"/>
          </a:p>
        </p:txBody>
      </p:sp>
      <p:sp>
        <p:nvSpPr>
          <p:cNvPr id="28" name="Shape 26"/>
          <p:cNvSpPr/>
          <p:nvPr/>
        </p:nvSpPr>
        <p:spPr>
          <a:xfrm>
            <a:off x="5565130" y="4524673"/>
            <a:ext cx="2064990" cy="637431"/>
          </a:xfrm>
          <a:prstGeom prst="roundRect">
            <a:avLst>
              <a:gd name="adj" fmla="val 7471"/>
            </a:avLst>
          </a:prstGeom>
          <a:solidFill>
            <a:srgbClr val="FFFFFF"/>
          </a:solidFill>
          <a:ln w="6569">
            <a:solidFill>
              <a:srgbClr val="D8D3CB"/>
            </a:solidFill>
            <a:prstDash val="solid"/>
          </a:ln>
        </p:spPr>
      </p:sp>
      <p:sp>
        <p:nvSpPr>
          <p:cNvPr id="29" name="Text 27"/>
          <p:cNvSpPr/>
          <p:nvPr/>
        </p:nvSpPr>
        <p:spPr>
          <a:xfrm>
            <a:off x="5638374" y="4578867"/>
            <a:ext cx="1994702" cy="567143"/>
          </a:xfrm>
          <a:prstGeom prst="rect">
            <a:avLst/>
          </a:prstGeom>
          <a:noFill/>
          <a:ln/>
        </p:spPr>
        <p:txBody>
          <a:bodyPr wrap="square" lIns="25400" tIns="25400" rIns="25400" bIns="25400" rtlCol="0" anchor="t">
            <a:normAutofit/>
          </a:bodyPr>
          <a:lstStyle/>
          <a:p>
            <a:pPr algn="l" indent="0" marL="0">
              <a:lnSpc>
                <a:spcPct val="117000"/>
              </a:lnSpc>
              <a:buNone/>
            </a:pPr>
            <a:r>
              <a:rPr lang="en-US" sz="675" b="1" dirty="0">
                <a:solidFill>
                  <a:srgbClr val="4A463F"/>
                </a:solidFill>
                <a:latin typeface="Courier New" pitchFamily="34" charset="0"/>
                <a:ea typeface="Courier New" pitchFamily="34" charset="-122"/>
                <a:cs typeface="Courier New" pitchFamily="34" charset="-120"/>
              </a:rPr>
              <a:t>07 </a:t>
            </a:r>
            <a:pPr algn="l" indent="0" marL="0">
              <a:lnSpc>
                <a:spcPct val="117000"/>
              </a:lnSpc>
              <a:buNone/>
            </a:pPr>
            <a:r>
              <a:rPr lang="en-US" sz="675" dirty="0">
                <a:solidFill>
                  <a:srgbClr val="4A463F"/>
                </a:solidFill>
                <a:highlight>
                  <a:srgbClr val="FFFFFF"/>
                </a:highlight>
                <a:latin typeface="Courier New" pitchFamily="34" charset="0"/>
                <a:ea typeface="Courier New" pitchFamily="34" charset="-122"/>
                <a:cs typeface="Courier New" pitchFamily="34" charset="-120"/>
              </a:rPr>
              <a:t>problem ②</a:t>
            </a:r>
            <a:endParaRPr lang="en-US" sz="675" dirty="0"/>
          </a:p>
        </p:txBody>
      </p:sp>
      <p:sp>
        <p:nvSpPr>
          <p:cNvPr id="30" name="Text 28"/>
          <p:cNvSpPr/>
          <p:nvPr/>
        </p:nvSpPr>
        <p:spPr>
          <a:xfrm>
            <a:off x="7740551" y="4691360"/>
            <a:ext cx="243334" cy="342007"/>
          </a:xfrm>
          <a:prstGeom prst="rect">
            <a:avLst/>
          </a:prstGeom>
          <a:noFill/>
          <a:ln/>
        </p:spPr>
        <p:txBody>
          <a:bodyPr wrap="square" lIns="25400" tIns="25400" rIns="25400" bIns="25400" rtlCol="0" anchor="t">
            <a:normAutofit/>
          </a:bodyPr>
          <a:lstStyle/>
          <a:p>
            <a:pPr algn="l" indent="0" marL="0">
              <a:lnSpc>
                <a:spcPct val="91667"/>
              </a:lnSpc>
              <a:buNone/>
            </a:pPr>
            <a:r>
              <a:rPr lang="en-US" sz="825" dirty="0">
                <a:solidFill>
                  <a:srgbClr val="A8A29A"/>
                </a:solidFill>
                <a:latin typeface="Courier New" pitchFamily="34" charset="0"/>
                <a:ea typeface="Courier New" pitchFamily="34" charset="-122"/>
                <a:cs typeface="Courier New" pitchFamily="34" charset="-120"/>
              </a:rPr>
              <a:t>→</a:t>
            </a:r>
            <a:endParaRPr lang="en-US" sz="825" dirty="0"/>
          </a:p>
        </p:txBody>
      </p:sp>
      <p:sp>
        <p:nvSpPr>
          <p:cNvPr id="31" name="Shape 29"/>
          <p:cNvSpPr/>
          <p:nvPr/>
        </p:nvSpPr>
        <p:spPr>
          <a:xfrm>
            <a:off x="8018115" y="4524673"/>
            <a:ext cx="3021806" cy="637431"/>
          </a:xfrm>
          <a:prstGeom prst="roundRect">
            <a:avLst>
              <a:gd name="adj" fmla="val 7471"/>
            </a:avLst>
          </a:prstGeom>
          <a:solidFill>
            <a:srgbClr val="FFFFFF"/>
          </a:solidFill>
          <a:ln w="6569">
            <a:solidFill>
              <a:srgbClr val="D8D3CB"/>
            </a:solidFill>
            <a:prstDash val="solid"/>
          </a:ln>
        </p:spPr>
      </p:sp>
      <p:sp>
        <p:nvSpPr>
          <p:cNvPr id="32" name="Text 30"/>
          <p:cNvSpPr/>
          <p:nvPr/>
        </p:nvSpPr>
        <p:spPr>
          <a:xfrm>
            <a:off x="8091359" y="4578867"/>
            <a:ext cx="2965973" cy="567143"/>
          </a:xfrm>
          <a:prstGeom prst="rect">
            <a:avLst/>
          </a:prstGeom>
          <a:noFill/>
          <a:ln/>
        </p:spPr>
        <p:txBody>
          <a:bodyPr wrap="square" lIns="25400" tIns="25400" rIns="25400" bIns="25400" rtlCol="0" anchor="t">
            <a:normAutofit/>
          </a:bodyPr>
          <a:lstStyle/>
          <a:p>
            <a:pPr algn="l" indent="0" marL="0">
              <a:lnSpc>
                <a:spcPct val="117000"/>
              </a:lnSpc>
              <a:buNone/>
            </a:pPr>
            <a:r>
              <a:rPr lang="en-US" sz="675" b="1" dirty="0">
                <a:solidFill>
                  <a:srgbClr val="4A463F"/>
                </a:solidFill>
                <a:latin typeface="Courier New" pitchFamily="34" charset="0"/>
                <a:ea typeface="Courier New" pitchFamily="34" charset="-122"/>
                <a:cs typeface="Courier New" pitchFamily="34" charset="-120"/>
              </a:rPr>
              <a:t>08 </a:t>
            </a:r>
            <a:pPr algn="l" indent="0" marL="0">
              <a:lnSpc>
                <a:spcPct val="117000"/>
              </a:lnSpc>
              <a:buNone/>
            </a:pPr>
            <a:r>
              <a:rPr lang="en-US" sz="675" dirty="0">
                <a:solidFill>
                  <a:srgbClr val="4A463F"/>
                </a:solidFill>
                <a:highlight>
                  <a:srgbClr val="FFFFFF"/>
                </a:highlight>
                <a:latin typeface="Courier New" pitchFamily="34" charset="0"/>
                <a:ea typeface="Courier New" pitchFamily="34" charset="-122"/>
                <a:cs typeface="Courier New" pitchFamily="34" charset="-120"/>
              </a:rPr>
              <a:t>“I don't know” ③</a:t>
            </a:r>
            <a:endParaRPr lang="en-US" sz="675" dirty="0"/>
          </a:p>
        </p:txBody>
      </p:sp>
      <p:sp>
        <p:nvSpPr>
          <p:cNvPr id="33" name="Text 31"/>
          <p:cNvSpPr/>
          <p:nvPr/>
        </p:nvSpPr>
        <p:spPr>
          <a:xfrm>
            <a:off x="11150352" y="4691360"/>
            <a:ext cx="243334" cy="342007"/>
          </a:xfrm>
          <a:prstGeom prst="rect">
            <a:avLst/>
          </a:prstGeom>
          <a:noFill/>
          <a:ln/>
        </p:spPr>
        <p:txBody>
          <a:bodyPr wrap="square" lIns="25400" tIns="25400" rIns="25400" bIns="25400" rtlCol="0" anchor="t">
            <a:normAutofit/>
          </a:bodyPr>
          <a:lstStyle/>
          <a:p>
            <a:pPr algn="l" indent="0" marL="0">
              <a:lnSpc>
                <a:spcPct val="91667"/>
              </a:lnSpc>
              <a:buNone/>
            </a:pPr>
            <a:r>
              <a:rPr lang="en-US" sz="825" dirty="0">
                <a:solidFill>
                  <a:srgbClr val="A8A29A"/>
                </a:solidFill>
                <a:latin typeface="Courier New" pitchFamily="34" charset="0"/>
                <a:ea typeface="Courier New" pitchFamily="34" charset="-122"/>
                <a:cs typeface="Courier New" pitchFamily="34" charset="-120"/>
              </a:rPr>
              <a:t>→</a:t>
            </a:r>
            <a:endParaRPr lang="en-US" sz="825" dirty="0"/>
          </a:p>
        </p:txBody>
      </p:sp>
      <p:sp>
        <p:nvSpPr>
          <p:cNvPr id="34" name="Shape 32"/>
          <p:cNvSpPr/>
          <p:nvPr/>
        </p:nvSpPr>
        <p:spPr>
          <a:xfrm>
            <a:off x="11427916" y="4524673"/>
            <a:ext cx="2064990" cy="637431"/>
          </a:xfrm>
          <a:prstGeom prst="roundRect">
            <a:avLst>
              <a:gd name="adj" fmla="val 7471"/>
            </a:avLst>
          </a:prstGeom>
          <a:solidFill>
            <a:srgbClr val="FFFFFF"/>
          </a:solidFill>
          <a:ln w="6569">
            <a:solidFill>
              <a:srgbClr val="D8D3CB"/>
            </a:solidFill>
            <a:prstDash val="solid"/>
          </a:ln>
        </p:spPr>
      </p:sp>
      <p:sp>
        <p:nvSpPr>
          <p:cNvPr id="35" name="Text 33"/>
          <p:cNvSpPr/>
          <p:nvPr/>
        </p:nvSpPr>
        <p:spPr>
          <a:xfrm>
            <a:off x="11501160" y="4578867"/>
            <a:ext cx="1994702" cy="567143"/>
          </a:xfrm>
          <a:prstGeom prst="rect">
            <a:avLst/>
          </a:prstGeom>
          <a:noFill/>
          <a:ln/>
        </p:spPr>
        <p:txBody>
          <a:bodyPr wrap="square" lIns="25400" tIns="25400" rIns="25400" bIns="25400" rtlCol="0" anchor="t">
            <a:normAutofit/>
          </a:bodyPr>
          <a:lstStyle/>
          <a:p>
            <a:pPr algn="l" indent="0" marL="0">
              <a:lnSpc>
                <a:spcPct val="117000"/>
              </a:lnSpc>
              <a:buNone/>
            </a:pPr>
            <a:r>
              <a:rPr lang="en-US" sz="675" b="1" dirty="0">
                <a:solidFill>
                  <a:srgbClr val="4A463F"/>
                </a:solidFill>
                <a:latin typeface="Courier New" pitchFamily="34" charset="0"/>
                <a:ea typeface="Courier New" pitchFamily="34" charset="-122"/>
                <a:cs typeface="Courier New" pitchFamily="34" charset="-120"/>
              </a:rPr>
              <a:t>09 </a:t>
            </a:r>
            <a:pPr algn="l" indent="0" marL="0">
              <a:lnSpc>
                <a:spcPct val="117000"/>
              </a:lnSpc>
              <a:buNone/>
            </a:pPr>
            <a:r>
              <a:rPr lang="en-US" sz="675" dirty="0">
                <a:solidFill>
                  <a:srgbClr val="4A463F"/>
                </a:solidFill>
                <a:highlight>
                  <a:srgbClr val="FFFFFF"/>
                </a:highlight>
                <a:latin typeface="Courier New" pitchFamily="34" charset="0"/>
                <a:ea typeface="Courier New" pitchFamily="34" charset="-122"/>
                <a:cs typeface="Courier New" pitchFamily="34" charset="-120"/>
              </a:rPr>
              <a:t>back to ①</a:t>
            </a:r>
            <a:endParaRPr lang="en-US" sz="675" dirty="0"/>
          </a:p>
        </p:txBody>
      </p:sp>
      <p:sp>
        <p:nvSpPr>
          <p:cNvPr id="36" name="Text 34"/>
          <p:cNvSpPr/>
          <p:nvPr/>
        </p:nvSpPr>
        <p:spPr>
          <a:xfrm>
            <a:off x="13603337" y="4691360"/>
            <a:ext cx="243334" cy="342007"/>
          </a:xfrm>
          <a:prstGeom prst="rect">
            <a:avLst/>
          </a:prstGeom>
          <a:noFill/>
          <a:ln/>
        </p:spPr>
        <p:txBody>
          <a:bodyPr wrap="square" lIns="25400" tIns="25400" rIns="25400" bIns="25400" rtlCol="0" anchor="t">
            <a:normAutofit/>
          </a:bodyPr>
          <a:lstStyle/>
          <a:p>
            <a:pPr algn="l" indent="0" marL="0">
              <a:lnSpc>
                <a:spcPct val="91667"/>
              </a:lnSpc>
              <a:buNone/>
            </a:pPr>
            <a:r>
              <a:rPr lang="en-US" sz="825" dirty="0">
                <a:solidFill>
                  <a:srgbClr val="A8A29A"/>
                </a:solidFill>
                <a:latin typeface="Courier New" pitchFamily="34" charset="0"/>
                <a:ea typeface="Courier New" pitchFamily="34" charset="-122"/>
                <a:cs typeface="Courier New" pitchFamily="34" charset="-120"/>
              </a:rPr>
              <a:t>→</a:t>
            </a:r>
            <a:endParaRPr lang="en-US" sz="825" dirty="0"/>
          </a:p>
        </p:txBody>
      </p:sp>
      <p:sp>
        <p:nvSpPr>
          <p:cNvPr id="37" name="Shape 35"/>
          <p:cNvSpPr/>
          <p:nvPr/>
        </p:nvSpPr>
        <p:spPr>
          <a:xfrm>
            <a:off x="13880902" y="4524673"/>
            <a:ext cx="2475161" cy="637431"/>
          </a:xfrm>
          <a:prstGeom prst="roundRect">
            <a:avLst>
              <a:gd name="adj" fmla="val 7471"/>
            </a:avLst>
          </a:prstGeom>
          <a:solidFill>
            <a:srgbClr val="FFFFFF"/>
          </a:solidFill>
          <a:ln w="6569">
            <a:solidFill>
              <a:srgbClr val="D8D3CB"/>
            </a:solidFill>
            <a:prstDash val="solid"/>
          </a:ln>
        </p:spPr>
      </p:sp>
      <p:sp>
        <p:nvSpPr>
          <p:cNvPr id="38" name="Text 36"/>
          <p:cNvSpPr/>
          <p:nvPr/>
        </p:nvSpPr>
        <p:spPr>
          <a:xfrm>
            <a:off x="13954146" y="4578867"/>
            <a:ext cx="2404873" cy="567143"/>
          </a:xfrm>
          <a:prstGeom prst="rect">
            <a:avLst/>
          </a:prstGeom>
          <a:noFill/>
          <a:ln/>
        </p:spPr>
        <p:txBody>
          <a:bodyPr wrap="square" lIns="25400" tIns="25400" rIns="25400" bIns="25400" rtlCol="0" anchor="t">
            <a:normAutofit/>
          </a:bodyPr>
          <a:lstStyle/>
          <a:p>
            <a:pPr algn="l" indent="0" marL="0">
              <a:lnSpc>
                <a:spcPct val="117000"/>
              </a:lnSpc>
              <a:buNone/>
            </a:pPr>
            <a:r>
              <a:rPr lang="en-US" sz="675" b="1" dirty="0">
                <a:solidFill>
                  <a:srgbClr val="4A463F"/>
                </a:solidFill>
                <a:latin typeface="Courier New" pitchFamily="34" charset="0"/>
                <a:ea typeface="Courier New" pitchFamily="34" charset="-122"/>
                <a:cs typeface="Courier New" pitchFamily="34" charset="-120"/>
              </a:rPr>
              <a:t>10 </a:t>
            </a:r>
            <a:pPr algn="l" indent="0" marL="0">
              <a:lnSpc>
                <a:spcPct val="117000"/>
              </a:lnSpc>
              <a:buNone/>
            </a:pPr>
            <a:r>
              <a:rPr lang="en-US" sz="675" dirty="0">
                <a:solidFill>
                  <a:srgbClr val="4A463F"/>
                </a:solidFill>
                <a:highlight>
                  <a:srgbClr val="FFFFFF"/>
                </a:highlight>
                <a:latin typeface="Courier New" pitchFamily="34" charset="0"/>
                <a:ea typeface="Courier New" pitchFamily="34" charset="-122"/>
                <a:cs typeface="Courier New" pitchFamily="34" charset="-120"/>
              </a:rPr>
              <a:t>hypothesis ④</a:t>
            </a:r>
            <a:endParaRPr lang="en-US" sz="675" dirty="0"/>
          </a:p>
        </p:txBody>
      </p:sp>
      <p:sp>
        <p:nvSpPr>
          <p:cNvPr id="39" name="Text 37"/>
          <p:cNvSpPr/>
          <p:nvPr/>
        </p:nvSpPr>
        <p:spPr>
          <a:xfrm>
            <a:off x="16466493" y="4691360"/>
            <a:ext cx="243334" cy="342007"/>
          </a:xfrm>
          <a:prstGeom prst="rect">
            <a:avLst/>
          </a:prstGeom>
          <a:noFill/>
          <a:ln/>
        </p:spPr>
        <p:txBody>
          <a:bodyPr wrap="square" lIns="25400" tIns="25400" rIns="25400" bIns="25400" rtlCol="0" anchor="t">
            <a:normAutofit/>
          </a:bodyPr>
          <a:lstStyle/>
          <a:p>
            <a:pPr algn="l" indent="0" marL="0">
              <a:lnSpc>
                <a:spcPct val="91667"/>
              </a:lnSpc>
              <a:buNone/>
            </a:pPr>
            <a:r>
              <a:rPr lang="en-US" sz="825" dirty="0">
                <a:solidFill>
                  <a:srgbClr val="A8A29A"/>
                </a:solidFill>
                <a:latin typeface="Courier New" pitchFamily="34" charset="0"/>
                <a:ea typeface="Courier New" pitchFamily="34" charset="-122"/>
                <a:cs typeface="Courier New" pitchFamily="34" charset="-120"/>
              </a:rPr>
              <a:t>→</a:t>
            </a:r>
            <a:endParaRPr lang="en-US" sz="825" dirty="0"/>
          </a:p>
        </p:txBody>
      </p:sp>
      <p:sp>
        <p:nvSpPr>
          <p:cNvPr id="40" name="Shape 38"/>
          <p:cNvSpPr/>
          <p:nvPr/>
        </p:nvSpPr>
        <p:spPr>
          <a:xfrm>
            <a:off x="932408" y="5272534"/>
            <a:ext cx="2064990" cy="637431"/>
          </a:xfrm>
          <a:prstGeom prst="roundRect">
            <a:avLst>
              <a:gd name="adj" fmla="val 7471"/>
            </a:avLst>
          </a:prstGeom>
          <a:solidFill>
            <a:srgbClr val="FFFFFF"/>
          </a:solidFill>
          <a:ln w="6569">
            <a:solidFill>
              <a:srgbClr val="D8D3CB"/>
            </a:solidFill>
            <a:prstDash val="solid"/>
          </a:ln>
        </p:spPr>
      </p:sp>
      <p:sp>
        <p:nvSpPr>
          <p:cNvPr id="41" name="Text 39"/>
          <p:cNvSpPr/>
          <p:nvPr/>
        </p:nvSpPr>
        <p:spPr>
          <a:xfrm>
            <a:off x="1005652" y="5326728"/>
            <a:ext cx="1994702" cy="567143"/>
          </a:xfrm>
          <a:prstGeom prst="rect">
            <a:avLst/>
          </a:prstGeom>
          <a:noFill/>
          <a:ln/>
        </p:spPr>
        <p:txBody>
          <a:bodyPr wrap="square" lIns="25400" tIns="25400" rIns="25400" bIns="25400" rtlCol="0" anchor="t">
            <a:normAutofit/>
          </a:bodyPr>
          <a:lstStyle/>
          <a:p>
            <a:pPr algn="l" indent="0" marL="0">
              <a:lnSpc>
                <a:spcPct val="117000"/>
              </a:lnSpc>
              <a:buNone/>
            </a:pPr>
            <a:r>
              <a:rPr lang="en-US" sz="675" b="1" dirty="0">
                <a:solidFill>
                  <a:srgbClr val="4A463F"/>
                </a:solidFill>
                <a:latin typeface="Courier New" pitchFamily="34" charset="0"/>
                <a:ea typeface="Courier New" pitchFamily="34" charset="-122"/>
                <a:cs typeface="Courier New" pitchFamily="34" charset="-120"/>
              </a:rPr>
              <a:t>11 </a:t>
            </a:r>
            <a:pPr algn="l" indent="0" marL="0">
              <a:lnSpc>
                <a:spcPct val="117000"/>
              </a:lnSpc>
              <a:buNone/>
            </a:pPr>
            <a:r>
              <a:rPr lang="en-US" sz="675" dirty="0">
                <a:solidFill>
                  <a:srgbClr val="4A463F"/>
                </a:solidFill>
                <a:highlight>
                  <a:srgbClr val="FFFFFF"/>
                </a:highlight>
                <a:latin typeface="Courier New" pitchFamily="34" charset="0"/>
                <a:ea typeface="Courier New" pitchFamily="34" charset="-122"/>
                <a:cs typeface="Courier New" pitchFamily="34" charset="-120"/>
              </a:rPr>
              <a:t>the nudge</a:t>
            </a:r>
            <a:endParaRPr lang="en-US" sz="675" dirty="0"/>
          </a:p>
        </p:txBody>
      </p:sp>
      <p:sp>
        <p:nvSpPr>
          <p:cNvPr id="42" name="Text 40"/>
          <p:cNvSpPr/>
          <p:nvPr/>
        </p:nvSpPr>
        <p:spPr>
          <a:xfrm>
            <a:off x="3107829" y="5439221"/>
            <a:ext cx="243334" cy="342007"/>
          </a:xfrm>
          <a:prstGeom prst="rect">
            <a:avLst/>
          </a:prstGeom>
          <a:noFill/>
          <a:ln/>
        </p:spPr>
        <p:txBody>
          <a:bodyPr wrap="square" lIns="25400" tIns="25400" rIns="25400" bIns="25400" rtlCol="0" anchor="t">
            <a:normAutofit/>
          </a:bodyPr>
          <a:lstStyle/>
          <a:p>
            <a:pPr algn="l" indent="0" marL="0">
              <a:lnSpc>
                <a:spcPct val="91667"/>
              </a:lnSpc>
              <a:buNone/>
            </a:pPr>
            <a:r>
              <a:rPr lang="en-US" sz="825" dirty="0">
                <a:solidFill>
                  <a:srgbClr val="A8A29A"/>
                </a:solidFill>
                <a:latin typeface="Courier New" pitchFamily="34" charset="0"/>
                <a:ea typeface="Courier New" pitchFamily="34" charset="-122"/>
                <a:cs typeface="Courier New" pitchFamily="34" charset="-120"/>
              </a:rPr>
              <a:t>→</a:t>
            </a:r>
            <a:endParaRPr lang="en-US" sz="825" dirty="0"/>
          </a:p>
        </p:txBody>
      </p:sp>
      <p:sp>
        <p:nvSpPr>
          <p:cNvPr id="43" name="Shape 41"/>
          <p:cNvSpPr/>
          <p:nvPr/>
        </p:nvSpPr>
        <p:spPr>
          <a:xfrm>
            <a:off x="3385393" y="5272534"/>
            <a:ext cx="2748409" cy="637431"/>
          </a:xfrm>
          <a:prstGeom prst="roundRect">
            <a:avLst>
              <a:gd name="adj" fmla="val 7471"/>
            </a:avLst>
          </a:prstGeom>
          <a:solidFill>
            <a:srgbClr val="FFFFFF"/>
          </a:solidFill>
          <a:ln w="6569">
            <a:solidFill>
              <a:srgbClr val="D8D3CB"/>
            </a:solidFill>
            <a:prstDash val="solid"/>
          </a:ln>
        </p:spPr>
      </p:sp>
      <p:sp>
        <p:nvSpPr>
          <p:cNvPr id="44" name="Text 42"/>
          <p:cNvSpPr/>
          <p:nvPr/>
        </p:nvSpPr>
        <p:spPr>
          <a:xfrm>
            <a:off x="3458637" y="5326728"/>
            <a:ext cx="2684373" cy="567143"/>
          </a:xfrm>
          <a:prstGeom prst="rect">
            <a:avLst/>
          </a:prstGeom>
          <a:noFill/>
          <a:ln/>
        </p:spPr>
        <p:txBody>
          <a:bodyPr wrap="square" lIns="25400" tIns="25400" rIns="25400" bIns="25400" rtlCol="0" anchor="t">
            <a:normAutofit/>
          </a:bodyPr>
          <a:lstStyle/>
          <a:p>
            <a:pPr algn="l" indent="0" marL="0">
              <a:lnSpc>
                <a:spcPct val="117000"/>
              </a:lnSpc>
              <a:buNone/>
            </a:pPr>
            <a:r>
              <a:rPr lang="en-US" sz="675" b="1" dirty="0">
                <a:solidFill>
                  <a:srgbClr val="4A463F"/>
                </a:solidFill>
                <a:latin typeface="Courier New" pitchFamily="34" charset="0"/>
                <a:ea typeface="Courier New" pitchFamily="34" charset="-122"/>
                <a:cs typeface="Courier New" pitchFamily="34" charset="-120"/>
              </a:rPr>
              <a:t>12 </a:t>
            </a:r>
            <a:pPr algn="l" indent="0" marL="0">
              <a:lnSpc>
                <a:spcPct val="117000"/>
              </a:lnSpc>
              <a:buNone/>
            </a:pPr>
            <a:r>
              <a:rPr lang="en-US" sz="675" dirty="0">
                <a:solidFill>
                  <a:srgbClr val="4A463F"/>
                </a:solidFill>
                <a:highlight>
                  <a:srgbClr val="FFFFFF"/>
                </a:highlight>
                <a:latin typeface="Courier New" pitchFamily="34" charset="0"/>
                <a:ea typeface="Courier New" pitchFamily="34" charset="-122"/>
                <a:cs typeface="Courier New" pitchFamily="34" charset="-120"/>
              </a:rPr>
              <a:t>three ways out</a:t>
            </a:r>
            <a:endParaRPr lang="en-US" sz="675" dirty="0"/>
          </a:p>
        </p:txBody>
      </p:sp>
      <p:sp>
        <p:nvSpPr>
          <p:cNvPr id="45" name="Text 43"/>
          <p:cNvSpPr/>
          <p:nvPr/>
        </p:nvSpPr>
        <p:spPr>
          <a:xfrm>
            <a:off x="6244233" y="5439221"/>
            <a:ext cx="243334" cy="342007"/>
          </a:xfrm>
          <a:prstGeom prst="rect">
            <a:avLst/>
          </a:prstGeom>
          <a:noFill/>
          <a:ln/>
        </p:spPr>
        <p:txBody>
          <a:bodyPr wrap="square" lIns="25400" tIns="25400" rIns="25400" bIns="25400" rtlCol="0" anchor="t">
            <a:normAutofit/>
          </a:bodyPr>
          <a:lstStyle/>
          <a:p>
            <a:pPr algn="l" indent="0" marL="0">
              <a:lnSpc>
                <a:spcPct val="91667"/>
              </a:lnSpc>
              <a:buNone/>
            </a:pPr>
            <a:r>
              <a:rPr lang="en-US" sz="825" dirty="0">
                <a:solidFill>
                  <a:srgbClr val="A8A29A"/>
                </a:solidFill>
                <a:latin typeface="Courier New" pitchFamily="34" charset="0"/>
                <a:ea typeface="Courier New" pitchFamily="34" charset="-122"/>
                <a:cs typeface="Courier New" pitchFamily="34" charset="-120"/>
              </a:rPr>
              <a:t>→</a:t>
            </a:r>
            <a:endParaRPr lang="en-US" sz="825" dirty="0"/>
          </a:p>
        </p:txBody>
      </p:sp>
      <p:sp>
        <p:nvSpPr>
          <p:cNvPr id="46" name="Shape 44"/>
          <p:cNvSpPr/>
          <p:nvPr/>
        </p:nvSpPr>
        <p:spPr>
          <a:xfrm>
            <a:off x="6521797" y="5272534"/>
            <a:ext cx="1928366" cy="637431"/>
          </a:xfrm>
          <a:prstGeom prst="roundRect">
            <a:avLst>
              <a:gd name="adj" fmla="val 7471"/>
            </a:avLst>
          </a:prstGeom>
          <a:solidFill>
            <a:srgbClr val="FFFFFF"/>
          </a:solidFill>
          <a:ln w="6569">
            <a:solidFill>
              <a:srgbClr val="D8D3CB"/>
            </a:solidFill>
            <a:prstDash val="solid"/>
          </a:ln>
        </p:spPr>
      </p:sp>
      <p:sp>
        <p:nvSpPr>
          <p:cNvPr id="47" name="Text 45"/>
          <p:cNvSpPr/>
          <p:nvPr/>
        </p:nvSpPr>
        <p:spPr>
          <a:xfrm>
            <a:off x="6595041" y="5326728"/>
            <a:ext cx="1858078" cy="567143"/>
          </a:xfrm>
          <a:prstGeom prst="rect">
            <a:avLst/>
          </a:prstGeom>
          <a:noFill/>
          <a:ln/>
        </p:spPr>
        <p:txBody>
          <a:bodyPr wrap="square" lIns="25400" tIns="25400" rIns="25400" bIns="25400" rtlCol="0" anchor="t">
            <a:normAutofit/>
          </a:bodyPr>
          <a:lstStyle/>
          <a:p>
            <a:pPr algn="l" indent="0" marL="0">
              <a:lnSpc>
                <a:spcPct val="117000"/>
              </a:lnSpc>
              <a:buNone/>
            </a:pPr>
            <a:r>
              <a:rPr lang="en-US" sz="675" b="1" dirty="0">
                <a:solidFill>
                  <a:srgbClr val="4A463F"/>
                </a:solidFill>
                <a:latin typeface="Courier New" pitchFamily="34" charset="0"/>
                <a:ea typeface="Courier New" pitchFamily="34" charset="-122"/>
                <a:cs typeface="Courier New" pitchFamily="34" charset="-120"/>
              </a:rPr>
              <a:t>13 </a:t>
            </a:r>
            <a:pPr algn="l" indent="0" marL="0">
              <a:lnSpc>
                <a:spcPct val="117000"/>
              </a:lnSpc>
              <a:buNone/>
            </a:pPr>
            <a:r>
              <a:rPr lang="en-US" sz="675" dirty="0">
                <a:solidFill>
                  <a:srgbClr val="4A463F"/>
                </a:solidFill>
                <a:highlight>
                  <a:srgbClr val="FFFFFF"/>
                </a:highlight>
                <a:latin typeface="Courier New" pitchFamily="34" charset="0"/>
                <a:ea typeface="Courier New" pitchFamily="34" charset="-122"/>
                <a:cs typeface="Courier New" pitchFamily="34" charset="-120"/>
              </a:rPr>
              <a:t>takeaway</a:t>
            </a:r>
            <a:endParaRPr lang="en-US" sz="675" dirty="0"/>
          </a:p>
        </p:txBody>
      </p:sp>
      <p:sp>
        <p:nvSpPr>
          <p:cNvPr id="48" name="Shape 46"/>
          <p:cNvSpPr/>
          <p:nvPr/>
        </p:nvSpPr>
        <p:spPr>
          <a:xfrm>
            <a:off x="8560594" y="5272534"/>
            <a:ext cx="6852940" cy="637431"/>
          </a:xfrm>
          <a:prstGeom prst="roundRect">
            <a:avLst>
              <a:gd name="adj" fmla="val 7471"/>
            </a:avLst>
          </a:prstGeom>
          <a:ln w="6569">
            <a:solidFill>
              <a:srgbClr val="D8D3CB"/>
            </a:solidFill>
            <a:prstDash val="dash"/>
          </a:ln>
        </p:spPr>
      </p:sp>
      <p:sp>
        <p:nvSpPr>
          <p:cNvPr id="49" name="Text 47"/>
          <p:cNvSpPr/>
          <p:nvPr/>
        </p:nvSpPr>
        <p:spPr>
          <a:xfrm>
            <a:off x="8633838" y="5326728"/>
            <a:ext cx="6912040" cy="567143"/>
          </a:xfrm>
          <a:prstGeom prst="rect">
            <a:avLst/>
          </a:prstGeom>
          <a:noFill/>
          <a:ln/>
        </p:spPr>
        <p:txBody>
          <a:bodyPr wrap="square" lIns="25400" tIns="25400" rIns="25400" bIns="25400" rtlCol="0" anchor="t">
            <a:normAutofit/>
          </a:bodyPr>
          <a:lstStyle/>
          <a:p>
            <a:pPr algn="l" indent="0" marL="0">
              <a:lnSpc>
                <a:spcPct val="117000"/>
              </a:lnSpc>
              <a:buNone/>
            </a:pPr>
            <a:r>
              <a:rPr lang="en-US" sz="675" dirty="0">
                <a:solidFill>
                  <a:srgbClr val="6B665E"/>
                </a:solidFill>
                <a:latin typeface="Courier New" pitchFamily="34" charset="0"/>
                <a:ea typeface="Courier New" pitchFamily="34" charset="-122"/>
                <a:cs typeface="Courier New" pitchFamily="34" charset="-120"/>
              </a:rPr>
              <a:t>↳ room mode runs the same spine on a big screen</a:t>
            </a:r>
            <a:endParaRPr lang="en-US" sz="675" dirty="0"/>
          </a:p>
        </p:txBody>
      </p:sp>
      <p:sp>
        <p:nvSpPr>
          <p:cNvPr id="50" name="Text 48"/>
          <p:cNvSpPr/>
          <p:nvPr/>
        </p:nvSpPr>
        <p:spPr>
          <a:xfrm>
            <a:off x="609600" y="6501408"/>
            <a:ext cx="9178290" cy="442913"/>
          </a:xfrm>
          <a:prstGeom prst="rect">
            <a:avLst/>
          </a:prstGeom>
          <a:noFill/>
          <a:ln/>
        </p:spPr>
        <p:txBody>
          <a:bodyPr wrap="square" lIns="25400" tIns="25400" rIns="25400" bIns="25400" rtlCol="0" anchor="t">
            <a:normAutofit/>
          </a:bodyPr>
          <a:lstStyle/>
          <a:p>
            <a:pPr algn="l" indent="0" marL="0">
              <a:lnSpc>
                <a:spcPct val="108974"/>
              </a:lnSpc>
              <a:buNone/>
            </a:pPr>
            <a:r>
              <a:rPr lang="en-US" sz="2550" dirty="0">
                <a:solidFill>
                  <a:srgbClr val="1B1B1B"/>
                </a:solidFill>
                <a:latin typeface="Arial" pitchFamily="34" charset="0"/>
                <a:ea typeface="Arial" pitchFamily="34" charset="-122"/>
                <a:cs typeface="Arial" pitchFamily="34" charset="-120"/>
              </a:rPr>
              <a:t>Nothing is ever replaced.</a:t>
            </a:r>
            <a:endParaRPr lang="en-US" sz="2550" dirty="0"/>
          </a:p>
        </p:txBody>
      </p:sp>
      <p:sp>
        <p:nvSpPr>
          <p:cNvPr id="51" name="Text 49"/>
          <p:cNvSpPr/>
          <p:nvPr/>
        </p:nvSpPr>
        <p:spPr>
          <a:xfrm>
            <a:off x="609600" y="6906220"/>
            <a:ext cx="8594217" cy="728663"/>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3A352D"/>
                </a:solidFill>
                <a:latin typeface="Helvetica" pitchFamily="34" charset="0"/>
                <a:ea typeface="Helvetica" pitchFamily="34" charset="-122"/>
                <a:cs typeface="Helvetica" pitchFamily="34" charset="-120"/>
              </a:rPr>
              <a:t>The triage chips stay above the canvas, greyed. The canvas reads as something the conversation produced — not a new tool you've been handed.</a:t>
            </a:r>
            <a:endParaRPr lang="en-US" sz="1875" dirty="0"/>
          </a:p>
        </p:txBody>
      </p:sp>
      <p:sp>
        <p:nvSpPr>
          <p:cNvPr id="52" name="Text 50"/>
          <p:cNvSpPr/>
          <p:nvPr/>
        </p:nvSpPr>
        <p:spPr>
          <a:xfrm>
            <a:off x="9334500" y="6501408"/>
            <a:ext cx="9178290" cy="442913"/>
          </a:xfrm>
          <a:prstGeom prst="rect">
            <a:avLst/>
          </a:prstGeom>
          <a:noFill/>
          <a:ln/>
        </p:spPr>
        <p:txBody>
          <a:bodyPr wrap="square" lIns="25400" tIns="25400" rIns="25400" bIns="25400" rtlCol="0" anchor="t">
            <a:normAutofit/>
          </a:bodyPr>
          <a:lstStyle/>
          <a:p>
            <a:pPr algn="l" indent="0" marL="0">
              <a:lnSpc>
                <a:spcPct val="108974"/>
              </a:lnSpc>
              <a:buNone/>
            </a:pPr>
            <a:r>
              <a:rPr lang="en-US" sz="2550" dirty="0">
                <a:solidFill>
                  <a:srgbClr val="1B1B1B"/>
                </a:solidFill>
                <a:latin typeface="Arial" pitchFamily="34" charset="0"/>
                <a:ea typeface="Arial" pitchFamily="34" charset="-122"/>
                <a:cs typeface="Arial" pitchFamily="34" charset="-120"/>
              </a:rPr>
              <a:t>No progress bar, anywhere.</a:t>
            </a:r>
            <a:endParaRPr lang="en-US" sz="2550" dirty="0"/>
          </a:p>
        </p:txBody>
      </p:sp>
      <p:sp>
        <p:nvSpPr>
          <p:cNvPr id="53" name="Text 51"/>
          <p:cNvSpPr/>
          <p:nvPr/>
        </p:nvSpPr>
        <p:spPr>
          <a:xfrm>
            <a:off x="9334500" y="6906220"/>
            <a:ext cx="8594217" cy="728663"/>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3A352D"/>
                </a:solidFill>
                <a:latin typeface="Helvetica" pitchFamily="34" charset="0"/>
                <a:ea typeface="Helvetica" pitchFamily="34" charset="-122"/>
                <a:cs typeface="Helvetica" pitchFamily="34" charset="-120"/>
              </a:rPr>
              <a:t>The only orientation is the canvas filling in. Step numbers here are my annotation of the coach's route, not UI.</a:t>
            </a:r>
            <a:endParaRPr lang="en-US" sz="18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FECE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FECE6"/>
          </a:solidFill>
          <a:ln/>
        </p:spPr>
      </p:sp>
      <p:sp>
        <p:nvSpPr>
          <p:cNvPr id="3" name="Shape 1"/>
          <p:cNvSpPr/>
          <p:nvPr/>
        </p:nvSpPr>
        <p:spPr>
          <a:xfrm>
            <a:off x="609600" y="1104900"/>
            <a:ext cx="17068800" cy="19050"/>
          </a:xfrm>
          <a:prstGeom prst="rect">
            <a:avLst/>
          </a:prstGeom>
          <a:solidFill>
            <a:srgbClr val="1B1B1B"/>
          </a:solidFill>
          <a:ln/>
        </p:spPr>
      </p:sp>
      <p:sp>
        <p:nvSpPr>
          <p:cNvPr id="4" name="Shape 2"/>
          <p:cNvSpPr/>
          <p:nvPr/>
        </p:nvSpPr>
        <p:spPr>
          <a:xfrm>
            <a:off x="609600" y="590550"/>
            <a:ext cx="459135" cy="381000"/>
          </a:xfrm>
          <a:prstGeom prst="roundRect">
            <a:avLst>
              <a:gd name="adj" fmla="val 17500"/>
            </a:avLst>
          </a:prstGeom>
          <a:solidFill>
            <a:srgbClr val="1B1B1B"/>
          </a:solidFill>
          <a:ln/>
        </p:spPr>
      </p:sp>
      <p:sp>
        <p:nvSpPr>
          <p:cNvPr id="5" name="Text 3"/>
          <p:cNvSpPr/>
          <p:nvPr/>
        </p:nvSpPr>
        <p:spPr>
          <a:xfrm>
            <a:off x="723900" y="676275"/>
            <a:ext cx="306735" cy="247650"/>
          </a:xfrm>
          <a:prstGeom prst="rect">
            <a:avLst/>
          </a:prstGeom>
          <a:noFill/>
          <a:ln/>
        </p:spPr>
        <p:txBody>
          <a:bodyPr wrap="square" lIns="25400" tIns="25400" rIns="25400" bIns="25400" rtlCol="0" anchor="t">
            <a:normAutofit/>
          </a:bodyPr>
          <a:lstStyle/>
          <a:p>
            <a:pPr algn="l" indent="0" marL="0">
              <a:lnSpc>
                <a:spcPct val="88000"/>
              </a:lnSpc>
              <a:buNone/>
            </a:pPr>
            <a:r>
              <a:rPr lang="en-US" sz="1650" b="1" dirty="0">
                <a:solidFill>
                  <a:srgbClr val="FFFFFF"/>
                </a:solidFill>
                <a:latin typeface="Courier New" pitchFamily="34" charset="0"/>
                <a:ea typeface="Courier New" pitchFamily="34" charset="-122"/>
                <a:cs typeface="Courier New" pitchFamily="34" charset="-120"/>
              </a:rPr>
              <a:t>01</a:t>
            </a:r>
            <a:endParaRPr lang="en-US" sz="1650" dirty="0"/>
          </a:p>
        </p:txBody>
      </p:sp>
      <p:sp>
        <p:nvSpPr>
          <p:cNvPr id="6" name="Text 4"/>
          <p:cNvSpPr/>
          <p:nvPr/>
        </p:nvSpPr>
        <p:spPr>
          <a:xfrm>
            <a:off x="1221135" y="504825"/>
            <a:ext cx="1557635" cy="457200"/>
          </a:xfrm>
          <a:prstGeom prst="rect">
            <a:avLst/>
          </a:prstGeom>
          <a:noFill/>
          <a:ln/>
        </p:spPr>
        <p:txBody>
          <a:bodyPr wrap="square" lIns="0" tIns="0" rIns="0" bIns="0" rtlCol="0" anchor="t">
            <a:normAutofit/>
          </a:bodyPr>
          <a:lstStyle/>
          <a:p>
            <a:pPr algn="l" indent="0" marL="0">
              <a:lnSpc>
                <a:spcPct val="102222"/>
              </a:lnSpc>
              <a:buNone/>
            </a:pPr>
            <a:r>
              <a:rPr lang="en-US" sz="3000" b="1" dirty="0">
                <a:solidFill>
                  <a:srgbClr val="1B1B1B"/>
                </a:solidFill>
                <a:latin typeface="Helvetica" pitchFamily="34" charset="0"/>
                <a:ea typeface="Helvetica" pitchFamily="34" charset="-122"/>
                <a:cs typeface="Helvetica" pitchFamily="34" charset="-120"/>
              </a:rPr>
              <a:t>Landing</a:t>
            </a:r>
            <a:endParaRPr lang="en-US" sz="3000" dirty="0"/>
          </a:p>
        </p:txBody>
      </p:sp>
      <p:sp>
        <p:nvSpPr>
          <p:cNvPr id="7" name="Text 5"/>
          <p:cNvSpPr/>
          <p:nvPr/>
        </p:nvSpPr>
        <p:spPr>
          <a:xfrm>
            <a:off x="16935599" y="695325"/>
            <a:ext cx="819001" cy="228600"/>
          </a:xfrm>
          <a:prstGeom prst="rect">
            <a:avLst/>
          </a:prstGeom>
          <a:noFill/>
          <a:ln/>
        </p:spPr>
        <p:txBody>
          <a:bodyPr wrap="none" lIns="25400" tIns="25400" rIns="25400" bIns="25400" rtlCol="0" anchor="t">
            <a:normAutofit/>
          </a:bodyPr>
          <a:lstStyle/>
          <a:p>
            <a:pPr algn="l" indent="0" marL="0">
              <a:lnSpc>
                <a:spcPct val="86957"/>
              </a:lnSpc>
              <a:buNone/>
            </a:pPr>
            <a:r>
              <a:rPr lang="en-US" sz="1500" b="1" spc="150" kern="0" dirty="0">
                <a:solidFill>
                  <a:srgbClr val="8A8479"/>
                </a:solidFill>
                <a:latin typeface="Courier New" pitchFamily="34" charset="0"/>
                <a:ea typeface="Courier New" pitchFamily="34" charset="-122"/>
                <a:cs typeface="Courier New" pitchFamily="34" charset="-120"/>
              </a:rPr>
              <a:t>TRIAGE</a:t>
            </a:r>
            <a:endParaRPr lang="en-US" sz="1500" dirty="0"/>
          </a:p>
        </p:txBody>
      </p:sp>
      <p:sp>
        <p:nvSpPr>
          <p:cNvPr id="8" name="Text 6"/>
          <p:cNvSpPr/>
          <p:nvPr/>
        </p:nvSpPr>
        <p:spPr>
          <a:xfrm>
            <a:off x="609600" y="2801243"/>
            <a:ext cx="9123998" cy="219075"/>
          </a:xfrm>
          <a:prstGeom prst="rect">
            <a:avLst/>
          </a:prstGeom>
          <a:noFill/>
          <a:ln/>
        </p:spPr>
        <p:txBody>
          <a:bodyPr wrap="square" lIns="25400" tIns="25400" rIns="25400" bIns="25400" rtlCol="0" anchor="t">
            <a:normAutofit/>
          </a:bodyPr>
          <a:lstStyle/>
          <a:p>
            <a:pPr algn="l" indent="0" marL="0">
              <a:buNone/>
            </a:pPr>
            <a:r>
              <a:rPr lang="en-US" sz="825" b="1" spc="66" kern="0" dirty="0">
                <a:solidFill>
                  <a:srgbClr val="1B1B1B">
                    <a:alpha val="50000"/>
                  </a:srgbClr>
                </a:solidFill>
                <a:latin typeface="Courier New" pitchFamily="34" charset="0"/>
                <a:ea typeface="Courier New" pitchFamily="34" charset="-122"/>
                <a:cs typeface="Courier New" pitchFamily="34" charset="-120"/>
              </a:rPr>
              <a:t>DESKTOP</a:t>
            </a:r>
            <a:endParaRPr lang="en-US" sz="825" dirty="0"/>
          </a:p>
        </p:txBody>
      </p:sp>
      <p:sp>
        <p:nvSpPr>
          <p:cNvPr id="9" name="Shape 7"/>
          <p:cNvSpPr/>
          <p:nvPr/>
        </p:nvSpPr>
        <p:spPr>
          <a:xfrm>
            <a:off x="609600" y="3096518"/>
            <a:ext cx="8858250" cy="4663827"/>
          </a:xfrm>
          <a:prstGeom prst="roundRect">
            <a:avLst>
              <a:gd name="adj" fmla="val 2451"/>
            </a:avLst>
          </a:prstGeom>
          <a:solidFill>
            <a:srgbClr val="FFFFFF"/>
          </a:solidFill>
          <a:ln w="19050">
            <a:solidFill>
              <a:srgbClr val="1B1B1B"/>
            </a:solidFill>
            <a:prstDash val="solid"/>
          </a:ln>
        </p:spPr>
      </p:sp>
      <p:sp>
        <p:nvSpPr>
          <p:cNvPr id="10" name="Text 8"/>
          <p:cNvSpPr/>
          <p:nvPr/>
        </p:nvSpPr>
        <p:spPr>
          <a:xfrm>
            <a:off x="823913" y="3310830"/>
            <a:ext cx="1448693" cy="304800"/>
          </a:xfrm>
          <a:prstGeom prst="rect">
            <a:avLst/>
          </a:prstGeom>
          <a:noFill/>
          <a:ln/>
        </p:spPr>
        <p:txBody>
          <a:bodyPr wrap="square" lIns="25400" tIns="25400" rIns="25400" bIns="25400" rtlCol="0" anchor="t">
            <a:normAutofit/>
          </a:bodyPr>
          <a:lstStyle/>
          <a:p>
            <a:pPr algn="l" indent="0" marL="0">
              <a:buNone/>
            </a:pPr>
            <a:r>
              <a:rPr lang="en-US" sz="1200" dirty="0">
                <a:solidFill>
                  <a:srgbClr val="1B1B1B"/>
                </a:solidFill>
                <a:latin typeface="Arial" pitchFamily="34" charset="0"/>
                <a:ea typeface="Arial" pitchFamily="34" charset="-122"/>
                <a:cs typeface="Arial" pitchFamily="34" charset="-120"/>
              </a:rPr>
              <a:t>bettergoals.ai</a:t>
            </a:r>
            <a:endParaRPr lang="en-US" sz="1200" dirty="0"/>
          </a:p>
        </p:txBody>
      </p:sp>
      <p:sp>
        <p:nvSpPr>
          <p:cNvPr id="11" name="Text 9"/>
          <p:cNvSpPr/>
          <p:nvPr/>
        </p:nvSpPr>
        <p:spPr>
          <a:xfrm>
            <a:off x="6417618" y="3377505"/>
            <a:ext cx="2920998"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what is this? · github · the community</a:t>
            </a:r>
            <a:endParaRPr lang="en-US" sz="713" dirty="0"/>
          </a:p>
        </p:txBody>
      </p:sp>
      <p:sp>
        <p:nvSpPr>
          <p:cNvPr id="12" name="Shape 10"/>
          <p:cNvSpPr/>
          <p:nvPr/>
        </p:nvSpPr>
        <p:spPr>
          <a:xfrm>
            <a:off x="823913" y="3723977"/>
            <a:ext cx="8429625" cy="14288"/>
          </a:xfrm>
          <a:prstGeom prst="rect">
            <a:avLst/>
          </a:prstGeom>
          <a:solidFill>
            <a:srgbClr val="E2DED7"/>
          </a:solidFill>
          <a:ln/>
        </p:spPr>
      </p:sp>
      <p:sp>
        <p:nvSpPr>
          <p:cNvPr id="13" name="Text 11"/>
          <p:cNvSpPr/>
          <p:nvPr/>
        </p:nvSpPr>
        <p:spPr>
          <a:xfrm>
            <a:off x="823913" y="3881140"/>
            <a:ext cx="4452241" cy="1516856"/>
          </a:xfrm>
          <a:prstGeom prst="rect">
            <a:avLst/>
          </a:prstGeom>
          <a:noFill/>
          <a:ln/>
        </p:spPr>
        <p:txBody>
          <a:bodyPr wrap="square" lIns="25400" tIns="25400" rIns="25400" bIns="25400" rtlCol="0" anchor="t">
            <a:normAutofit/>
          </a:bodyPr>
          <a:lstStyle/>
          <a:p>
            <a:pPr algn="l" indent="0" marL="0">
              <a:lnSpc>
                <a:spcPct val="101471"/>
              </a:lnSpc>
              <a:buNone/>
            </a:pPr>
            <a:r>
              <a:rPr lang="en-US" sz="2250" dirty="0">
                <a:solidFill>
                  <a:srgbClr val="1B1B1B"/>
                </a:solidFill>
                <a:latin typeface="Arial" pitchFamily="34" charset="0"/>
                <a:ea typeface="Arial" pitchFamily="34" charset="-122"/>
                <a:cs typeface="Arial" pitchFamily="34" charset="-120"/>
              </a:rPr>
              <a:t>Hello. I help you turn a goal into an outcome worth chasing.</a:t>
            </a:r>
            <a:endParaRPr lang="en-US" sz="2250" dirty="0"/>
          </a:p>
        </p:txBody>
      </p:sp>
      <p:sp>
        <p:nvSpPr>
          <p:cNvPr id="14" name="Text 12"/>
          <p:cNvSpPr/>
          <p:nvPr/>
        </p:nvSpPr>
        <p:spPr>
          <a:xfrm>
            <a:off x="823913" y="5502771"/>
            <a:ext cx="8682514" cy="307330"/>
          </a:xfrm>
          <a:prstGeom prst="rect">
            <a:avLst/>
          </a:prstGeom>
          <a:noFill/>
          <a:ln/>
        </p:spPr>
        <p:txBody>
          <a:bodyPr wrap="square" lIns="25400" tIns="25400" rIns="25400" bIns="25400" rtlCol="0" anchor="t">
            <a:normAutofit/>
          </a:bodyPr>
          <a:lstStyle/>
          <a:p>
            <a:pPr algn="l" indent="0" marL="0">
              <a:lnSpc>
                <a:spcPct val="117813"/>
              </a:lnSpc>
              <a:buNone/>
            </a:pPr>
            <a:r>
              <a:rPr lang="en-US" sz="1088" dirty="0">
                <a:solidFill>
                  <a:srgbClr val="1B1B1B">
                    <a:alpha val="65000"/>
                  </a:srgbClr>
                </a:solidFill>
                <a:latin typeface="Arial" pitchFamily="34" charset="0"/>
                <a:ea typeface="Arial" pitchFamily="34" charset="-122"/>
                <a:cs typeface="Arial" pitchFamily="34" charset="-120"/>
              </a:rPr>
              <a:t>Shall we talk it through? Speaking is quicker. Typing works just as well.</a:t>
            </a:r>
            <a:endParaRPr lang="en-US" sz="1088" dirty="0"/>
          </a:p>
        </p:txBody>
      </p:sp>
      <p:sp>
        <p:nvSpPr>
          <p:cNvPr id="15" name="Shape 13"/>
          <p:cNvSpPr/>
          <p:nvPr/>
        </p:nvSpPr>
        <p:spPr>
          <a:xfrm>
            <a:off x="823913" y="5914876"/>
            <a:ext cx="4150519" cy="923925"/>
          </a:xfrm>
          <a:prstGeom prst="roundRect">
            <a:avLst>
              <a:gd name="adj" fmla="val 9278"/>
            </a:avLst>
          </a:prstGeom>
          <a:solidFill>
            <a:srgbClr val="1B1B1B"/>
          </a:solidFill>
          <a:ln w="19050">
            <a:solidFill>
              <a:srgbClr val="1B1B1B"/>
            </a:solidFill>
            <a:prstDash val="solid"/>
          </a:ln>
        </p:spPr>
      </p:sp>
      <p:sp>
        <p:nvSpPr>
          <p:cNvPr id="16" name="Text 14"/>
          <p:cNvSpPr/>
          <p:nvPr/>
        </p:nvSpPr>
        <p:spPr>
          <a:xfrm>
            <a:off x="2221260" y="6086326"/>
            <a:ext cx="1431875" cy="295275"/>
          </a:xfrm>
          <a:prstGeom prst="rect">
            <a:avLst/>
          </a:prstGeom>
          <a:noFill/>
          <a:ln/>
        </p:spPr>
        <p:txBody>
          <a:bodyPr wrap="square" lIns="0" tIns="0" rIns="0" bIns="0" rtlCol="0" anchor="t">
            <a:normAutofit/>
          </a:bodyPr>
          <a:lstStyle/>
          <a:p>
            <a:pPr algn="ctr" indent="0" marL="0">
              <a:buNone/>
            </a:pPr>
            <a:r>
              <a:rPr lang="en-US" sz="1200" dirty="0">
                <a:solidFill>
                  <a:srgbClr val="FFFFFF"/>
                </a:solidFill>
                <a:latin typeface="Arial" pitchFamily="34" charset="0"/>
                <a:ea typeface="Arial" pitchFamily="34" charset="-122"/>
                <a:cs typeface="Arial" pitchFamily="34" charset="-120"/>
              </a:rPr>
              <a:t>◉ Talk to me</a:t>
            </a:r>
            <a:endParaRPr lang="en-US" sz="1200" dirty="0"/>
          </a:p>
        </p:txBody>
      </p:sp>
      <p:sp>
        <p:nvSpPr>
          <p:cNvPr id="17" name="Text 15"/>
          <p:cNvSpPr/>
          <p:nvPr/>
        </p:nvSpPr>
        <p:spPr>
          <a:xfrm>
            <a:off x="1680121" y="6419701"/>
            <a:ext cx="2437954" cy="257175"/>
          </a:xfrm>
          <a:prstGeom prst="rect">
            <a:avLst/>
          </a:prstGeom>
          <a:noFill/>
          <a:ln/>
        </p:spPr>
        <p:txBody>
          <a:bodyPr wrap="square" lIns="25400" tIns="25400" rIns="25400" bIns="25400" rtlCol="0" anchor="t">
            <a:normAutofit/>
          </a:bodyPr>
          <a:lstStyle/>
          <a:p>
            <a:pPr algn="ctr" indent="0" marL="0">
              <a:buNone/>
            </a:pPr>
            <a:r>
              <a:rPr lang="en-US" sz="1000" dirty="0">
                <a:solidFill>
                  <a:srgbClr val="FFFFFF">
                    <a:alpha val="75000"/>
                  </a:srgbClr>
                </a:solidFill>
                <a:latin typeface="Arial" pitchFamily="34" charset="0"/>
                <a:ea typeface="Arial" pitchFamily="34" charset="-122"/>
                <a:cs typeface="Arial" pitchFamily="34" charset="-120"/>
              </a:rPr>
              <a:t>about four minutes, out loud</a:t>
            </a:r>
            <a:endParaRPr lang="en-US" sz="1000" dirty="0"/>
          </a:p>
        </p:txBody>
      </p:sp>
      <p:sp>
        <p:nvSpPr>
          <p:cNvPr id="18" name="Shape 16"/>
          <p:cNvSpPr/>
          <p:nvPr/>
        </p:nvSpPr>
        <p:spPr>
          <a:xfrm>
            <a:off x="5103019" y="5914876"/>
            <a:ext cx="4150519" cy="923925"/>
          </a:xfrm>
          <a:prstGeom prst="roundRect">
            <a:avLst>
              <a:gd name="adj" fmla="val 9278"/>
            </a:avLst>
          </a:prstGeom>
          <a:ln w="19050">
            <a:solidFill>
              <a:srgbClr val="1B1B1B"/>
            </a:solidFill>
            <a:prstDash val="solid"/>
          </a:ln>
        </p:spPr>
      </p:sp>
      <p:sp>
        <p:nvSpPr>
          <p:cNvPr id="19" name="Text 17"/>
          <p:cNvSpPr/>
          <p:nvPr/>
        </p:nvSpPr>
        <p:spPr>
          <a:xfrm>
            <a:off x="6023074" y="6124426"/>
            <a:ext cx="2386608" cy="295275"/>
          </a:xfrm>
          <a:prstGeom prst="rect">
            <a:avLst/>
          </a:prstGeom>
          <a:noFill/>
          <a:ln/>
        </p:spPr>
        <p:txBody>
          <a:bodyPr wrap="square" lIns="0" tIns="0" rIns="0" bIns="0" rtlCol="0" anchor="t">
            <a:normAutofit/>
          </a:bodyPr>
          <a:lstStyle/>
          <a:p>
            <a:pPr algn="ctr" indent="0" marL="0">
              <a:buNone/>
            </a:pPr>
            <a:r>
              <a:rPr lang="en-US" sz="1200" dirty="0">
                <a:solidFill>
                  <a:srgbClr val="1B1B1B"/>
                </a:solidFill>
                <a:latin typeface="Arial" pitchFamily="34" charset="0"/>
                <a:ea typeface="Arial" pitchFamily="34" charset="-122"/>
                <a:cs typeface="Arial" pitchFamily="34" charset="-120"/>
              </a:rPr>
              <a:t>⌨ Type to me instead</a:t>
            </a:r>
            <a:endParaRPr lang="en-US" sz="1200" dirty="0"/>
          </a:p>
        </p:txBody>
      </p:sp>
      <p:sp>
        <p:nvSpPr>
          <p:cNvPr id="20" name="Text 18"/>
          <p:cNvSpPr/>
          <p:nvPr/>
        </p:nvSpPr>
        <p:spPr>
          <a:xfrm>
            <a:off x="6054775" y="6448276"/>
            <a:ext cx="2247007" cy="257175"/>
          </a:xfrm>
          <a:prstGeom prst="rect">
            <a:avLst/>
          </a:prstGeom>
          <a:noFill/>
          <a:ln/>
        </p:spPr>
        <p:txBody>
          <a:bodyPr wrap="square" lIns="25400" tIns="25400" rIns="25400" bIns="25400" rtlCol="0" anchor="t">
            <a:normAutofit/>
          </a:bodyPr>
          <a:lstStyle/>
          <a:p>
            <a:pPr algn="ctr" indent="0" marL="0">
              <a:buNone/>
            </a:pPr>
            <a:r>
              <a:rPr lang="en-US" sz="1000" dirty="0">
                <a:solidFill>
                  <a:srgbClr val="1B1B1B">
                    <a:alpha val="60000"/>
                  </a:srgbClr>
                </a:solidFill>
                <a:latin typeface="Arial" pitchFamily="34" charset="0"/>
                <a:ea typeface="Arial" pitchFamily="34" charset="-122"/>
                <a:cs typeface="Arial" pitchFamily="34" charset="-120"/>
              </a:rPr>
              <a:t>same conversation, typed</a:t>
            </a:r>
            <a:endParaRPr lang="en-US" sz="1000" dirty="0"/>
          </a:p>
        </p:txBody>
      </p:sp>
      <p:sp>
        <p:nvSpPr>
          <p:cNvPr id="21" name="Shape 19"/>
          <p:cNvSpPr/>
          <p:nvPr/>
        </p:nvSpPr>
        <p:spPr>
          <a:xfrm>
            <a:off x="823913" y="6981676"/>
            <a:ext cx="8429625" cy="14288"/>
          </a:xfrm>
          <a:prstGeom prst="rect">
            <a:avLst/>
          </a:prstGeom>
          <a:solidFill>
            <a:srgbClr val="E2DED7"/>
          </a:solidFill>
          <a:ln/>
        </p:spPr>
      </p:sp>
      <p:sp>
        <p:nvSpPr>
          <p:cNvPr id="22" name="Text 20"/>
          <p:cNvSpPr/>
          <p:nvPr/>
        </p:nvSpPr>
        <p:spPr>
          <a:xfrm>
            <a:off x="823913" y="7138839"/>
            <a:ext cx="4238244" cy="445294"/>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I'll ask three short questions first, so I know who I'm coaching.</a:t>
            </a:r>
            <a:endParaRPr lang="en-US" sz="713" dirty="0"/>
          </a:p>
        </p:txBody>
      </p:sp>
      <p:sp>
        <p:nvSpPr>
          <p:cNvPr id="23" name="Text 21"/>
          <p:cNvSpPr/>
          <p:nvPr/>
        </p:nvSpPr>
        <p:spPr>
          <a:xfrm>
            <a:off x="5138738" y="7138839"/>
            <a:ext cx="4238244" cy="445294"/>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Works for one person or a whole room.</a:t>
            </a:r>
            <a:endParaRPr lang="en-US" sz="713" dirty="0"/>
          </a:p>
        </p:txBody>
      </p:sp>
      <p:sp>
        <p:nvSpPr>
          <p:cNvPr id="24" name="Text 22"/>
          <p:cNvSpPr/>
          <p:nvPr/>
        </p:nvSpPr>
        <p:spPr>
          <a:xfrm>
            <a:off x="9725025" y="2801243"/>
            <a:ext cx="4355973" cy="219075"/>
          </a:xfrm>
          <a:prstGeom prst="rect">
            <a:avLst/>
          </a:prstGeom>
          <a:noFill/>
          <a:ln/>
        </p:spPr>
        <p:txBody>
          <a:bodyPr wrap="square" lIns="25400" tIns="25400" rIns="25400" bIns="25400" rtlCol="0" anchor="t">
            <a:normAutofit/>
          </a:bodyPr>
          <a:lstStyle/>
          <a:p>
            <a:pPr algn="l" indent="0" marL="0">
              <a:buNone/>
            </a:pPr>
            <a:r>
              <a:rPr lang="en-US" sz="825" b="1" spc="66" kern="0" dirty="0">
                <a:solidFill>
                  <a:srgbClr val="1B1B1B">
                    <a:alpha val="50000"/>
                  </a:srgbClr>
                </a:solidFill>
                <a:latin typeface="Courier New" pitchFamily="34" charset="0"/>
                <a:ea typeface="Courier New" pitchFamily="34" charset="-122"/>
                <a:cs typeface="Courier New" pitchFamily="34" charset="-120"/>
              </a:rPr>
              <a:t>MOBILE</a:t>
            </a:r>
            <a:endParaRPr lang="en-US" sz="825" dirty="0"/>
          </a:p>
        </p:txBody>
      </p:sp>
      <p:sp>
        <p:nvSpPr>
          <p:cNvPr id="25" name="Shape 23"/>
          <p:cNvSpPr/>
          <p:nvPr/>
        </p:nvSpPr>
        <p:spPr>
          <a:xfrm>
            <a:off x="9725025" y="3096518"/>
            <a:ext cx="4229100" cy="5246489"/>
          </a:xfrm>
          <a:prstGeom prst="roundRect">
            <a:avLst>
              <a:gd name="adj" fmla="val 2703"/>
            </a:avLst>
          </a:prstGeom>
          <a:solidFill>
            <a:srgbClr val="FFFFFF"/>
          </a:solidFill>
          <a:ln w="19050">
            <a:solidFill>
              <a:srgbClr val="1B1B1B"/>
            </a:solidFill>
            <a:prstDash val="solid"/>
          </a:ln>
        </p:spPr>
      </p:sp>
      <p:sp>
        <p:nvSpPr>
          <p:cNvPr id="26" name="Text 24"/>
          <p:cNvSpPr/>
          <p:nvPr/>
        </p:nvSpPr>
        <p:spPr>
          <a:xfrm>
            <a:off x="9939338" y="3310830"/>
            <a:ext cx="1448693" cy="304800"/>
          </a:xfrm>
          <a:prstGeom prst="rect">
            <a:avLst/>
          </a:prstGeom>
          <a:noFill/>
          <a:ln/>
        </p:spPr>
        <p:txBody>
          <a:bodyPr wrap="square" lIns="25400" tIns="25400" rIns="25400" bIns="25400" rtlCol="0" anchor="t">
            <a:normAutofit/>
          </a:bodyPr>
          <a:lstStyle/>
          <a:p>
            <a:pPr algn="l" indent="0" marL="0">
              <a:buNone/>
            </a:pPr>
            <a:r>
              <a:rPr lang="en-US" sz="1200" dirty="0">
                <a:solidFill>
                  <a:srgbClr val="1B1B1B"/>
                </a:solidFill>
                <a:latin typeface="Arial" pitchFamily="34" charset="0"/>
                <a:ea typeface="Arial" pitchFamily="34" charset="-122"/>
                <a:cs typeface="Arial" pitchFamily="34" charset="-120"/>
              </a:rPr>
              <a:t>bettergoals.ai</a:t>
            </a:r>
            <a:endParaRPr lang="en-US" sz="1200" dirty="0"/>
          </a:p>
        </p:txBody>
      </p:sp>
      <p:sp>
        <p:nvSpPr>
          <p:cNvPr id="27" name="Text 25"/>
          <p:cNvSpPr/>
          <p:nvPr/>
        </p:nvSpPr>
        <p:spPr>
          <a:xfrm>
            <a:off x="12769602" y="3377505"/>
            <a:ext cx="1046411"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what is this?</a:t>
            </a:r>
            <a:endParaRPr lang="en-US" sz="713" dirty="0"/>
          </a:p>
        </p:txBody>
      </p:sp>
      <p:sp>
        <p:nvSpPr>
          <p:cNvPr id="28" name="Text 26"/>
          <p:cNvSpPr/>
          <p:nvPr/>
        </p:nvSpPr>
        <p:spPr>
          <a:xfrm>
            <a:off x="9939338" y="3723977"/>
            <a:ext cx="3914489"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a Sooner Safer Happier community project</a:t>
            </a:r>
            <a:endParaRPr lang="en-US" sz="713" dirty="0"/>
          </a:p>
        </p:txBody>
      </p:sp>
      <p:sp>
        <p:nvSpPr>
          <p:cNvPr id="29" name="Shape 27"/>
          <p:cNvSpPr/>
          <p:nvPr/>
        </p:nvSpPr>
        <p:spPr>
          <a:xfrm>
            <a:off x="9939338" y="4070449"/>
            <a:ext cx="3800475" cy="14288"/>
          </a:xfrm>
          <a:prstGeom prst="rect">
            <a:avLst/>
          </a:prstGeom>
          <a:solidFill>
            <a:srgbClr val="E2DED7"/>
          </a:solidFill>
          <a:ln/>
        </p:spPr>
      </p:sp>
      <p:sp>
        <p:nvSpPr>
          <p:cNvPr id="30" name="Text 28"/>
          <p:cNvSpPr/>
          <p:nvPr/>
        </p:nvSpPr>
        <p:spPr>
          <a:xfrm>
            <a:off x="9939338" y="4227612"/>
            <a:ext cx="3914489" cy="1501973"/>
          </a:xfrm>
          <a:prstGeom prst="rect">
            <a:avLst/>
          </a:prstGeom>
          <a:noFill/>
          <a:ln/>
        </p:spPr>
        <p:txBody>
          <a:bodyPr wrap="square" lIns="25400" tIns="25400" rIns="25400" bIns="25400" rtlCol="0" anchor="t">
            <a:normAutofit/>
          </a:bodyPr>
          <a:lstStyle/>
          <a:p>
            <a:pPr algn="l" indent="0" marL="0">
              <a:lnSpc>
                <a:spcPct val="106750"/>
              </a:lnSpc>
              <a:buNone/>
            </a:pPr>
            <a:r>
              <a:rPr lang="en-US" sz="1575" dirty="0">
                <a:solidFill>
                  <a:srgbClr val="1B1B1B"/>
                </a:solidFill>
                <a:latin typeface="Arial" pitchFamily="34" charset="0"/>
                <a:ea typeface="Arial" pitchFamily="34" charset="-122"/>
                <a:cs typeface="Arial" pitchFamily="34" charset="-120"/>
              </a:rPr>
              <a:t>Hello. I help you turn a goal into an outcome worth chasing. Shall we talk it through?</a:t>
            </a:r>
            <a:endParaRPr lang="en-US" sz="1575" dirty="0"/>
          </a:p>
        </p:txBody>
      </p:sp>
      <p:sp>
        <p:nvSpPr>
          <p:cNvPr id="31" name="Shape 29"/>
          <p:cNvSpPr/>
          <p:nvPr/>
        </p:nvSpPr>
        <p:spPr>
          <a:xfrm>
            <a:off x="9939338" y="5834360"/>
            <a:ext cx="3800475" cy="895350"/>
          </a:xfrm>
          <a:prstGeom prst="roundRect">
            <a:avLst>
              <a:gd name="adj" fmla="val 9574"/>
            </a:avLst>
          </a:prstGeom>
          <a:solidFill>
            <a:srgbClr val="1B1B1B"/>
          </a:solidFill>
          <a:ln w="19050">
            <a:solidFill>
              <a:srgbClr val="1B1B1B"/>
            </a:solidFill>
            <a:prstDash val="solid"/>
          </a:ln>
        </p:spPr>
      </p:sp>
      <p:sp>
        <p:nvSpPr>
          <p:cNvPr id="32" name="Text 30"/>
          <p:cNvSpPr/>
          <p:nvPr/>
        </p:nvSpPr>
        <p:spPr>
          <a:xfrm>
            <a:off x="11161663" y="6005810"/>
            <a:ext cx="1431875" cy="295275"/>
          </a:xfrm>
          <a:prstGeom prst="rect">
            <a:avLst/>
          </a:prstGeom>
          <a:noFill/>
          <a:ln/>
        </p:spPr>
        <p:txBody>
          <a:bodyPr wrap="square" lIns="0" tIns="0" rIns="0" bIns="0" rtlCol="0" anchor="t">
            <a:normAutofit/>
          </a:bodyPr>
          <a:lstStyle/>
          <a:p>
            <a:pPr algn="ctr" indent="0" marL="0">
              <a:buNone/>
            </a:pPr>
            <a:r>
              <a:rPr lang="en-US" sz="1200" dirty="0">
                <a:solidFill>
                  <a:srgbClr val="FFFFFF"/>
                </a:solidFill>
                <a:latin typeface="Arial" pitchFamily="34" charset="0"/>
                <a:ea typeface="Arial" pitchFamily="34" charset="-122"/>
                <a:cs typeface="Arial" pitchFamily="34" charset="-120"/>
              </a:rPr>
              <a:t>◉ Talk to me</a:t>
            </a:r>
            <a:endParaRPr lang="en-US" sz="1200" dirty="0"/>
          </a:p>
        </p:txBody>
      </p:sp>
      <p:sp>
        <p:nvSpPr>
          <p:cNvPr id="33" name="Text 31"/>
          <p:cNvSpPr/>
          <p:nvPr/>
        </p:nvSpPr>
        <p:spPr>
          <a:xfrm>
            <a:off x="10885438" y="6339185"/>
            <a:ext cx="1908274" cy="257175"/>
          </a:xfrm>
          <a:prstGeom prst="rect">
            <a:avLst/>
          </a:prstGeom>
          <a:noFill/>
          <a:ln/>
        </p:spPr>
        <p:txBody>
          <a:bodyPr wrap="square" lIns="25400" tIns="25400" rIns="25400" bIns="25400" rtlCol="0" anchor="t">
            <a:normAutofit/>
          </a:bodyPr>
          <a:lstStyle/>
          <a:p>
            <a:pPr algn="ctr" indent="0" marL="0">
              <a:buNone/>
            </a:pPr>
            <a:r>
              <a:rPr lang="en-US" sz="1000" dirty="0">
                <a:solidFill>
                  <a:srgbClr val="FFFFFF">
                    <a:alpha val="75000"/>
                  </a:srgbClr>
                </a:solidFill>
                <a:latin typeface="Arial" pitchFamily="34" charset="0"/>
                <a:ea typeface="Arial" pitchFamily="34" charset="-122"/>
                <a:cs typeface="Arial" pitchFamily="34" charset="-120"/>
              </a:rPr>
              <a:t>four minutes, out loud</a:t>
            </a:r>
            <a:endParaRPr lang="en-US" sz="1000" dirty="0"/>
          </a:p>
        </p:txBody>
      </p:sp>
      <p:sp>
        <p:nvSpPr>
          <p:cNvPr id="34" name="Shape 32"/>
          <p:cNvSpPr/>
          <p:nvPr/>
        </p:nvSpPr>
        <p:spPr>
          <a:xfrm>
            <a:off x="9939338" y="6858298"/>
            <a:ext cx="3800475" cy="923925"/>
          </a:xfrm>
          <a:prstGeom prst="roundRect">
            <a:avLst>
              <a:gd name="adj" fmla="val 9278"/>
            </a:avLst>
          </a:prstGeom>
          <a:ln w="19050">
            <a:solidFill>
              <a:srgbClr val="1B1B1B"/>
            </a:solidFill>
            <a:prstDash val="solid"/>
          </a:ln>
        </p:spPr>
      </p:sp>
      <p:sp>
        <p:nvSpPr>
          <p:cNvPr id="35" name="Text 33"/>
          <p:cNvSpPr/>
          <p:nvPr/>
        </p:nvSpPr>
        <p:spPr>
          <a:xfrm>
            <a:off x="10684371" y="7067848"/>
            <a:ext cx="2386608" cy="295275"/>
          </a:xfrm>
          <a:prstGeom prst="rect">
            <a:avLst/>
          </a:prstGeom>
          <a:noFill/>
          <a:ln/>
        </p:spPr>
        <p:txBody>
          <a:bodyPr wrap="square" lIns="0" tIns="0" rIns="0" bIns="0" rtlCol="0" anchor="t">
            <a:normAutofit/>
          </a:bodyPr>
          <a:lstStyle/>
          <a:p>
            <a:pPr algn="ctr" indent="0" marL="0">
              <a:buNone/>
            </a:pPr>
            <a:r>
              <a:rPr lang="en-US" sz="1200" dirty="0">
                <a:solidFill>
                  <a:srgbClr val="1B1B1B"/>
                </a:solidFill>
                <a:latin typeface="Arial" pitchFamily="34" charset="0"/>
                <a:ea typeface="Arial" pitchFamily="34" charset="-122"/>
                <a:cs typeface="Arial" pitchFamily="34" charset="-120"/>
              </a:rPr>
              <a:t>⌨ Type to me instead</a:t>
            </a:r>
            <a:endParaRPr lang="en-US" sz="1200" dirty="0"/>
          </a:p>
        </p:txBody>
      </p:sp>
      <p:sp>
        <p:nvSpPr>
          <p:cNvPr id="36" name="Text 34"/>
          <p:cNvSpPr/>
          <p:nvPr/>
        </p:nvSpPr>
        <p:spPr>
          <a:xfrm>
            <a:off x="10716071" y="7391698"/>
            <a:ext cx="2247007" cy="257175"/>
          </a:xfrm>
          <a:prstGeom prst="rect">
            <a:avLst/>
          </a:prstGeom>
          <a:noFill/>
          <a:ln/>
        </p:spPr>
        <p:txBody>
          <a:bodyPr wrap="square" lIns="25400" tIns="25400" rIns="25400" bIns="25400" rtlCol="0" anchor="t">
            <a:normAutofit/>
          </a:bodyPr>
          <a:lstStyle/>
          <a:p>
            <a:pPr algn="ctr" indent="0" marL="0">
              <a:buNone/>
            </a:pPr>
            <a:r>
              <a:rPr lang="en-US" sz="1000" dirty="0">
                <a:solidFill>
                  <a:srgbClr val="1B1B1B">
                    <a:alpha val="60000"/>
                  </a:srgbClr>
                </a:solidFill>
                <a:latin typeface="Arial" pitchFamily="34" charset="0"/>
                <a:ea typeface="Arial" pitchFamily="34" charset="-122"/>
                <a:cs typeface="Arial" pitchFamily="34" charset="-120"/>
              </a:rPr>
              <a:t>same conversation, typed</a:t>
            </a:r>
            <a:endParaRPr lang="en-US" sz="1000" dirty="0"/>
          </a:p>
        </p:txBody>
      </p:sp>
      <p:sp>
        <p:nvSpPr>
          <p:cNvPr id="37" name="Text 35"/>
          <p:cNvSpPr/>
          <p:nvPr/>
        </p:nvSpPr>
        <p:spPr>
          <a:xfrm>
            <a:off x="9939338" y="7925098"/>
            <a:ext cx="3914489"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Open source · built by the community</a:t>
            </a:r>
            <a:endParaRPr lang="en-US" sz="713" dirty="0"/>
          </a:p>
        </p:txBody>
      </p:sp>
      <p:sp>
        <p:nvSpPr>
          <p:cNvPr id="38" name="Text 36"/>
          <p:cNvSpPr/>
          <p:nvPr/>
        </p:nvSpPr>
        <p:spPr>
          <a:xfrm>
            <a:off x="14335125" y="4078784"/>
            <a:ext cx="3443573" cy="847725"/>
          </a:xfrm>
          <a:prstGeom prst="rect">
            <a:avLst/>
          </a:prstGeom>
          <a:noFill/>
          <a:ln/>
        </p:spPr>
        <p:txBody>
          <a:bodyPr wrap="square" lIns="25400" tIns="25400" rIns="25400" bIns="25400" rtlCol="0" anchor="t">
            <a:normAutofit/>
          </a:bodyPr>
          <a:lstStyle/>
          <a:p>
            <a:pPr algn="l" indent="0" marL="0">
              <a:lnSpc>
                <a:spcPct val="108974"/>
              </a:lnSpc>
              <a:buNone/>
            </a:pPr>
            <a:r>
              <a:rPr lang="en-US" sz="2550" dirty="0">
                <a:solidFill>
                  <a:srgbClr val="1B1B1B"/>
                </a:solidFill>
                <a:latin typeface="Arial" pitchFamily="34" charset="0"/>
                <a:ea typeface="Arial" pitchFamily="34" charset="-122"/>
                <a:cs typeface="Arial" pitchFamily="34" charset="-120"/>
              </a:rPr>
              <a:t>the moment before anyone speaks</a:t>
            </a:r>
            <a:endParaRPr lang="en-US" sz="2550" dirty="0"/>
          </a:p>
        </p:txBody>
      </p:sp>
      <p:sp>
        <p:nvSpPr>
          <p:cNvPr id="39" name="Text 37"/>
          <p:cNvSpPr/>
          <p:nvPr/>
        </p:nvSpPr>
        <p:spPr>
          <a:xfrm>
            <a:off x="14335125" y="5059859"/>
            <a:ext cx="3443573" cy="2043708"/>
          </a:xfrm>
          <a:prstGeom prst="rect">
            <a:avLst/>
          </a:prstGeom>
          <a:noFill/>
          <a:ln/>
        </p:spPr>
        <p:txBody>
          <a:bodyPr wrap="square" lIns="25400" tIns="25400" rIns="25400" bIns="25400" rtlCol="0" anchor="t">
            <a:normAutofit/>
          </a:bodyPr>
          <a:lstStyle/>
          <a:p>
            <a:pPr algn="l" indent="0" marL="0">
              <a:lnSpc>
                <a:spcPct val="113226"/>
              </a:lnSpc>
              <a:buNone/>
            </a:pPr>
            <a:r>
              <a:rPr lang="en-US" sz="1950" dirty="0">
                <a:solidFill>
                  <a:srgbClr val="1F6BB8"/>
                </a:solidFill>
                <a:latin typeface="Arial" pitchFamily="34" charset="0"/>
                <a:ea typeface="Arial" pitchFamily="34" charset="-122"/>
                <a:cs typeface="Arial" pitchFamily="34" charset="-120"/>
              </a:rPr>
              <a:t>Unchanged from 1a. The column that starts here is the same column the canvas eventually appears inside — nothing in this screen gets replaced later.</a:t>
            </a:r>
            <a:endParaRPr lang="en-US" sz="1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ECE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FECE6"/>
          </a:solidFill>
          <a:ln/>
        </p:spPr>
      </p:sp>
      <p:sp>
        <p:nvSpPr>
          <p:cNvPr id="3" name="Shape 1"/>
          <p:cNvSpPr/>
          <p:nvPr/>
        </p:nvSpPr>
        <p:spPr>
          <a:xfrm>
            <a:off x="609600" y="1104900"/>
            <a:ext cx="17068800" cy="19050"/>
          </a:xfrm>
          <a:prstGeom prst="rect">
            <a:avLst/>
          </a:prstGeom>
          <a:solidFill>
            <a:srgbClr val="1B1B1B"/>
          </a:solidFill>
          <a:ln/>
        </p:spPr>
      </p:sp>
      <p:sp>
        <p:nvSpPr>
          <p:cNvPr id="4" name="Shape 2"/>
          <p:cNvSpPr/>
          <p:nvPr/>
        </p:nvSpPr>
        <p:spPr>
          <a:xfrm>
            <a:off x="609600" y="590550"/>
            <a:ext cx="459135" cy="381000"/>
          </a:xfrm>
          <a:prstGeom prst="roundRect">
            <a:avLst>
              <a:gd name="adj" fmla="val 17500"/>
            </a:avLst>
          </a:prstGeom>
          <a:solidFill>
            <a:srgbClr val="1B1B1B"/>
          </a:solidFill>
          <a:ln/>
        </p:spPr>
      </p:sp>
      <p:sp>
        <p:nvSpPr>
          <p:cNvPr id="5" name="Text 3"/>
          <p:cNvSpPr/>
          <p:nvPr/>
        </p:nvSpPr>
        <p:spPr>
          <a:xfrm>
            <a:off x="723900" y="676275"/>
            <a:ext cx="306735" cy="247650"/>
          </a:xfrm>
          <a:prstGeom prst="rect">
            <a:avLst/>
          </a:prstGeom>
          <a:noFill/>
          <a:ln/>
        </p:spPr>
        <p:txBody>
          <a:bodyPr wrap="square" lIns="25400" tIns="25400" rIns="25400" bIns="25400" rtlCol="0" anchor="t">
            <a:normAutofit/>
          </a:bodyPr>
          <a:lstStyle/>
          <a:p>
            <a:pPr algn="l" indent="0" marL="0">
              <a:lnSpc>
                <a:spcPct val="88000"/>
              </a:lnSpc>
              <a:buNone/>
            </a:pPr>
            <a:r>
              <a:rPr lang="en-US" sz="1650" b="1" dirty="0">
                <a:solidFill>
                  <a:srgbClr val="FFFFFF"/>
                </a:solidFill>
                <a:latin typeface="Courier New" pitchFamily="34" charset="0"/>
                <a:ea typeface="Courier New" pitchFamily="34" charset="-122"/>
                <a:cs typeface="Courier New" pitchFamily="34" charset="-120"/>
              </a:rPr>
              <a:t>02</a:t>
            </a:r>
            <a:endParaRPr lang="en-US" sz="1650" dirty="0"/>
          </a:p>
        </p:txBody>
      </p:sp>
      <p:sp>
        <p:nvSpPr>
          <p:cNvPr id="6" name="Text 4"/>
          <p:cNvSpPr/>
          <p:nvPr/>
        </p:nvSpPr>
        <p:spPr>
          <a:xfrm>
            <a:off x="1221135" y="504825"/>
            <a:ext cx="2347168" cy="457200"/>
          </a:xfrm>
          <a:prstGeom prst="rect">
            <a:avLst/>
          </a:prstGeom>
          <a:noFill/>
          <a:ln/>
        </p:spPr>
        <p:txBody>
          <a:bodyPr wrap="square" lIns="0" tIns="0" rIns="0" bIns="0" rtlCol="0" anchor="t">
            <a:normAutofit/>
          </a:bodyPr>
          <a:lstStyle/>
          <a:p>
            <a:pPr algn="l" indent="0" marL="0">
              <a:lnSpc>
                <a:spcPct val="102222"/>
              </a:lnSpc>
              <a:buNone/>
            </a:pPr>
            <a:r>
              <a:rPr lang="en-US" sz="3000" b="1" dirty="0">
                <a:solidFill>
                  <a:srgbClr val="1B1B1B"/>
                </a:solidFill>
                <a:latin typeface="Helvetica" pitchFamily="34" charset="0"/>
                <a:ea typeface="Helvetica" pitchFamily="34" charset="-122"/>
                <a:cs typeface="Helvetica" pitchFamily="34" charset="-120"/>
              </a:rPr>
              <a:t>Who's here?</a:t>
            </a:r>
            <a:endParaRPr lang="en-US" sz="3000" dirty="0"/>
          </a:p>
        </p:txBody>
      </p:sp>
      <p:sp>
        <p:nvSpPr>
          <p:cNvPr id="7" name="Text 5"/>
          <p:cNvSpPr/>
          <p:nvPr/>
        </p:nvSpPr>
        <p:spPr>
          <a:xfrm>
            <a:off x="16935599" y="695325"/>
            <a:ext cx="819001" cy="228600"/>
          </a:xfrm>
          <a:prstGeom prst="rect">
            <a:avLst/>
          </a:prstGeom>
          <a:noFill/>
          <a:ln/>
        </p:spPr>
        <p:txBody>
          <a:bodyPr wrap="none" lIns="25400" tIns="25400" rIns="25400" bIns="25400" rtlCol="0" anchor="t">
            <a:normAutofit/>
          </a:bodyPr>
          <a:lstStyle/>
          <a:p>
            <a:pPr algn="l" indent="0" marL="0">
              <a:lnSpc>
                <a:spcPct val="86957"/>
              </a:lnSpc>
              <a:buNone/>
            </a:pPr>
            <a:r>
              <a:rPr lang="en-US" sz="1500" b="1" spc="150" kern="0" dirty="0">
                <a:solidFill>
                  <a:srgbClr val="8A8479"/>
                </a:solidFill>
                <a:latin typeface="Courier New" pitchFamily="34" charset="0"/>
                <a:ea typeface="Courier New" pitchFamily="34" charset="-122"/>
                <a:cs typeface="Courier New" pitchFamily="34" charset="-120"/>
              </a:rPr>
              <a:t>TRIAGE</a:t>
            </a:r>
            <a:endParaRPr lang="en-US" sz="1500" dirty="0"/>
          </a:p>
        </p:txBody>
      </p:sp>
      <p:sp>
        <p:nvSpPr>
          <p:cNvPr id="8" name="Text 6"/>
          <p:cNvSpPr/>
          <p:nvPr/>
        </p:nvSpPr>
        <p:spPr>
          <a:xfrm>
            <a:off x="609600" y="3323779"/>
            <a:ext cx="9123998" cy="219075"/>
          </a:xfrm>
          <a:prstGeom prst="rect">
            <a:avLst/>
          </a:prstGeom>
          <a:noFill/>
          <a:ln/>
        </p:spPr>
        <p:txBody>
          <a:bodyPr wrap="square" lIns="25400" tIns="25400" rIns="25400" bIns="25400" rtlCol="0" anchor="t">
            <a:normAutofit/>
          </a:bodyPr>
          <a:lstStyle/>
          <a:p>
            <a:pPr algn="l" indent="0" marL="0">
              <a:buNone/>
            </a:pPr>
            <a:r>
              <a:rPr lang="en-US" sz="825" b="1" spc="66" kern="0" dirty="0">
                <a:solidFill>
                  <a:srgbClr val="1B1B1B">
                    <a:alpha val="50000"/>
                  </a:srgbClr>
                </a:solidFill>
                <a:latin typeface="Courier New" pitchFamily="34" charset="0"/>
                <a:ea typeface="Courier New" pitchFamily="34" charset="-122"/>
                <a:cs typeface="Courier New" pitchFamily="34" charset="-120"/>
              </a:rPr>
              <a:t>DESKTOP</a:t>
            </a:r>
            <a:endParaRPr lang="en-US" sz="825" dirty="0"/>
          </a:p>
        </p:txBody>
      </p:sp>
      <p:sp>
        <p:nvSpPr>
          <p:cNvPr id="9" name="Shape 7"/>
          <p:cNvSpPr/>
          <p:nvPr/>
        </p:nvSpPr>
        <p:spPr>
          <a:xfrm>
            <a:off x="609600" y="3619054"/>
            <a:ext cx="8858250" cy="3250853"/>
          </a:xfrm>
          <a:prstGeom prst="roundRect">
            <a:avLst>
              <a:gd name="adj" fmla="val 3516"/>
            </a:avLst>
          </a:prstGeom>
          <a:solidFill>
            <a:srgbClr val="FFFFFF"/>
          </a:solidFill>
          <a:ln w="19050">
            <a:solidFill>
              <a:srgbClr val="1B1B1B"/>
            </a:solidFill>
            <a:prstDash val="solid"/>
          </a:ln>
        </p:spPr>
      </p:sp>
      <p:sp>
        <p:nvSpPr>
          <p:cNvPr id="10" name="Text 8"/>
          <p:cNvSpPr/>
          <p:nvPr/>
        </p:nvSpPr>
        <p:spPr>
          <a:xfrm>
            <a:off x="823913" y="3833366"/>
            <a:ext cx="1448693" cy="304800"/>
          </a:xfrm>
          <a:prstGeom prst="rect">
            <a:avLst/>
          </a:prstGeom>
          <a:noFill/>
          <a:ln/>
        </p:spPr>
        <p:txBody>
          <a:bodyPr wrap="square" lIns="25400" tIns="25400" rIns="25400" bIns="25400" rtlCol="0" anchor="t">
            <a:normAutofit/>
          </a:bodyPr>
          <a:lstStyle/>
          <a:p>
            <a:pPr algn="l" indent="0" marL="0">
              <a:buNone/>
            </a:pPr>
            <a:r>
              <a:rPr lang="en-US" sz="1200" dirty="0">
                <a:solidFill>
                  <a:srgbClr val="1B1B1B"/>
                </a:solidFill>
                <a:latin typeface="Arial" pitchFamily="34" charset="0"/>
                <a:ea typeface="Arial" pitchFamily="34" charset="-122"/>
                <a:cs typeface="Arial" pitchFamily="34" charset="-120"/>
              </a:rPr>
              <a:t>bettergoals.ai</a:t>
            </a:r>
            <a:endParaRPr lang="en-US" sz="1200" dirty="0"/>
          </a:p>
        </p:txBody>
      </p:sp>
      <p:sp>
        <p:nvSpPr>
          <p:cNvPr id="11" name="Text 9"/>
          <p:cNvSpPr/>
          <p:nvPr/>
        </p:nvSpPr>
        <p:spPr>
          <a:xfrm>
            <a:off x="7832824" y="3833366"/>
            <a:ext cx="1496913" cy="304800"/>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 switch to typing</a:t>
            </a:r>
            <a:endParaRPr lang="en-US" sz="713" dirty="0"/>
          </a:p>
        </p:txBody>
      </p:sp>
      <p:sp>
        <p:nvSpPr>
          <p:cNvPr id="12" name="Shape 10"/>
          <p:cNvSpPr/>
          <p:nvPr/>
        </p:nvSpPr>
        <p:spPr>
          <a:xfrm>
            <a:off x="823913" y="4242941"/>
            <a:ext cx="8429625" cy="14288"/>
          </a:xfrm>
          <a:prstGeom prst="rect">
            <a:avLst/>
          </a:prstGeom>
          <a:solidFill>
            <a:srgbClr val="E2DED7"/>
          </a:solidFill>
          <a:ln/>
        </p:spPr>
      </p:sp>
      <p:sp>
        <p:nvSpPr>
          <p:cNvPr id="13" name="Text 11"/>
          <p:cNvSpPr/>
          <p:nvPr/>
        </p:nvSpPr>
        <p:spPr>
          <a:xfrm>
            <a:off x="823913" y="4400104"/>
            <a:ext cx="8682514" cy="404068"/>
          </a:xfrm>
          <a:prstGeom prst="rect">
            <a:avLst/>
          </a:prstGeom>
          <a:noFill/>
          <a:ln/>
        </p:spPr>
        <p:txBody>
          <a:bodyPr wrap="square" lIns="25400" tIns="25400" rIns="25400" bIns="25400" rtlCol="0" anchor="t">
            <a:normAutofit/>
          </a:bodyPr>
          <a:lstStyle/>
          <a:p>
            <a:pPr algn="l" indent="0" marL="0">
              <a:lnSpc>
                <a:spcPct val="106750"/>
              </a:lnSpc>
              <a:buNone/>
            </a:pPr>
            <a:r>
              <a:rPr lang="en-US" sz="1575" dirty="0">
                <a:solidFill>
                  <a:srgbClr val="1B1B1B"/>
                </a:solidFill>
                <a:latin typeface="Arial" pitchFamily="34" charset="0"/>
                <a:ea typeface="Arial" pitchFamily="34" charset="-122"/>
                <a:cs typeface="Arial" pitchFamily="34" charset="-120"/>
              </a:rPr>
              <a:t>First — is it just you, or is there a room of you?</a:t>
            </a:r>
            <a:endParaRPr lang="en-US" sz="1575" dirty="0"/>
          </a:p>
        </p:txBody>
      </p:sp>
      <p:sp>
        <p:nvSpPr>
          <p:cNvPr id="14" name="Shape 12"/>
          <p:cNvSpPr/>
          <p:nvPr/>
        </p:nvSpPr>
        <p:spPr>
          <a:xfrm>
            <a:off x="823913" y="4908947"/>
            <a:ext cx="4150519" cy="794147"/>
          </a:xfrm>
          <a:prstGeom prst="roundRect">
            <a:avLst>
              <a:gd name="adj" fmla="val 10795"/>
            </a:avLst>
          </a:prstGeom>
          <a:ln w="12700">
            <a:solidFill>
              <a:srgbClr val="B3AEA6"/>
            </a:solidFill>
            <a:prstDash val="dash"/>
          </a:ln>
        </p:spPr>
      </p:sp>
      <p:sp>
        <p:nvSpPr>
          <p:cNvPr id="15" name="Text 13"/>
          <p:cNvSpPr/>
          <p:nvPr/>
        </p:nvSpPr>
        <p:spPr>
          <a:xfrm>
            <a:off x="985838" y="5070872"/>
            <a:ext cx="3941469" cy="304800"/>
          </a:xfrm>
          <a:prstGeom prst="rect">
            <a:avLst/>
          </a:prstGeom>
          <a:noFill/>
          <a:ln/>
        </p:spPr>
        <p:txBody>
          <a:bodyPr wrap="square" lIns="25400" tIns="25400" rIns="25400" bIns="25400" rtlCol="0" anchor="t">
            <a:normAutofit/>
          </a:bodyPr>
          <a:lstStyle/>
          <a:p>
            <a:pPr algn="l" indent="0" marL="0">
              <a:buNone/>
            </a:pPr>
            <a:r>
              <a:rPr lang="en-US" sz="1200" dirty="0">
                <a:solidFill>
                  <a:srgbClr val="1B1B1B"/>
                </a:solidFill>
                <a:latin typeface="Arial" pitchFamily="34" charset="0"/>
                <a:ea typeface="Arial" pitchFamily="34" charset="-122"/>
                <a:cs typeface="Arial" pitchFamily="34" charset="-120"/>
              </a:rPr>
              <a:t>Just me</a:t>
            </a:r>
            <a:endParaRPr lang="en-US" sz="1200" dirty="0"/>
          </a:p>
        </p:txBody>
      </p:sp>
      <p:sp>
        <p:nvSpPr>
          <p:cNvPr id="16" name="Text 14"/>
          <p:cNvSpPr/>
          <p:nvPr/>
        </p:nvSpPr>
        <p:spPr>
          <a:xfrm>
            <a:off x="985838" y="5337572"/>
            <a:ext cx="3941469"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we'll have a conversation</a:t>
            </a:r>
            <a:endParaRPr lang="en-US" sz="713" dirty="0"/>
          </a:p>
        </p:txBody>
      </p:sp>
      <p:sp>
        <p:nvSpPr>
          <p:cNvPr id="17" name="Shape 15"/>
          <p:cNvSpPr/>
          <p:nvPr/>
        </p:nvSpPr>
        <p:spPr>
          <a:xfrm>
            <a:off x="5103019" y="4908947"/>
            <a:ext cx="4150519" cy="794147"/>
          </a:xfrm>
          <a:prstGeom prst="roundRect">
            <a:avLst>
              <a:gd name="adj" fmla="val 10795"/>
            </a:avLst>
          </a:prstGeom>
          <a:ln w="12700">
            <a:solidFill>
              <a:srgbClr val="B3AEA6"/>
            </a:solidFill>
            <a:prstDash val="dash"/>
          </a:ln>
        </p:spPr>
      </p:sp>
      <p:sp>
        <p:nvSpPr>
          <p:cNvPr id="18" name="Text 16"/>
          <p:cNvSpPr/>
          <p:nvPr/>
        </p:nvSpPr>
        <p:spPr>
          <a:xfrm>
            <a:off x="5264944" y="5070872"/>
            <a:ext cx="3941469" cy="304800"/>
          </a:xfrm>
          <a:prstGeom prst="rect">
            <a:avLst/>
          </a:prstGeom>
          <a:noFill/>
          <a:ln/>
        </p:spPr>
        <p:txBody>
          <a:bodyPr wrap="square" lIns="25400" tIns="25400" rIns="25400" bIns="25400" rtlCol="0" anchor="t">
            <a:normAutofit/>
          </a:bodyPr>
          <a:lstStyle/>
          <a:p>
            <a:pPr algn="l" indent="0" marL="0">
              <a:buNone/>
            </a:pPr>
            <a:r>
              <a:rPr lang="en-US" sz="1200" dirty="0">
                <a:solidFill>
                  <a:srgbClr val="1B1B1B"/>
                </a:solidFill>
                <a:latin typeface="Arial" pitchFamily="34" charset="0"/>
                <a:ea typeface="Arial" pitchFamily="34" charset="-122"/>
                <a:cs typeface="Arial" pitchFamily="34" charset="-120"/>
              </a:rPr>
              <a:t>There's a room of us</a:t>
            </a:r>
            <a:endParaRPr lang="en-US" sz="1200" dirty="0"/>
          </a:p>
        </p:txBody>
      </p:sp>
      <p:sp>
        <p:nvSpPr>
          <p:cNvPr id="19" name="Text 17"/>
          <p:cNvSpPr/>
          <p:nvPr/>
        </p:nvSpPr>
        <p:spPr>
          <a:xfrm>
            <a:off x="5264944" y="5337572"/>
            <a:ext cx="3941469"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I'll go on the big screen</a:t>
            </a:r>
            <a:endParaRPr lang="en-US" sz="713" dirty="0"/>
          </a:p>
        </p:txBody>
      </p:sp>
      <p:sp>
        <p:nvSpPr>
          <p:cNvPr id="20" name="Shape 18"/>
          <p:cNvSpPr/>
          <p:nvPr/>
        </p:nvSpPr>
        <p:spPr>
          <a:xfrm>
            <a:off x="823913" y="5845969"/>
            <a:ext cx="8429625" cy="809625"/>
          </a:xfrm>
          <a:prstGeom prst="roundRect">
            <a:avLst>
              <a:gd name="adj" fmla="val 10588"/>
            </a:avLst>
          </a:prstGeom>
          <a:ln w="12700">
            <a:solidFill>
              <a:srgbClr val="B3AEA6"/>
            </a:solidFill>
            <a:prstDash val="dash"/>
          </a:ln>
        </p:spPr>
      </p:sp>
      <p:sp>
        <p:nvSpPr>
          <p:cNvPr id="21" name="Shape 19"/>
          <p:cNvSpPr/>
          <p:nvPr/>
        </p:nvSpPr>
        <p:spPr>
          <a:xfrm>
            <a:off x="985838" y="6007894"/>
            <a:ext cx="485775" cy="485775"/>
          </a:xfrm>
          <a:prstGeom prst="ellipse">
            <a:avLst/>
          </a:prstGeom>
          <a:ln w="19050">
            <a:solidFill>
              <a:srgbClr val="1B1B1B"/>
            </a:solidFill>
            <a:prstDash val="solid"/>
          </a:ln>
        </p:spPr>
      </p:sp>
      <p:sp>
        <p:nvSpPr>
          <p:cNvPr id="22" name="Text 20"/>
          <p:cNvSpPr/>
          <p:nvPr/>
        </p:nvSpPr>
        <p:spPr>
          <a:xfrm>
            <a:off x="966787" y="6026944"/>
            <a:ext cx="523875" cy="485775"/>
          </a:xfrm>
          <a:prstGeom prst="rect">
            <a:avLst/>
          </a:prstGeom>
          <a:noFill/>
          <a:ln/>
        </p:spPr>
        <p:txBody>
          <a:bodyPr wrap="square" lIns="25400" tIns="25400" rIns="25400" bIns="25400" rtlCol="0" anchor="ctr">
            <a:normAutofit/>
          </a:bodyPr>
          <a:lstStyle/>
          <a:p>
            <a:pPr algn="ctr" indent="0" marL="0">
              <a:buNone/>
            </a:pPr>
            <a:r>
              <a:rPr lang="en-US" sz="713" b="1" dirty="0">
                <a:solidFill>
                  <a:srgbClr val="1B1B1B"/>
                </a:solidFill>
                <a:latin typeface="Courier New" pitchFamily="34" charset="0"/>
                <a:ea typeface="Courier New" pitchFamily="34" charset="-122"/>
                <a:cs typeface="Courier New" pitchFamily="34" charset="-120"/>
              </a:rPr>
              <a:t>◉</a:t>
            </a:r>
            <a:endParaRPr lang="en-US" sz="713" dirty="0"/>
          </a:p>
        </p:txBody>
      </p:sp>
      <p:sp>
        <p:nvSpPr>
          <p:cNvPr id="23" name="Shape 21"/>
          <p:cNvSpPr/>
          <p:nvPr/>
        </p:nvSpPr>
        <p:spPr>
          <a:xfrm>
            <a:off x="1614488" y="6193631"/>
            <a:ext cx="42863" cy="114300"/>
          </a:xfrm>
          <a:prstGeom prst="roundRect">
            <a:avLst>
              <a:gd name="adj" fmla="val 44444"/>
            </a:avLst>
          </a:prstGeom>
          <a:solidFill>
            <a:srgbClr val="1B1B1B"/>
          </a:solidFill>
          <a:ln/>
        </p:spPr>
      </p:sp>
      <p:sp>
        <p:nvSpPr>
          <p:cNvPr id="24" name="Shape 22"/>
          <p:cNvSpPr/>
          <p:nvPr/>
        </p:nvSpPr>
        <p:spPr>
          <a:xfrm>
            <a:off x="1700213" y="6122194"/>
            <a:ext cx="42863" cy="257175"/>
          </a:xfrm>
          <a:prstGeom prst="roundRect">
            <a:avLst>
              <a:gd name="adj" fmla="val 44444"/>
            </a:avLst>
          </a:prstGeom>
          <a:solidFill>
            <a:srgbClr val="1B1B1B"/>
          </a:solidFill>
          <a:ln/>
        </p:spPr>
      </p:sp>
      <p:sp>
        <p:nvSpPr>
          <p:cNvPr id="25" name="Shape 23"/>
          <p:cNvSpPr/>
          <p:nvPr/>
        </p:nvSpPr>
        <p:spPr>
          <a:xfrm>
            <a:off x="1785938" y="6079331"/>
            <a:ext cx="42863" cy="342900"/>
          </a:xfrm>
          <a:prstGeom prst="roundRect">
            <a:avLst>
              <a:gd name="adj" fmla="val 44444"/>
            </a:avLst>
          </a:prstGeom>
          <a:solidFill>
            <a:srgbClr val="1B1B1B"/>
          </a:solidFill>
          <a:ln/>
        </p:spPr>
      </p:sp>
      <p:sp>
        <p:nvSpPr>
          <p:cNvPr id="26" name="Shape 24"/>
          <p:cNvSpPr/>
          <p:nvPr/>
        </p:nvSpPr>
        <p:spPr>
          <a:xfrm>
            <a:off x="1871663" y="6165056"/>
            <a:ext cx="42863" cy="171450"/>
          </a:xfrm>
          <a:prstGeom prst="roundRect">
            <a:avLst>
              <a:gd name="adj" fmla="val 44444"/>
            </a:avLst>
          </a:prstGeom>
          <a:solidFill>
            <a:srgbClr val="1B1B1B"/>
          </a:solidFill>
          <a:ln/>
        </p:spPr>
      </p:sp>
      <p:sp>
        <p:nvSpPr>
          <p:cNvPr id="27" name="Shape 25"/>
          <p:cNvSpPr/>
          <p:nvPr/>
        </p:nvSpPr>
        <p:spPr>
          <a:xfrm>
            <a:off x="1957388" y="6107906"/>
            <a:ext cx="42863" cy="285750"/>
          </a:xfrm>
          <a:prstGeom prst="roundRect">
            <a:avLst>
              <a:gd name="adj" fmla="val 44444"/>
            </a:avLst>
          </a:prstGeom>
          <a:solidFill>
            <a:srgbClr val="1B1B1B"/>
          </a:solidFill>
          <a:ln/>
        </p:spPr>
      </p:sp>
      <p:sp>
        <p:nvSpPr>
          <p:cNvPr id="28" name="Shape 26"/>
          <p:cNvSpPr/>
          <p:nvPr/>
        </p:nvSpPr>
        <p:spPr>
          <a:xfrm>
            <a:off x="2043113" y="6186488"/>
            <a:ext cx="42863" cy="128588"/>
          </a:xfrm>
          <a:prstGeom prst="roundRect">
            <a:avLst>
              <a:gd name="adj" fmla="val 44444"/>
            </a:avLst>
          </a:prstGeom>
          <a:solidFill>
            <a:srgbClr val="1B1B1B"/>
          </a:solidFill>
          <a:ln/>
        </p:spPr>
      </p:sp>
      <p:sp>
        <p:nvSpPr>
          <p:cNvPr id="29" name="Text 27"/>
          <p:cNvSpPr/>
          <p:nvPr/>
        </p:nvSpPr>
        <p:spPr>
          <a:xfrm>
            <a:off x="2228850" y="6148983"/>
            <a:ext cx="1120973"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or just say it</a:t>
            </a:r>
            <a:endParaRPr lang="en-US" sz="713" dirty="0"/>
          </a:p>
        </p:txBody>
      </p:sp>
      <p:sp>
        <p:nvSpPr>
          <p:cNvPr id="30" name="Text 28"/>
          <p:cNvSpPr/>
          <p:nvPr/>
        </p:nvSpPr>
        <p:spPr>
          <a:xfrm>
            <a:off x="9725025" y="3323779"/>
            <a:ext cx="4355973" cy="219075"/>
          </a:xfrm>
          <a:prstGeom prst="rect">
            <a:avLst/>
          </a:prstGeom>
          <a:noFill/>
          <a:ln/>
        </p:spPr>
        <p:txBody>
          <a:bodyPr wrap="square" lIns="25400" tIns="25400" rIns="25400" bIns="25400" rtlCol="0" anchor="t">
            <a:normAutofit/>
          </a:bodyPr>
          <a:lstStyle/>
          <a:p>
            <a:pPr algn="l" indent="0" marL="0">
              <a:buNone/>
            </a:pPr>
            <a:r>
              <a:rPr lang="en-US" sz="825" b="1" spc="66" kern="0" dirty="0">
                <a:solidFill>
                  <a:srgbClr val="1B1B1B">
                    <a:alpha val="50000"/>
                  </a:srgbClr>
                </a:solidFill>
                <a:latin typeface="Courier New" pitchFamily="34" charset="0"/>
                <a:ea typeface="Courier New" pitchFamily="34" charset="-122"/>
                <a:cs typeface="Courier New" pitchFamily="34" charset="-120"/>
              </a:rPr>
              <a:t>MOBILE</a:t>
            </a:r>
            <a:endParaRPr lang="en-US" sz="825" dirty="0"/>
          </a:p>
        </p:txBody>
      </p:sp>
      <p:sp>
        <p:nvSpPr>
          <p:cNvPr id="31" name="Shape 29"/>
          <p:cNvSpPr/>
          <p:nvPr/>
        </p:nvSpPr>
        <p:spPr>
          <a:xfrm>
            <a:off x="9725025" y="3619054"/>
            <a:ext cx="4229100" cy="4201418"/>
          </a:xfrm>
          <a:prstGeom prst="roundRect">
            <a:avLst>
              <a:gd name="adj" fmla="val 2721"/>
            </a:avLst>
          </a:prstGeom>
          <a:solidFill>
            <a:srgbClr val="FFFFFF"/>
          </a:solidFill>
          <a:ln w="19050">
            <a:solidFill>
              <a:srgbClr val="1B1B1B"/>
            </a:solidFill>
            <a:prstDash val="solid"/>
          </a:ln>
        </p:spPr>
      </p:sp>
      <p:sp>
        <p:nvSpPr>
          <p:cNvPr id="32" name="Text 30"/>
          <p:cNvSpPr/>
          <p:nvPr/>
        </p:nvSpPr>
        <p:spPr>
          <a:xfrm>
            <a:off x="9939338" y="3833366"/>
            <a:ext cx="3914489"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the conversation so far</a:t>
            </a:r>
            <a:endParaRPr lang="en-US" sz="713" dirty="0"/>
          </a:p>
        </p:txBody>
      </p:sp>
      <p:sp>
        <p:nvSpPr>
          <p:cNvPr id="33" name="Shape 31"/>
          <p:cNvSpPr/>
          <p:nvPr/>
        </p:nvSpPr>
        <p:spPr>
          <a:xfrm>
            <a:off x="9939338" y="4179838"/>
            <a:ext cx="3800475" cy="14288"/>
          </a:xfrm>
          <a:prstGeom prst="rect">
            <a:avLst/>
          </a:prstGeom>
          <a:solidFill>
            <a:srgbClr val="E2DED7"/>
          </a:solidFill>
          <a:ln/>
        </p:spPr>
      </p:sp>
      <p:sp>
        <p:nvSpPr>
          <p:cNvPr id="34" name="Text 32"/>
          <p:cNvSpPr/>
          <p:nvPr/>
        </p:nvSpPr>
        <p:spPr>
          <a:xfrm>
            <a:off x="9939338" y="4337000"/>
            <a:ext cx="3914489" cy="770037"/>
          </a:xfrm>
          <a:prstGeom prst="rect">
            <a:avLst/>
          </a:prstGeom>
          <a:noFill/>
          <a:ln/>
        </p:spPr>
        <p:txBody>
          <a:bodyPr wrap="square" lIns="25400" tIns="25400" rIns="25400" bIns="25400" rtlCol="0" anchor="t">
            <a:normAutofit/>
          </a:bodyPr>
          <a:lstStyle/>
          <a:p>
            <a:pPr algn="l" indent="0" marL="0">
              <a:lnSpc>
                <a:spcPct val="106750"/>
              </a:lnSpc>
              <a:buNone/>
            </a:pPr>
            <a:r>
              <a:rPr lang="en-US" sz="1575" dirty="0">
                <a:solidFill>
                  <a:srgbClr val="1B1B1B"/>
                </a:solidFill>
                <a:latin typeface="Arial" pitchFamily="34" charset="0"/>
                <a:ea typeface="Arial" pitchFamily="34" charset="-122"/>
                <a:cs typeface="Arial" pitchFamily="34" charset="-120"/>
              </a:rPr>
              <a:t>First — is it just you, or a room of you?</a:t>
            </a:r>
            <a:endParaRPr lang="en-US" sz="1575" dirty="0"/>
          </a:p>
        </p:txBody>
      </p:sp>
      <p:sp>
        <p:nvSpPr>
          <p:cNvPr id="35" name="Shape 33"/>
          <p:cNvSpPr/>
          <p:nvPr/>
        </p:nvSpPr>
        <p:spPr>
          <a:xfrm>
            <a:off x="9939338" y="5211812"/>
            <a:ext cx="3800475" cy="590550"/>
          </a:xfrm>
          <a:prstGeom prst="roundRect">
            <a:avLst>
              <a:gd name="adj" fmla="val 14516"/>
            </a:avLst>
          </a:prstGeom>
          <a:ln w="12700">
            <a:solidFill>
              <a:srgbClr val="B3AEA6"/>
            </a:solidFill>
            <a:prstDash val="dash"/>
          </a:ln>
        </p:spPr>
      </p:sp>
      <p:sp>
        <p:nvSpPr>
          <p:cNvPr id="36" name="Text 34"/>
          <p:cNvSpPr/>
          <p:nvPr/>
        </p:nvSpPr>
        <p:spPr>
          <a:xfrm>
            <a:off x="10101263" y="5373737"/>
            <a:ext cx="3580924" cy="304800"/>
          </a:xfrm>
          <a:prstGeom prst="rect">
            <a:avLst/>
          </a:prstGeom>
          <a:noFill/>
          <a:ln/>
        </p:spPr>
        <p:txBody>
          <a:bodyPr wrap="square" lIns="25400" tIns="25400" rIns="25400" bIns="25400" rtlCol="0" anchor="t">
            <a:normAutofit/>
          </a:bodyPr>
          <a:lstStyle/>
          <a:p>
            <a:pPr algn="l" indent="0" marL="0">
              <a:buNone/>
            </a:pPr>
            <a:r>
              <a:rPr lang="en-US" sz="1200" dirty="0">
                <a:solidFill>
                  <a:srgbClr val="1B1B1B"/>
                </a:solidFill>
                <a:latin typeface="Arial" pitchFamily="34" charset="0"/>
                <a:ea typeface="Arial" pitchFamily="34" charset="-122"/>
                <a:cs typeface="Arial" pitchFamily="34" charset="-120"/>
              </a:rPr>
              <a:t>Just me</a:t>
            </a:r>
            <a:endParaRPr lang="en-US" sz="1200" dirty="0"/>
          </a:p>
        </p:txBody>
      </p:sp>
      <p:sp>
        <p:nvSpPr>
          <p:cNvPr id="37" name="Shape 35"/>
          <p:cNvSpPr/>
          <p:nvPr/>
        </p:nvSpPr>
        <p:spPr>
          <a:xfrm>
            <a:off x="9939338" y="5930950"/>
            <a:ext cx="3800475" cy="590550"/>
          </a:xfrm>
          <a:prstGeom prst="roundRect">
            <a:avLst>
              <a:gd name="adj" fmla="val 14516"/>
            </a:avLst>
          </a:prstGeom>
          <a:ln w="12700">
            <a:solidFill>
              <a:srgbClr val="B3AEA6"/>
            </a:solidFill>
            <a:prstDash val="dash"/>
          </a:ln>
        </p:spPr>
      </p:sp>
      <p:sp>
        <p:nvSpPr>
          <p:cNvPr id="38" name="Text 36"/>
          <p:cNvSpPr/>
          <p:nvPr/>
        </p:nvSpPr>
        <p:spPr>
          <a:xfrm>
            <a:off x="10101263" y="6092875"/>
            <a:ext cx="3580924" cy="304800"/>
          </a:xfrm>
          <a:prstGeom prst="rect">
            <a:avLst/>
          </a:prstGeom>
          <a:noFill/>
          <a:ln/>
        </p:spPr>
        <p:txBody>
          <a:bodyPr wrap="square" lIns="25400" tIns="25400" rIns="25400" bIns="25400" rtlCol="0" anchor="t">
            <a:normAutofit/>
          </a:bodyPr>
          <a:lstStyle/>
          <a:p>
            <a:pPr algn="l" indent="0" marL="0">
              <a:buNone/>
            </a:pPr>
            <a:r>
              <a:rPr lang="en-US" sz="1200" dirty="0">
                <a:solidFill>
                  <a:srgbClr val="1B1B1B"/>
                </a:solidFill>
                <a:latin typeface="Arial" pitchFamily="34" charset="0"/>
                <a:ea typeface="Arial" pitchFamily="34" charset="-122"/>
                <a:cs typeface="Arial" pitchFamily="34" charset="-120"/>
              </a:rPr>
              <a:t>There's a room of us</a:t>
            </a:r>
            <a:endParaRPr lang="en-US" sz="1200" dirty="0"/>
          </a:p>
        </p:txBody>
      </p:sp>
      <p:sp>
        <p:nvSpPr>
          <p:cNvPr id="39" name="Shape 37"/>
          <p:cNvSpPr/>
          <p:nvPr/>
        </p:nvSpPr>
        <p:spPr>
          <a:xfrm>
            <a:off x="9939338" y="6664375"/>
            <a:ext cx="3800475" cy="941784"/>
          </a:xfrm>
          <a:prstGeom prst="roundRect">
            <a:avLst>
              <a:gd name="adj" fmla="val 9102"/>
            </a:avLst>
          </a:prstGeom>
          <a:ln w="12700">
            <a:solidFill>
              <a:srgbClr val="B3AEA6"/>
            </a:solidFill>
            <a:prstDash val="dash"/>
          </a:ln>
        </p:spPr>
      </p:sp>
      <p:sp>
        <p:nvSpPr>
          <p:cNvPr id="40" name="Shape 38"/>
          <p:cNvSpPr/>
          <p:nvPr/>
        </p:nvSpPr>
        <p:spPr>
          <a:xfrm>
            <a:off x="11646694" y="6933456"/>
            <a:ext cx="42863" cy="114300"/>
          </a:xfrm>
          <a:prstGeom prst="roundRect">
            <a:avLst>
              <a:gd name="adj" fmla="val 44444"/>
            </a:avLst>
          </a:prstGeom>
          <a:solidFill>
            <a:srgbClr val="1B1B1B"/>
          </a:solidFill>
          <a:ln/>
        </p:spPr>
      </p:sp>
      <p:sp>
        <p:nvSpPr>
          <p:cNvPr id="41" name="Shape 39"/>
          <p:cNvSpPr/>
          <p:nvPr/>
        </p:nvSpPr>
        <p:spPr>
          <a:xfrm>
            <a:off x="11732419" y="6876306"/>
            <a:ext cx="42863" cy="228600"/>
          </a:xfrm>
          <a:prstGeom prst="roundRect">
            <a:avLst>
              <a:gd name="adj" fmla="val 44444"/>
            </a:avLst>
          </a:prstGeom>
          <a:solidFill>
            <a:srgbClr val="1B1B1B"/>
          </a:solidFill>
          <a:ln/>
        </p:spPr>
      </p:sp>
      <p:sp>
        <p:nvSpPr>
          <p:cNvPr id="42" name="Shape 40"/>
          <p:cNvSpPr/>
          <p:nvPr/>
        </p:nvSpPr>
        <p:spPr>
          <a:xfrm>
            <a:off x="11818144" y="6826300"/>
            <a:ext cx="42863" cy="328613"/>
          </a:xfrm>
          <a:prstGeom prst="roundRect">
            <a:avLst>
              <a:gd name="adj" fmla="val 44444"/>
            </a:avLst>
          </a:prstGeom>
          <a:solidFill>
            <a:srgbClr val="1B1B1B"/>
          </a:solidFill>
          <a:ln/>
        </p:spPr>
      </p:sp>
      <p:sp>
        <p:nvSpPr>
          <p:cNvPr id="43" name="Shape 41"/>
          <p:cNvSpPr/>
          <p:nvPr/>
        </p:nvSpPr>
        <p:spPr>
          <a:xfrm>
            <a:off x="11903869" y="6912025"/>
            <a:ext cx="42863" cy="157163"/>
          </a:xfrm>
          <a:prstGeom prst="roundRect">
            <a:avLst>
              <a:gd name="adj" fmla="val 44444"/>
            </a:avLst>
          </a:prstGeom>
          <a:solidFill>
            <a:srgbClr val="1B1B1B"/>
          </a:solidFill>
          <a:ln/>
        </p:spPr>
      </p:sp>
      <p:sp>
        <p:nvSpPr>
          <p:cNvPr id="44" name="Shape 42"/>
          <p:cNvSpPr/>
          <p:nvPr/>
        </p:nvSpPr>
        <p:spPr>
          <a:xfrm>
            <a:off x="11989594" y="6854875"/>
            <a:ext cx="42863" cy="271463"/>
          </a:xfrm>
          <a:prstGeom prst="roundRect">
            <a:avLst>
              <a:gd name="adj" fmla="val 44444"/>
            </a:avLst>
          </a:prstGeom>
          <a:solidFill>
            <a:srgbClr val="1B1B1B"/>
          </a:solidFill>
          <a:ln/>
        </p:spPr>
      </p:sp>
      <p:sp>
        <p:nvSpPr>
          <p:cNvPr id="45" name="Text 43"/>
          <p:cNvSpPr/>
          <p:nvPr/>
        </p:nvSpPr>
        <p:spPr>
          <a:xfrm>
            <a:off x="11018639" y="7240637"/>
            <a:ext cx="1718072"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listening · or tap one</a:t>
            </a:r>
            <a:endParaRPr lang="en-US" sz="713" dirty="0"/>
          </a:p>
        </p:txBody>
      </p:sp>
      <p:sp>
        <p:nvSpPr>
          <p:cNvPr id="46" name="Text 44"/>
          <p:cNvSpPr/>
          <p:nvPr/>
        </p:nvSpPr>
        <p:spPr>
          <a:xfrm>
            <a:off x="14335125" y="4413052"/>
            <a:ext cx="3443573" cy="847725"/>
          </a:xfrm>
          <a:prstGeom prst="rect">
            <a:avLst/>
          </a:prstGeom>
          <a:noFill/>
          <a:ln/>
        </p:spPr>
        <p:txBody>
          <a:bodyPr wrap="square" lIns="25400" tIns="25400" rIns="25400" bIns="25400" rtlCol="0" anchor="t">
            <a:normAutofit/>
          </a:bodyPr>
          <a:lstStyle/>
          <a:p>
            <a:pPr algn="l" indent="0" marL="0">
              <a:lnSpc>
                <a:spcPct val="108974"/>
              </a:lnSpc>
              <a:buNone/>
            </a:pPr>
            <a:r>
              <a:rPr lang="en-US" sz="2550" dirty="0">
                <a:solidFill>
                  <a:srgbClr val="1B1B1B"/>
                </a:solidFill>
                <a:latin typeface="Arial" pitchFamily="34" charset="0"/>
                <a:ea typeface="Arial" pitchFamily="34" charset="-122"/>
                <a:cs typeface="Arial" pitchFamily="34" charset="-120"/>
              </a:rPr>
              <a:t>answered → becomes the first chip</a:t>
            </a:r>
            <a:endParaRPr lang="en-US" sz="2550" dirty="0"/>
          </a:p>
        </p:txBody>
      </p:sp>
      <p:sp>
        <p:nvSpPr>
          <p:cNvPr id="47" name="Text 45"/>
          <p:cNvSpPr/>
          <p:nvPr/>
        </p:nvSpPr>
        <p:spPr>
          <a:xfrm>
            <a:off x="14335125" y="5394127"/>
            <a:ext cx="3443573" cy="1375172"/>
          </a:xfrm>
          <a:prstGeom prst="rect">
            <a:avLst/>
          </a:prstGeom>
          <a:noFill/>
          <a:ln/>
        </p:spPr>
        <p:txBody>
          <a:bodyPr wrap="square" lIns="25400" tIns="25400" rIns="25400" bIns="25400" rtlCol="0" anchor="t">
            <a:normAutofit/>
          </a:bodyPr>
          <a:lstStyle/>
          <a:p>
            <a:pPr algn="l" indent="0" marL="0">
              <a:lnSpc>
                <a:spcPct val="113226"/>
              </a:lnSpc>
              <a:buNone/>
            </a:pPr>
            <a:r>
              <a:rPr lang="en-US" sz="1950" dirty="0">
                <a:solidFill>
                  <a:srgbClr val="1F6BB8"/>
                </a:solidFill>
                <a:latin typeface="Arial" pitchFamily="34" charset="0"/>
                <a:ea typeface="Arial" pitchFamily="34" charset="-122"/>
                <a:cs typeface="Arial" pitchFamily="34" charset="-120"/>
              </a:rPr>
              <a:t>Room answer forks the whole run onto the big-screen spine — same thirteen steps, score suppressed.</a:t>
            </a:r>
            <a:endParaRPr lang="en-US" sz="1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FECE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FECE6"/>
          </a:solidFill>
          <a:ln/>
        </p:spPr>
      </p:sp>
      <p:sp>
        <p:nvSpPr>
          <p:cNvPr id="3" name="Shape 1"/>
          <p:cNvSpPr/>
          <p:nvPr/>
        </p:nvSpPr>
        <p:spPr>
          <a:xfrm>
            <a:off x="609600" y="1104900"/>
            <a:ext cx="17068800" cy="19050"/>
          </a:xfrm>
          <a:prstGeom prst="rect">
            <a:avLst/>
          </a:prstGeom>
          <a:solidFill>
            <a:srgbClr val="1B1B1B"/>
          </a:solidFill>
          <a:ln/>
        </p:spPr>
      </p:sp>
      <p:sp>
        <p:nvSpPr>
          <p:cNvPr id="4" name="Shape 2"/>
          <p:cNvSpPr/>
          <p:nvPr/>
        </p:nvSpPr>
        <p:spPr>
          <a:xfrm>
            <a:off x="609600" y="590550"/>
            <a:ext cx="459135" cy="381000"/>
          </a:xfrm>
          <a:prstGeom prst="roundRect">
            <a:avLst>
              <a:gd name="adj" fmla="val 17500"/>
            </a:avLst>
          </a:prstGeom>
          <a:solidFill>
            <a:srgbClr val="1B1B1B"/>
          </a:solidFill>
          <a:ln/>
        </p:spPr>
      </p:sp>
      <p:sp>
        <p:nvSpPr>
          <p:cNvPr id="5" name="Text 3"/>
          <p:cNvSpPr/>
          <p:nvPr/>
        </p:nvSpPr>
        <p:spPr>
          <a:xfrm>
            <a:off x="723900" y="676275"/>
            <a:ext cx="306735" cy="247650"/>
          </a:xfrm>
          <a:prstGeom prst="rect">
            <a:avLst/>
          </a:prstGeom>
          <a:noFill/>
          <a:ln/>
        </p:spPr>
        <p:txBody>
          <a:bodyPr wrap="square" lIns="25400" tIns="25400" rIns="25400" bIns="25400" rtlCol="0" anchor="t">
            <a:normAutofit/>
          </a:bodyPr>
          <a:lstStyle/>
          <a:p>
            <a:pPr algn="l" indent="0" marL="0">
              <a:lnSpc>
                <a:spcPct val="88000"/>
              </a:lnSpc>
              <a:buNone/>
            </a:pPr>
            <a:r>
              <a:rPr lang="en-US" sz="1650" b="1" dirty="0">
                <a:solidFill>
                  <a:srgbClr val="FFFFFF"/>
                </a:solidFill>
                <a:latin typeface="Courier New" pitchFamily="34" charset="0"/>
                <a:ea typeface="Courier New" pitchFamily="34" charset="-122"/>
                <a:cs typeface="Courier New" pitchFamily="34" charset="-120"/>
              </a:rPr>
              <a:t>03</a:t>
            </a:r>
            <a:endParaRPr lang="en-US" sz="1650" dirty="0"/>
          </a:p>
        </p:txBody>
      </p:sp>
      <p:sp>
        <p:nvSpPr>
          <p:cNvPr id="6" name="Text 4"/>
          <p:cNvSpPr/>
          <p:nvPr/>
        </p:nvSpPr>
        <p:spPr>
          <a:xfrm>
            <a:off x="1221135" y="504825"/>
            <a:ext cx="4600015" cy="457200"/>
          </a:xfrm>
          <a:prstGeom prst="rect">
            <a:avLst/>
          </a:prstGeom>
          <a:noFill/>
          <a:ln/>
        </p:spPr>
        <p:txBody>
          <a:bodyPr wrap="square" lIns="0" tIns="0" rIns="0" bIns="0" rtlCol="0" anchor="t">
            <a:normAutofit/>
          </a:bodyPr>
          <a:lstStyle/>
          <a:p>
            <a:pPr algn="l" indent="0" marL="0">
              <a:lnSpc>
                <a:spcPct val="102222"/>
              </a:lnSpc>
              <a:buNone/>
            </a:pPr>
            <a:r>
              <a:rPr lang="en-US" sz="3000" b="1" dirty="0">
                <a:solidFill>
                  <a:srgbClr val="1B1B1B"/>
                </a:solidFill>
                <a:latin typeface="Helvetica" pitchFamily="34" charset="0"/>
                <a:ea typeface="Helvetica" pitchFamily="34" charset="-122"/>
                <a:cs typeface="Helvetica" pitchFamily="34" charset="-120"/>
              </a:rPr>
              <a:t>What have you brought?</a:t>
            </a:r>
            <a:endParaRPr lang="en-US" sz="3000" dirty="0"/>
          </a:p>
        </p:txBody>
      </p:sp>
      <p:sp>
        <p:nvSpPr>
          <p:cNvPr id="7" name="Text 5"/>
          <p:cNvSpPr/>
          <p:nvPr/>
        </p:nvSpPr>
        <p:spPr>
          <a:xfrm>
            <a:off x="16935599" y="695325"/>
            <a:ext cx="819001" cy="228600"/>
          </a:xfrm>
          <a:prstGeom prst="rect">
            <a:avLst/>
          </a:prstGeom>
          <a:noFill/>
          <a:ln/>
        </p:spPr>
        <p:txBody>
          <a:bodyPr wrap="none" lIns="25400" tIns="25400" rIns="25400" bIns="25400" rtlCol="0" anchor="t">
            <a:normAutofit/>
          </a:bodyPr>
          <a:lstStyle/>
          <a:p>
            <a:pPr algn="l" indent="0" marL="0">
              <a:lnSpc>
                <a:spcPct val="86957"/>
              </a:lnSpc>
              <a:buNone/>
            </a:pPr>
            <a:r>
              <a:rPr lang="en-US" sz="1500" b="1" spc="150" kern="0" dirty="0">
                <a:solidFill>
                  <a:srgbClr val="8A8479"/>
                </a:solidFill>
                <a:latin typeface="Courier New" pitchFamily="34" charset="0"/>
                <a:ea typeface="Courier New" pitchFamily="34" charset="-122"/>
                <a:cs typeface="Courier New" pitchFamily="34" charset="-120"/>
              </a:rPr>
              <a:t>TRIAGE</a:t>
            </a:r>
            <a:endParaRPr lang="en-US" sz="1500" dirty="0"/>
          </a:p>
        </p:txBody>
      </p:sp>
      <p:sp>
        <p:nvSpPr>
          <p:cNvPr id="8" name="Text 6"/>
          <p:cNvSpPr/>
          <p:nvPr/>
        </p:nvSpPr>
        <p:spPr>
          <a:xfrm>
            <a:off x="609600" y="3000970"/>
            <a:ext cx="9123998" cy="219075"/>
          </a:xfrm>
          <a:prstGeom prst="rect">
            <a:avLst/>
          </a:prstGeom>
          <a:noFill/>
          <a:ln/>
        </p:spPr>
        <p:txBody>
          <a:bodyPr wrap="square" lIns="25400" tIns="25400" rIns="25400" bIns="25400" rtlCol="0" anchor="t">
            <a:normAutofit/>
          </a:bodyPr>
          <a:lstStyle/>
          <a:p>
            <a:pPr algn="l" indent="0" marL="0">
              <a:buNone/>
            </a:pPr>
            <a:r>
              <a:rPr lang="en-US" sz="825" b="1" spc="66" kern="0" dirty="0">
                <a:solidFill>
                  <a:srgbClr val="1B1B1B">
                    <a:alpha val="50000"/>
                  </a:srgbClr>
                </a:solidFill>
                <a:latin typeface="Courier New" pitchFamily="34" charset="0"/>
                <a:ea typeface="Courier New" pitchFamily="34" charset="-122"/>
                <a:cs typeface="Courier New" pitchFamily="34" charset="-120"/>
              </a:rPr>
              <a:t>DESKTOP</a:t>
            </a:r>
            <a:endParaRPr lang="en-US" sz="825" dirty="0"/>
          </a:p>
        </p:txBody>
      </p:sp>
      <p:sp>
        <p:nvSpPr>
          <p:cNvPr id="9" name="Shape 7"/>
          <p:cNvSpPr/>
          <p:nvPr/>
        </p:nvSpPr>
        <p:spPr>
          <a:xfrm>
            <a:off x="609600" y="3296245"/>
            <a:ext cx="8858250" cy="3942755"/>
          </a:xfrm>
          <a:prstGeom prst="roundRect">
            <a:avLst>
              <a:gd name="adj" fmla="val 2899"/>
            </a:avLst>
          </a:prstGeom>
          <a:solidFill>
            <a:srgbClr val="FFFFFF"/>
          </a:solidFill>
          <a:ln w="19050">
            <a:solidFill>
              <a:srgbClr val="1B1B1B"/>
            </a:solidFill>
            <a:prstDash val="solid"/>
          </a:ln>
        </p:spPr>
      </p:sp>
      <p:sp>
        <p:nvSpPr>
          <p:cNvPr id="10" name="Text 8"/>
          <p:cNvSpPr/>
          <p:nvPr/>
        </p:nvSpPr>
        <p:spPr>
          <a:xfrm>
            <a:off x="823913" y="3510558"/>
            <a:ext cx="1448693" cy="304800"/>
          </a:xfrm>
          <a:prstGeom prst="rect">
            <a:avLst/>
          </a:prstGeom>
          <a:noFill/>
          <a:ln/>
        </p:spPr>
        <p:txBody>
          <a:bodyPr wrap="square" lIns="25400" tIns="25400" rIns="25400" bIns="25400" rtlCol="0" anchor="t">
            <a:normAutofit/>
          </a:bodyPr>
          <a:lstStyle/>
          <a:p>
            <a:pPr algn="l" indent="0" marL="0">
              <a:buNone/>
            </a:pPr>
            <a:r>
              <a:rPr lang="en-US" sz="1200" dirty="0">
                <a:solidFill>
                  <a:srgbClr val="1B1B1B"/>
                </a:solidFill>
                <a:latin typeface="Arial" pitchFamily="34" charset="0"/>
                <a:ea typeface="Arial" pitchFamily="34" charset="-122"/>
                <a:cs typeface="Arial" pitchFamily="34" charset="-120"/>
              </a:rPr>
              <a:t>bettergoals.ai</a:t>
            </a:r>
            <a:endParaRPr lang="en-US" sz="1200" dirty="0"/>
          </a:p>
        </p:txBody>
      </p:sp>
      <p:sp>
        <p:nvSpPr>
          <p:cNvPr id="11" name="Text 9"/>
          <p:cNvSpPr/>
          <p:nvPr/>
        </p:nvSpPr>
        <p:spPr>
          <a:xfrm>
            <a:off x="7722245" y="3510558"/>
            <a:ext cx="1607493" cy="304800"/>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 switch to speaking</a:t>
            </a:r>
            <a:endParaRPr lang="en-US" sz="713" dirty="0"/>
          </a:p>
        </p:txBody>
      </p:sp>
      <p:sp>
        <p:nvSpPr>
          <p:cNvPr id="12" name="Shape 10"/>
          <p:cNvSpPr/>
          <p:nvPr/>
        </p:nvSpPr>
        <p:spPr>
          <a:xfrm>
            <a:off x="823913" y="3920133"/>
            <a:ext cx="8429625" cy="14288"/>
          </a:xfrm>
          <a:prstGeom prst="rect">
            <a:avLst/>
          </a:prstGeom>
          <a:solidFill>
            <a:srgbClr val="E2DED7"/>
          </a:solidFill>
          <a:ln/>
        </p:spPr>
      </p:sp>
      <p:sp>
        <p:nvSpPr>
          <p:cNvPr id="13" name="Shape 11"/>
          <p:cNvSpPr/>
          <p:nvPr/>
        </p:nvSpPr>
        <p:spPr>
          <a:xfrm>
            <a:off x="823913" y="4077295"/>
            <a:ext cx="2687538" cy="419100"/>
          </a:xfrm>
          <a:prstGeom prst="roundRect">
            <a:avLst>
              <a:gd name="adj" fmla="val 45455"/>
            </a:avLst>
          </a:prstGeom>
          <a:solidFill>
            <a:srgbClr val="FFFFFF"/>
          </a:solidFill>
          <a:ln w="12700">
            <a:solidFill>
              <a:srgbClr val="1B1B1B"/>
            </a:solidFill>
            <a:prstDash val="solid"/>
          </a:ln>
        </p:spPr>
      </p:sp>
      <p:sp>
        <p:nvSpPr>
          <p:cNvPr id="14" name="Text 12"/>
          <p:cNvSpPr/>
          <p:nvPr/>
        </p:nvSpPr>
        <p:spPr>
          <a:xfrm>
            <a:off x="931862" y="4128095"/>
            <a:ext cx="2552264" cy="355600"/>
          </a:xfrm>
          <a:prstGeom prst="rect">
            <a:avLst/>
          </a:prstGeom>
          <a:noFill/>
          <a:ln/>
        </p:spPr>
        <p:txBody>
          <a:bodyPr wrap="square" lIns="25400" tIns="25400" rIns="25400" bIns="25400" rtlCol="0" anchor="t">
            <a:normAutofit/>
          </a:bodyPr>
          <a:lstStyle/>
          <a:p>
            <a:pPr algn="l" indent="0" marL="0">
              <a:buNone/>
            </a:pPr>
            <a:r>
              <a:rPr lang="en-US" sz="1200" dirty="0">
                <a:solidFill>
                  <a:srgbClr val="4A463F"/>
                </a:solidFill>
                <a:latin typeface="Arial" pitchFamily="34" charset="0"/>
                <a:ea typeface="Arial" pitchFamily="34" charset="-122"/>
                <a:cs typeface="Arial" pitchFamily="34" charset="-120"/>
              </a:rPr>
              <a:t>one person, not a room</a:t>
            </a:r>
            <a:endParaRPr lang="en-US" sz="1200" dirty="0"/>
          </a:p>
        </p:txBody>
      </p:sp>
      <p:sp>
        <p:nvSpPr>
          <p:cNvPr id="15" name="Text 13"/>
          <p:cNvSpPr/>
          <p:nvPr/>
        </p:nvSpPr>
        <p:spPr>
          <a:xfrm>
            <a:off x="823913" y="4639270"/>
            <a:ext cx="8682514" cy="307330"/>
          </a:xfrm>
          <a:prstGeom prst="rect">
            <a:avLst/>
          </a:prstGeom>
          <a:noFill/>
          <a:ln/>
        </p:spPr>
        <p:txBody>
          <a:bodyPr wrap="square" lIns="25400" tIns="25400" rIns="25400" bIns="25400" rtlCol="0" anchor="t">
            <a:normAutofit/>
          </a:bodyPr>
          <a:lstStyle/>
          <a:p>
            <a:pPr algn="l" indent="0" marL="0">
              <a:lnSpc>
                <a:spcPct val="117813"/>
              </a:lnSpc>
              <a:buNone/>
            </a:pPr>
            <a:r>
              <a:rPr lang="en-US" sz="1088" dirty="0">
                <a:solidFill>
                  <a:srgbClr val="1B1B1B">
                    <a:alpha val="55000"/>
                  </a:srgbClr>
                </a:solidFill>
                <a:latin typeface="Arial" pitchFamily="34" charset="0"/>
                <a:ea typeface="Arial" pitchFamily="34" charset="-122"/>
                <a:cs typeface="Arial" pitchFamily="34" charset="-120"/>
              </a:rPr>
              <a:t>Just you today — noted.</a:t>
            </a:r>
            <a:endParaRPr lang="en-US" sz="1088" dirty="0"/>
          </a:p>
        </p:txBody>
      </p:sp>
      <p:sp>
        <p:nvSpPr>
          <p:cNvPr id="16" name="Text 14"/>
          <p:cNvSpPr/>
          <p:nvPr/>
        </p:nvSpPr>
        <p:spPr>
          <a:xfrm>
            <a:off x="823913" y="5051375"/>
            <a:ext cx="8682514" cy="404068"/>
          </a:xfrm>
          <a:prstGeom prst="rect">
            <a:avLst/>
          </a:prstGeom>
          <a:noFill/>
          <a:ln/>
        </p:spPr>
        <p:txBody>
          <a:bodyPr wrap="square" lIns="25400" tIns="25400" rIns="25400" bIns="25400" rtlCol="0" anchor="t">
            <a:normAutofit/>
          </a:bodyPr>
          <a:lstStyle/>
          <a:p>
            <a:pPr algn="l" indent="0" marL="0">
              <a:lnSpc>
                <a:spcPct val="106750"/>
              </a:lnSpc>
              <a:buNone/>
            </a:pPr>
            <a:r>
              <a:rPr lang="en-US" sz="1575" dirty="0">
                <a:solidFill>
                  <a:srgbClr val="1B1B1B"/>
                </a:solidFill>
                <a:latin typeface="Arial" pitchFamily="34" charset="0"/>
                <a:ea typeface="Arial" pitchFamily="34" charset="-122"/>
                <a:cs typeface="Arial" pitchFamily="34" charset="-120"/>
              </a:rPr>
              <a:t>And what have you brought with you?</a:t>
            </a:r>
            <a:endParaRPr lang="en-US" sz="1575" dirty="0"/>
          </a:p>
        </p:txBody>
      </p:sp>
      <p:sp>
        <p:nvSpPr>
          <p:cNvPr id="17" name="Shape 15"/>
          <p:cNvSpPr/>
          <p:nvPr/>
        </p:nvSpPr>
        <p:spPr>
          <a:xfrm>
            <a:off x="823913" y="5560219"/>
            <a:ext cx="2724150" cy="794147"/>
          </a:xfrm>
          <a:prstGeom prst="roundRect">
            <a:avLst>
              <a:gd name="adj" fmla="val 10795"/>
            </a:avLst>
          </a:prstGeom>
          <a:ln w="12700">
            <a:solidFill>
              <a:srgbClr val="B3AEA6"/>
            </a:solidFill>
            <a:prstDash val="dash"/>
          </a:ln>
        </p:spPr>
      </p:sp>
      <p:sp>
        <p:nvSpPr>
          <p:cNvPr id="18" name="Text 16"/>
          <p:cNvSpPr/>
          <p:nvPr/>
        </p:nvSpPr>
        <p:spPr>
          <a:xfrm>
            <a:off x="985838" y="5722144"/>
            <a:ext cx="2476500" cy="304800"/>
          </a:xfrm>
          <a:prstGeom prst="rect">
            <a:avLst/>
          </a:prstGeom>
          <a:noFill/>
          <a:ln/>
        </p:spPr>
        <p:txBody>
          <a:bodyPr wrap="square" lIns="25400" tIns="25400" rIns="25400" bIns="25400" rtlCol="0" anchor="t">
            <a:normAutofit/>
          </a:bodyPr>
          <a:lstStyle/>
          <a:p>
            <a:pPr algn="l" indent="0" marL="0">
              <a:buNone/>
            </a:pPr>
            <a:r>
              <a:rPr lang="en-US" sz="1200" dirty="0">
                <a:solidFill>
                  <a:srgbClr val="1B1B1B"/>
                </a:solidFill>
                <a:latin typeface="Arial" pitchFamily="34" charset="0"/>
                <a:ea typeface="Arial" pitchFamily="34" charset="-122"/>
                <a:cs typeface="Arial" pitchFamily="34" charset="-120"/>
              </a:rPr>
              <a:t>Nothing yet</a:t>
            </a:r>
            <a:endParaRPr lang="en-US" sz="1200" dirty="0"/>
          </a:p>
        </p:txBody>
      </p:sp>
      <p:sp>
        <p:nvSpPr>
          <p:cNvPr id="19" name="Text 17"/>
          <p:cNvSpPr/>
          <p:nvPr/>
        </p:nvSpPr>
        <p:spPr>
          <a:xfrm>
            <a:off x="985838" y="5988844"/>
            <a:ext cx="2476500"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a hunch, an itch, a problem</a:t>
            </a:r>
            <a:endParaRPr lang="en-US" sz="713" dirty="0"/>
          </a:p>
        </p:txBody>
      </p:sp>
      <p:sp>
        <p:nvSpPr>
          <p:cNvPr id="20" name="Shape 18"/>
          <p:cNvSpPr/>
          <p:nvPr/>
        </p:nvSpPr>
        <p:spPr>
          <a:xfrm>
            <a:off x="3676650" y="5560219"/>
            <a:ext cx="2724150" cy="794147"/>
          </a:xfrm>
          <a:prstGeom prst="roundRect">
            <a:avLst>
              <a:gd name="adj" fmla="val 10795"/>
            </a:avLst>
          </a:prstGeom>
          <a:ln w="12700">
            <a:solidFill>
              <a:srgbClr val="B3AEA6"/>
            </a:solidFill>
            <a:prstDash val="dash"/>
          </a:ln>
        </p:spPr>
      </p:sp>
      <p:sp>
        <p:nvSpPr>
          <p:cNvPr id="21" name="Text 19"/>
          <p:cNvSpPr/>
          <p:nvPr/>
        </p:nvSpPr>
        <p:spPr>
          <a:xfrm>
            <a:off x="3838575" y="5722144"/>
            <a:ext cx="2476500" cy="304800"/>
          </a:xfrm>
          <a:prstGeom prst="rect">
            <a:avLst/>
          </a:prstGeom>
          <a:noFill/>
          <a:ln/>
        </p:spPr>
        <p:txBody>
          <a:bodyPr wrap="square" lIns="25400" tIns="25400" rIns="25400" bIns="25400" rtlCol="0" anchor="t">
            <a:normAutofit/>
          </a:bodyPr>
          <a:lstStyle/>
          <a:p>
            <a:pPr algn="l" indent="0" marL="0">
              <a:buNone/>
            </a:pPr>
            <a:r>
              <a:rPr lang="en-US" sz="1200" dirty="0">
                <a:solidFill>
                  <a:srgbClr val="1B1B1B"/>
                </a:solidFill>
                <a:latin typeface="Arial" pitchFamily="34" charset="0"/>
                <a:ea typeface="Arial" pitchFamily="34" charset="-122"/>
                <a:cs typeface="Arial" pitchFamily="34" charset="-120"/>
              </a:rPr>
              <a:t>Something from work</a:t>
            </a:r>
            <a:endParaRPr lang="en-US" sz="1200" dirty="0"/>
          </a:p>
        </p:txBody>
      </p:sp>
      <p:sp>
        <p:nvSpPr>
          <p:cNvPr id="22" name="Text 20"/>
          <p:cNvSpPr/>
          <p:nvPr/>
        </p:nvSpPr>
        <p:spPr>
          <a:xfrm>
            <a:off x="3838575" y="5988844"/>
            <a:ext cx="2476500"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an OKR, a target, a mandate</a:t>
            </a:r>
            <a:endParaRPr lang="en-US" sz="713" dirty="0"/>
          </a:p>
        </p:txBody>
      </p:sp>
      <p:sp>
        <p:nvSpPr>
          <p:cNvPr id="23" name="Shape 21"/>
          <p:cNvSpPr/>
          <p:nvPr/>
        </p:nvSpPr>
        <p:spPr>
          <a:xfrm>
            <a:off x="6529388" y="5560219"/>
            <a:ext cx="2724150" cy="794147"/>
          </a:xfrm>
          <a:prstGeom prst="roundRect">
            <a:avLst>
              <a:gd name="adj" fmla="val 10795"/>
            </a:avLst>
          </a:prstGeom>
          <a:ln w="12700">
            <a:solidFill>
              <a:srgbClr val="B3AEA6"/>
            </a:solidFill>
            <a:prstDash val="dash"/>
          </a:ln>
        </p:spPr>
      </p:sp>
      <p:sp>
        <p:nvSpPr>
          <p:cNvPr id="24" name="Text 22"/>
          <p:cNvSpPr/>
          <p:nvPr/>
        </p:nvSpPr>
        <p:spPr>
          <a:xfrm>
            <a:off x="6691313" y="5722144"/>
            <a:ext cx="2476500" cy="304800"/>
          </a:xfrm>
          <a:prstGeom prst="rect">
            <a:avLst/>
          </a:prstGeom>
          <a:noFill/>
          <a:ln/>
        </p:spPr>
        <p:txBody>
          <a:bodyPr wrap="square" lIns="25400" tIns="25400" rIns="25400" bIns="25400" rtlCol="0" anchor="t">
            <a:normAutofit/>
          </a:bodyPr>
          <a:lstStyle/>
          <a:p>
            <a:pPr algn="l" indent="0" marL="0">
              <a:buNone/>
            </a:pPr>
            <a:r>
              <a:rPr lang="en-US" sz="1200" dirty="0">
                <a:solidFill>
                  <a:srgbClr val="1B1B1B"/>
                </a:solidFill>
                <a:latin typeface="Arial" pitchFamily="34" charset="0"/>
                <a:ea typeface="Arial" pitchFamily="34" charset="-122"/>
                <a:cs typeface="Arial" pitchFamily="34" charset="-120"/>
              </a:rPr>
              <a:t>A draft I wrote</a:t>
            </a:r>
            <a:endParaRPr lang="en-US" sz="1200" dirty="0"/>
          </a:p>
        </p:txBody>
      </p:sp>
      <p:sp>
        <p:nvSpPr>
          <p:cNvPr id="25" name="Text 23"/>
          <p:cNvSpPr/>
          <p:nvPr/>
        </p:nvSpPr>
        <p:spPr>
          <a:xfrm>
            <a:off x="6691313" y="5988844"/>
            <a:ext cx="2476500"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I've had a go myself</a:t>
            </a:r>
            <a:endParaRPr lang="en-US" sz="713" dirty="0"/>
          </a:p>
        </p:txBody>
      </p:sp>
      <p:sp>
        <p:nvSpPr>
          <p:cNvPr id="26" name="Shape 24"/>
          <p:cNvSpPr/>
          <p:nvPr/>
        </p:nvSpPr>
        <p:spPr>
          <a:xfrm>
            <a:off x="823913" y="6497241"/>
            <a:ext cx="8429625" cy="527447"/>
          </a:xfrm>
          <a:prstGeom prst="roundRect">
            <a:avLst>
              <a:gd name="adj" fmla="val 16253"/>
            </a:avLst>
          </a:prstGeom>
          <a:ln w="12700">
            <a:solidFill>
              <a:srgbClr val="B3AEA6"/>
            </a:solidFill>
            <a:prstDash val="dash"/>
          </a:ln>
        </p:spPr>
      </p:sp>
      <p:sp>
        <p:nvSpPr>
          <p:cNvPr id="27" name="Text 25"/>
          <p:cNvSpPr/>
          <p:nvPr/>
        </p:nvSpPr>
        <p:spPr>
          <a:xfrm>
            <a:off x="985838" y="6659166"/>
            <a:ext cx="2240459"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…or tell me in your own words</a:t>
            </a:r>
            <a:endParaRPr lang="en-US" sz="713" dirty="0"/>
          </a:p>
        </p:txBody>
      </p:sp>
      <p:sp>
        <p:nvSpPr>
          <p:cNvPr id="28" name="Text 26"/>
          <p:cNvSpPr/>
          <p:nvPr/>
        </p:nvSpPr>
        <p:spPr>
          <a:xfrm>
            <a:off x="8641705" y="6659166"/>
            <a:ext cx="526107"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 send</a:t>
            </a:r>
            <a:endParaRPr lang="en-US" sz="713" dirty="0"/>
          </a:p>
        </p:txBody>
      </p:sp>
      <p:sp>
        <p:nvSpPr>
          <p:cNvPr id="29" name="Text 27"/>
          <p:cNvSpPr/>
          <p:nvPr/>
        </p:nvSpPr>
        <p:spPr>
          <a:xfrm>
            <a:off x="9725025" y="3000970"/>
            <a:ext cx="4355973" cy="219075"/>
          </a:xfrm>
          <a:prstGeom prst="rect">
            <a:avLst/>
          </a:prstGeom>
          <a:noFill/>
          <a:ln/>
        </p:spPr>
        <p:txBody>
          <a:bodyPr wrap="square" lIns="25400" tIns="25400" rIns="25400" bIns="25400" rtlCol="0" anchor="t">
            <a:normAutofit/>
          </a:bodyPr>
          <a:lstStyle/>
          <a:p>
            <a:pPr algn="l" indent="0" marL="0">
              <a:buNone/>
            </a:pPr>
            <a:r>
              <a:rPr lang="en-US" sz="825" b="1" spc="66" kern="0" dirty="0">
                <a:solidFill>
                  <a:srgbClr val="1B1B1B">
                    <a:alpha val="50000"/>
                  </a:srgbClr>
                </a:solidFill>
                <a:latin typeface="Courier New" pitchFamily="34" charset="0"/>
                <a:ea typeface="Courier New" pitchFamily="34" charset="-122"/>
                <a:cs typeface="Courier New" pitchFamily="34" charset="-120"/>
              </a:rPr>
              <a:t>MOBILE</a:t>
            </a:r>
            <a:endParaRPr lang="en-US" sz="825" dirty="0"/>
          </a:p>
        </p:txBody>
      </p:sp>
      <p:sp>
        <p:nvSpPr>
          <p:cNvPr id="30" name="Shape 28"/>
          <p:cNvSpPr/>
          <p:nvPr/>
        </p:nvSpPr>
        <p:spPr>
          <a:xfrm>
            <a:off x="9725025" y="3296245"/>
            <a:ext cx="4229100" cy="4846886"/>
          </a:xfrm>
          <a:prstGeom prst="roundRect">
            <a:avLst>
              <a:gd name="adj" fmla="val 2703"/>
            </a:avLst>
          </a:prstGeom>
          <a:solidFill>
            <a:srgbClr val="FFFFFF"/>
          </a:solidFill>
          <a:ln w="19050">
            <a:solidFill>
              <a:srgbClr val="1B1B1B"/>
            </a:solidFill>
            <a:prstDash val="solid"/>
          </a:ln>
        </p:spPr>
      </p:sp>
      <p:sp>
        <p:nvSpPr>
          <p:cNvPr id="31" name="Text 29"/>
          <p:cNvSpPr/>
          <p:nvPr/>
        </p:nvSpPr>
        <p:spPr>
          <a:xfrm>
            <a:off x="9939338" y="3510558"/>
            <a:ext cx="524024"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so far</a:t>
            </a:r>
            <a:endParaRPr lang="en-US" sz="713" dirty="0"/>
          </a:p>
        </p:txBody>
      </p:sp>
      <p:sp>
        <p:nvSpPr>
          <p:cNvPr id="32" name="Text 30"/>
          <p:cNvSpPr/>
          <p:nvPr/>
        </p:nvSpPr>
        <p:spPr>
          <a:xfrm>
            <a:off x="13587710" y="3510558"/>
            <a:ext cx="228302"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a:t>
            </a:r>
            <a:endParaRPr lang="en-US" sz="713" dirty="0"/>
          </a:p>
        </p:txBody>
      </p:sp>
      <p:sp>
        <p:nvSpPr>
          <p:cNvPr id="33" name="Shape 31"/>
          <p:cNvSpPr/>
          <p:nvPr/>
        </p:nvSpPr>
        <p:spPr>
          <a:xfrm>
            <a:off x="9939338" y="3857030"/>
            <a:ext cx="2687538" cy="419100"/>
          </a:xfrm>
          <a:prstGeom prst="roundRect">
            <a:avLst>
              <a:gd name="adj" fmla="val 45455"/>
            </a:avLst>
          </a:prstGeom>
          <a:solidFill>
            <a:srgbClr val="FFFFFF"/>
          </a:solidFill>
          <a:ln w="12700">
            <a:solidFill>
              <a:srgbClr val="1B1B1B"/>
            </a:solidFill>
            <a:prstDash val="solid"/>
          </a:ln>
        </p:spPr>
      </p:sp>
      <p:sp>
        <p:nvSpPr>
          <p:cNvPr id="34" name="Text 32"/>
          <p:cNvSpPr/>
          <p:nvPr/>
        </p:nvSpPr>
        <p:spPr>
          <a:xfrm>
            <a:off x="10047287" y="3907830"/>
            <a:ext cx="2552264" cy="355600"/>
          </a:xfrm>
          <a:prstGeom prst="rect">
            <a:avLst/>
          </a:prstGeom>
          <a:noFill/>
          <a:ln/>
        </p:spPr>
        <p:txBody>
          <a:bodyPr wrap="square" lIns="25400" tIns="25400" rIns="25400" bIns="25400" rtlCol="0" anchor="t">
            <a:normAutofit/>
          </a:bodyPr>
          <a:lstStyle/>
          <a:p>
            <a:pPr algn="l" indent="0" marL="0">
              <a:buNone/>
            </a:pPr>
            <a:r>
              <a:rPr lang="en-US" sz="1200" dirty="0">
                <a:solidFill>
                  <a:srgbClr val="4A463F"/>
                </a:solidFill>
                <a:latin typeface="Arial" pitchFamily="34" charset="0"/>
                <a:ea typeface="Arial" pitchFamily="34" charset="-122"/>
                <a:cs typeface="Arial" pitchFamily="34" charset="-120"/>
              </a:rPr>
              <a:t>one person, not a room</a:t>
            </a:r>
            <a:endParaRPr lang="en-US" sz="1200" dirty="0"/>
          </a:p>
        </p:txBody>
      </p:sp>
      <p:sp>
        <p:nvSpPr>
          <p:cNvPr id="35" name="Shape 33"/>
          <p:cNvSpPr/>
          <p:nvPr/>
        </p:nvSpPr>
        <p:spPr>
          <a:xfrm>
            <a:off x="9939338" y="4419005"/>
            <a:ext cx="3800475" cy="14288"/>
          </a:xfrm>
          <a:prstGeom prst="rect">
            <a:avLst/>
          </a:prstGeom>
          <a:solidFill>
            <a:srgbClr val="E2DED7"/>
          </a:solidFill>
          <a:ln/>
        </p:spPr>
      </p:sp>
      <p:sp>
        <p:nvSpPr>
          <p:cNvPr id="36" name="Text 34"/>
          <p:cNvSpPr/>
          <p:nvPr/>
        </p:nvSpPr>
        <p:spPr>
          <a:xfrm>
            <a:off x="9939338" y="4576167"/>
            <a:ext cx="3914489" cy="307330"/>
          </a:xfrm>
          <a:prstGeom prst="rect">
            <a:avLst/>
          </a:prstGeom>
          <a:noFill/>
          <a:ln/>
        </p:spPr>
        <p:txBody>
          <a:bodyPr wrap="square" lIns="25400" tIns="25400" rIns="25400" bIns="25400" rtlCol="0" anchor="t">
            <a:normAutofit/>
          </a:bodyPr>
          <a:lstStyle/>
          <a:p>
            <a:pPr algn="l" indent="0" marL="0">
              <a:lnSpc>
                <a:spcPct val="117813"/>
              </a:lnSpc>
              <a:buNone/>
            </a:pPr>
            <a:r>
              <a:rPr lang="en-US" sz="1088" dirty="0">
                <a:solidFill>
                  <a:srgbClr val="1B1B1B"/>
                </a:solidFill>
                <a:latin typeface="Arial" pitchFamily="34" charset="0"/>
                <a:ea typeface="Arial" pitchFamily="34" charset="-122"/>
                <a:cs typeface="Arial" pitchFamily="34" charset="-120"/>
              </a:rPr>
              <a:t>You said: “just me”. Good.</a:t>
            </a:r>
            <a:endParaRPr lang="en-US" sz="1088" dirty="0"/>
          </a:p>
        </p:txBody>
      </p:sp>
      <p:sp>
        <p:nvSpPr>
          <p:cNvPr id="37" name="Text 35"/>
          <p:cNvSpPr/>
          <p:nvPr/>
        </p:nvSpPr>
        <p:spPr>
          <a:xfrm>
            <a:off x="9939338" y="4988272"/>
            <a:ext cx="3914489" cy="770037"/>
          </a:xfrm>
          <a:prstGeom prst="rect">
            <a:avLst/>
          </a:prstGeom>
          <a:noFill/>
          <a:ln/>
        </p:spPr>
        <p:txBody>
          <a:bodyPr wrap="square" lIns="25400" tIns="25400" rIns="25400" bIns="25400" rtlCol="0" anchor="t">
            <a:normAutofit/>
          </a:bodyPr>
          <a:lstStyle/>
          <a:p>
            <a:pPr algn="l" indent="0" marL="0">
              <a:lnSpc>
                <a:spcPct val="106750"/>
              </a:lnSpc>
              <a:buNone/>
            </a:pPr>
            <a:r>
              <a:rPr lang="en-US" sz="1575" dirty="0">
                <a:solidFill>
                  <a:srgbClr val="1B1B1B"/>
                </a:solidFill>
                <a:latin typeface="Arial" pitchFamily="34" charset="0"/>
                <a:ea typeface="Arial" pitchFamily="34" charset="-122"/>
                <a:cs typeface="Arial" pitchFamily="34" charset="-120"/>
              </a:rPr>
              <a:t>And what have you brought with you today?</a:t>
            </a:r>
            <a:endParaRPr lang="en-US" sz="1575" dirty="0"/>
          </a:p>
        </p:txBody>
      </p:sp>
      <p:sp>
        <p:nvSpPr>
          <p:cNvPr id="38" name="Shape 36"/>
          <p:cNvSpPr/>
          <p:nvPr/>
        </p:nvSpPr>
        <p:spPr>
          <a:xfrm>
            <a:off x="9939338" y="5863084"/>
            <a:ext cx="3800475" cy="956072"/>
          </a:xfrm>
          <a:prstGeom prst="roundRect">
            <a:avLst>
              <a:gd name="adj" fmla="val 8966"/>
            </a:avLst>
          </a:prstGeom>
          <a:ln w="12700">
            <a:solidFill>
              <a:srgbClr val="B3AEA6"/>
            </a:solidFill>
            <a:prstDash val="dash"/>
          </a:ln>
        </p:spPr>
      </p:sp>
      <p:sp>
        <p:nvSpPr>
          <p:cNvPr id="39" name="Shape 37"/>
          <p:cNvSpPr/>
          <p:nvPr/>
        </p:nvSpPr>
        <p:spPr>
          <a:xfrm>
            <a:off x="11560969" y="6132165"/>
            <a:ext cx="42863" cy="114300"/>
          </a:xfrm>
          <a:prstGeom prst="roundRect">
            <a:avLst>
              <a:gd name="adj" fmla="val 44444"/>
            </a:avLst>
          </a:prstGeom>
          <a:solidFill>
            <a:srgbClr val="1B1B1B"/>
          </a:solidFill>
          <a:ln/>
        </p:spPr>
      </p:sp>
      <p:sp>
        <p:nvSpPr>
          <p:cNvPr id="40" name="Shape 38"/>
          <p:cNvSpPr/>
          <p:nvPr/>
        </p:nvSpPr>
        <p:spPr>
          <a:xfrm>
            <a:off x="11646694" y="6060728"/>
            <a:ext cx="42863" cy="257175"/>
          </a:xfrm>
          <a:prstGeom prst="roundRect">
            <a:avLst>
              <a:gd name="adj" fmla="val 44444"/>
            </a:avLst>
          </a:prstGeom>
          <a:solidFill>
            <a:srgbClr val="1B1B1B"/>
          </a:solidFill>
          <a:ln/>
        </p:spPr>
      </p:sp>
      <p:sp>
        <p:nvSpPr>
          <p:cNvPr id="41" name="Shape 39"/>
          <p:cNvSpPr/>
          <p:nvPr/>
        </p:nvSpPr>
        <p:spPr>
          <a:xfrm>
            <a:off x="11732419" y="6003578"/>
            <a:ext cx="42863" cy="371475"/>
          </a:xfrm>
          <a:prstGeom prst="roundRect">
            <a:avLst>
              <a:gd name="adj" fmla="val 44444"/>
            </a:avLst>
          </a:prstGeom>
          <a:solidFill>
            <a:srgbClr val="1B1B1B"/>
          </a:solidFill>
          <a:ln/>
        </p:spPr>
      </p:sp>
      <p:sp>
        <p:nvSpPr>
          <p:cNvPr id="42" name="Shape 40"/>
          <p:cNvSpPr/>
          <p:nvPr/>
        </p:nvSpPr>
        <p:spPr>
          <a:xfrm>
            <a:off x="11818144" y="6089303"/>
            <a:ext cx="42863" cy="200025"/>
          </a:xfrm>
          <a:prstGeom prst="roundRect">
            <a:avLst>
              <a:gd name="adj" fmla="val 44444"/>
            </a:avLst>
          </a:prstGeom>
          <a:solidFill>
            <a:srgbClr val="1B1B1B"/>
          </a:solidFill>
          <a:ln/>
        </p:spPr>
      </p:sp>
      <p:sp>
        <p:nvSpPr>
          <p:cNvPr id="43" name="Shape 41"/>
          <p:cNvSpPr/>
          <p:nvPr/>
        </p:nvSpPr>
        <p:spPr>
          <a:xfrm>
            <a:off x="11903869" y="6032153"/>
            <a:ext cx="42863" cy="314325"/>
          </a:xfrm>
          <a:prstGeom prst="roundRect">
            <a:avLst>
              <a:gd name="adj" fmla="val 44444"/>
            </a:avLst>
          </a:prstGeom>
          <a:solidFill>
            <a:srgbClr val="1B1B1B"/>
          </a:solidFill>
          <a:ln/>
        </p:spPr>
      </p:sp>
      <p:sp>
        <p:nvSpPr>
          <p:cNvPr id="44" name="Shape 42"/>
          <p:cNvSpPr/>
          <p:nvPr/>
        </p:nvSpPr>
        <p:spPr>
          <a:xfrm>
            <a:off x="11989594" y="6125021"/>
            <a:ext cx="42863" cy="128588"/>
          </a:xfrm>
          <a:prstGeom prst="roundRect">
            <a:avLst>
              <a:gd name="adj" fmla="val 44444"/>
            </a:avLst>
          </a:prstGeom>
          <a:solidFill>
            <a:srgbClr val="1B1B1B"/>
          </a:solidFill>
          <a:ln/>
        </p:spPr>
      </p:sp>
      <p:sp>
        <p:nvSpPr>
          <p:cNvPr id="45" name="Shape 43"/>
          <p:cNvSpPr/>
          <p:nvPr/>
        </p:nvSpPr>
        <p:spPr>
          <a:xfrm>
            <a:off x="12075319" y="6075015"/>
            <a:ext cx="42863" cy="228600"/>
          </a:xfrm>
          <a:prstGeom prst="roundRect">
            <a:avLst>
              <a:gd name="adj" fmla="val 44444"/>
            </a:avLst>
          </a:prstGeom>
          <a:solidFill>
            <a:srgbClr val="1B1B1B"/>
          </a:solidFill>
          <a:ln/>
        </p:spPr>
      </p:sp>
      <p:sp>
        <p:nvSpPr>
          <p:cNvPr id="46" name="Text 44"/>
          <p:cNvSpPr/>
          <p:nvPr/>
        </p:nvSpPr>
        <p:spPr>
          <a:xfrm>
            <a:off x="10533608" y="6453634"/>
            <a:ext cx="2690292"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listening — say it however you like</a:t>
            </a:r>
            <a:endParaRPr lang="en-US" sz="713" dirty="0"/>
          </a:p>
        </p:txBody>
      </p:sp>
      <p:sp>
        <p:nvSpPr>
          <p:cNvPr id="47" name="Shape 45"/>
          <p:cNvSpPr/>
          <p:nvPr/>
        </p:nvSpPr>
        <p:spPr>
          <a:xfrm>
            <a:off x="9939338" y="6962031"/>
            <a:ext cx="1442293" cy="419100"/>
          </a:xfrm>
          <a:prstGeom prst="roundRect">
            <a:avLst>
              <a:gd name="adj" fmla="val 45455"/>
            </a:avLst>
          </a:prstGeom>
          <a:solidFill>
            <a:srgbClr val="FAF8F4"/>
          </a:solidFill>
          <a:ln w="12700">
            <a:solidFill>
              <a:srgbClr val="9A968E"/>
            </a:solidFill>
            <a:prstDash val="dash"/>
          </a:ln>
        </p:spPr>
      </p:sp>
      <p:sp>
        <p:nvSpPr>
          <p:cNvPr id="48" name="Text 46"/>
          <p:cNvSpPr/>
          <p:nvPr/>
        </p:nvSpPr>
        <p:spPr>
          <a:xfrm>
            <a:off x="10047287" y="7012831"/>
            <a:ext cx="1302593" cy="355600"/>
          </a:xfrm>
          <a:prstGeom prst="rect">
            <a:avLst/>
          </a:prstGeom>
          <a:noFill/>
          <a:ln/>
        </p:spPr>
        <p:txBody>
          <a:bodyPr wrap="square" lIns="25400" tIns="25400" rIns="25400" bIns="25400" rtlCol="0" anchor="t">
            <a:normAutofit/>
          </a:bodyPr>
          <a:lstStyle/>
          <a:p>
            <a:pPr algn="l" indent="0" marL="0">
              <a:buNone/>
            </a:pPr>
            <a:r>
              <a:rPr lang="en-US" sz="1200" dirty="0">
                <a:solidFill>
                  <a:srgbClr val="4A463F"/>
                </a:solidFill>
                <a:latin typeface="Arial" pitchFamily="34" charset="0"/>
                <a:ea typeface="Arial" pitchFamily="34" charset="-122"/>
                <a:cs typeface="Arial" pitchFamily="34" charset="-120"/>
              </a:rPr>
              <a:t>nothing yet</a:t>
            </a:r>
            <a:endParaRPr lang="en-US" sz="1200" dirty="0"/>
          </a:p>
        </p:txBody>
      </p:sp>
      <p:sp>
        <p:nvSpPr>
          <p:cNvPr id="49" name="Shape 47"/>
          <p:cNvSpPr/>
          <p:nvPr/>
        </p:nvSpPr>
        <p:spPr>
          <a:xfrm>
            <a:off x="11510218" y="6962031"/>
            <a:ext cx="1327249" cy="419100"/>
          </a:xfrm>
          <a:prstGeom prst="roundRect">
            <a:avLst>
              <a:gd name="adj" fmla="val 45455"/>
            </a:avLst>
          </a:prstGeom>
          <a:solidFill>
            <a:srgbClr val="FAF8F4"/>
          </a:solidFill>
          <a:ln w="12700">
            <a:solidFill>
              <a:srgbClr val="9A968E"/>
            </a:solidFill>
            <a:prstDash val="dash"/>
          </a:ln>
        </p:spPr>
      </p:sp>
      <p:sp>
        <p:nvSpPr>
          <p:cNvPr id="50" name="Text 48"/>
          <p:cNvSpPr/>
          <p:nvPr/>
        </p:nvSpPr>
        <p:spPr>
          <a:xfrm>
            <a:off x="11618168" y="7012831"/>
            <a:ext cx="1187549" cy="355600"/>
          </a:xfrm>
          <a:prstGeom prst="rect">
            <a:avLst/>
          </a:prstGeom>
          <a:noFill/>
          <a:ln/>
        </p:spPr>
        <p:txBody>
          <a:bodyPr wrap="square" lIns="25400" tIns="25400" rIns="25400" bIns="25400" rtlCol="0" anchor="t">
            <a:normAutofit/>
          </a:bodyPr>
          <a:lstStyle/>
          <a:p>
            <a:pPr algn="l" indent="0" marL="0">
              <a:buNone/>
            </a:pPr>
            <a:r>
              <a:rPr lang="en-US" sz="1200" dirty="0">
                <a:solidFill>
                  <a:srgbClr val="4A463F"/>
                </a:solidFill>
                <a:latin typeface="Arial" pitchFamily="34" charset="0"/>
                <a:ea typeface="Arial" pitchFamily="34" charset="-122"/>
                <a:cs typeface="Arial" pitchFamily="34" charset="-120"/>
              </a:rPr>
              <a:t>from work</a:t>
            </a:r>
            <a:endParaRPr lang="en-US" sz="1200" dirty="0"/>
          </a:p>
        </p:txBody>
      </p:sp>
      <p:sp>
        <p:nvSpPr>
          <p:cNvPr id="51" name="Shape 49"/>
          <p:cNvSpPr/>
          <p:nvPr/>
        </p:nvSpPr>
        <p:spPr>
          <a:xfrm>
            <a:off x="9939338" y="7509718"/>
            <a:ext cx="1632496" cy="419100"/>
          </a:xfrm>
          <a:prstGeom prst="roundRect">
            <a:avLst>
              <a:gd name="adj" fmla="val 45455"/>
            </a:avLst>
          </a:prstGeom>
          <a:solidFill>
            <a:srgbClr val="FAF8F4"/>
          </a:solidFill>
          <a:ln w="12700">
            <a:solidFill>
              <a:srgbClr val="9A968E"/>
            </a:solidFill>
            <a:prstDash val="dash"/>
          </a:ln>
        </p:spPr>
      </p:sp>
      <p:sp>
        <p:nvSpPr>
          <p:cNvPr id="52" name="Text 50"/>
          <p:cNvSpPr/>
          <p:nvPr/>
        </p:nvSpPr>
        <p:spPr>
          <a:xfrm>
            <a:off x="10047287" y="7560518"/>
            <a:ext cx="1492796" cy="355600"/>
          </a:xfrm>
          <a:prstGeom prst="rect">
            <a:avLst/>
          </a:prstGeom>
          <a:noFill/>
          <a:ln/>
        </p:spPr>
        <p:txBody>
          <a:bodyPr wrap="square" lIns="25400" tIns="25400" rIns="25400" bIns="25400" rtlCol="0" anchor="t">
            <a:normAutofit/>
          </a:bodyPr>
          <a:lstStyle/>
          <a:p>
            <a:pPr algn="l" indent="0" marL="0">
              <a:buNone/>
            </a:pPr>
            <a:r>
              <a:rPr lang="en-US" sz="1200" dirty="0">
                <a:solidFill>
                  <a:srgbClr val="4A463F"/>
                </a:solidFill>
                <a:latin typeface="Arial" pitchFamily="34" charset="0"/>
                <a:ea typeface="Arial" pitchFamily="34" charset="-122"/>
                <a:cs typeface="Arial" pitchFamily="34" charset="-120"/>
              </a:rPr>
              <a:t>my own draft</a:t>
            </a:r>
            <a:endParaRPr lang="en-US" sz="1200" dirty="0"/>
          </a:p>
        </p:txBody>
      </p:sp>
      <p:sp>
        <p:nvSpPr>
          <p:cNvPr id="53" name="Text 51"/>
          <p:cNvSpPr/>
          <p:nvPr/>
        </p:nvSpPr>
        <p:spPr>
          <a:xfrm>
            <a:off x="14335125" y="5167313"/>
            <a:ext cx="3443573" cy="847725"/>
          </a:xfrm>
          <a:prstGeom prst="rect">
            <a:avLst/>
          </a:prstGeom>
          <a:noFill/>
          <a:ln/>
        </p:spPr>
        <p:txBody>
          <a:bodyPr wrap="square" lIns="25400" tIns="25400" rIns="25400" bIns="25400" rtlCol="0" anchor="t">
            <a:normAutofit/>
          </a:bodyPr>
          <a:lstStyle/>
          <a:p>
            <a:pPr algn="l" indent="0" marL="0">
              <a:lnSpc>
                <a:spcPct val="108974"/>
              </a:lnSpc>
              <a:buNone/>
            </a:pPr>
            <a:r>
              <a:rPr lang="en-US" sz="2550" dirty="0">
                <a:solidFill>
                  <a:srgbClr val="1B1B1B"/>
                </a:solidFill>
                <a:latin typeface="Arial" pitchFamily="34" charset="0"/>
                <a:ea typeface="Arial" pitchFamily="34" charset="-122"/>
                <a:cs typeface="Arial" pitchFamily="34" charset="-120"/>
              </a:rPr>
              <a:t>two chips now — no counter anywhere</a:t>
            </a:r>
            <a:endParaRPr lang="en-US" sz="2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FECE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FECE6"/>
          </a:solidFill>
          <a:ln/>
        </p:spPr>
      </p:sp>
      <p:sp>
        <p:nvSpPr>
          <p:cNvPr id="3" name="Shape 1"/>
          <p:cNvSpPr/>
          <p:nvPr/>
        </p:nvSpPr>
        <p:spPr>
          <a:xfrm>
            <a:off x="609600" y="1104900"/>
            <a:ext cx="17068800" cy="19050"/>
          </a:xfrm>
          <a:prstGeom prst="rect">
            <a:avLst/>
          </a:prstGeom>
          <a:solidFill>
            <a:srgbClr val="1B1B1B"/>
          </a:solidFill>
          <a:ln/>
        </p:spPr>
      </p:sp>
      <p:sp>
        <p:nvSpPr>
          <p:cNvPr id="4" name="Shape 2"/>
          <p:cNvSpPr/>
          <p:nvPr/>
        </p:nvSpPr>
        <p:spPr>
          <a:xfrm>
            <a:off x="609600" y="590550"/>
            <a:ext cx="459135" cy="381000"/>
          </a:xfrm>
          <a:prstGeom prst="roundRect">
            <a:avLst>
              <a:gd name="adj" fmla="val 17500"/>
            </a:avLst>
          </a:prstGeom>
          <a:solidFill>
            <a:srgbClr val="1B1B1B"/>
          </a:solidFill>
          <a:ln/>
        </p:spPr>
      </p:sp>
      <p:sp>
        <p:nvSpPr>
          <p:cNvPr id="5" name="Text 3"/>
          <p:cNvSpPr/>
          <p:nvPr/>
        </p:nvSpPr>
        <p:spPr>
          <a:xfrm>
            <a:off x="723900" y="676275"/>
            <a:ext cx="306735" cy="247650"/>
          </a:xfrm>
          <a:prstGeom prst="rect">
            <a:avLst/>
          </a:prstGeom>
          <a:noFill/>
          <a:ln/>
        </p:spPr>
        <p:txBody>
          <a:bodyPr wrap="square" lIns="25400" tIns="25400" rIns="25400" bIns="25400" rtlCol="0" anchor="t">
            <a:normAutofit/>
          </a:bodyPr>
          <a:lstStyle/>
          <a:p>
            <a:pPr algn="l" indent="0" marL="0">
              <a:lnSpc>
                <a:spcPct val="88000"/>
              </a:lnSpc>
              <a:buNone/>
            </a:pPr>
            <a:r>
              <a:rPr lang="en-US" sz="1650" b="1" dirty="0">
                <a:solidFill>
                  <a:srgbClr val="FFFFFF"/>
                </a:solidFill>
                <a:latin typeface="Courier New" pitchFamily="34" charset="0"/>
                <a:ea typeface="Courier New" pitchFamily="34" charset="-122"/>
                <a:cs typeface="Courier New" pitchFamily="34" charset="-120"/>
              </a:rPr>
              <a:t>04</a:t>
            </a:r>
            <a:endParaRPr lang="en-US" sz="1650" dirty="0"/>
          </a:p>
        </p:txBody>
      </p:sp>
      <p:sp>
        <p:nvSpPr>
          <p:cNvPr id="6" name="Text 4"/>
          <p:cNvSpPr/>
          <p:nvPr/>
        </p:nvSpPr>
        <p:spPr>
          <a:xfrm>
            <a:off x="1221135" y="504825"/>
            <a:ext cx="4862760" cy="457200"/>
          </a:xfrm>
          <a:prstGeom prst="rect">
            <a:avLst/>
          </a:prstGeom>
          <a:noFill/>
          <a:ln/>
        </p:spPr>
        <p:txBody>
          <a:bodyPr wrap="square" lIns="0" tIns="0" rIns="0" bIns="0" rtlCol="0" anchor="t">
            <a:normAutofit/>
          </a:bodyPr>
          <a:lstStyle/>
          <a:p>
            <a:pPr algn="l" indent="0" marL="0">
              <a:lnSpc>
                <a:spcPct val="102222"/>
              </a:lnSpc>
              <a:buNone/>
            </a:pPr>
            <a:r>
              <a:rPr lang="en-US" sz="3000" b="1" dirty="0">
                <a:solidFill>
                  <a:srgbClr val="1B1B1B"/>
                </a:solidFill>
                <a:latin typeface="Helvetica" pitchFamily="34" charset="0"/>
                <a:ea typeface="Helvetica" pitchFamily="34" charset="-122"/>
                <a:cs typeface="Helvetica" pitchFamily="34" charset="-120"/>
              </a:rPr>
              <a:t>Can you share it with me?</a:t>
            </a:r>
            <a:endParaRPr lang="en-US" sz="3000" dirty="0"/>
          </a:p>
        </p:txBody>
      </p:sp>
      <p:sp>
        <p:nvSpPr>
          <p:cNvPr id="7" name="Text 5"/>
          <p:cNvSpPr/>
          <p:nvPr/>
        </p:nvSpPr>
        <p:spPr>
          <a:xfrm>
            <a:off x="16935599" y="695325"/>
            <a:ext cx="819001" cy="228600"/>
          </a:xfrm>
          <a:prstGeom prst="rect">
            <a:avLst/>
          </a:prstGeom>
          <a:noFill/>
          <a:ln/>
        </p:spPr>
        <p:txBody>
          <a:bodyPr wrap="none" lIns="25400" tIns="25400" rIns="25400" bIns="25400" rtlCol="0" anchor="t">
            <a:normAutofit/>
          </a:bodyPr>
          <a:lstStyle/>
          <a:p>
            <a:pPr algn="l" indent="0" marL="0">
              <a:lnSpc>
                <a:spcPct val="86957"/>
              </a:lnSpc>
              <a:buNone/>
            </a:pPr>
            <a:r>
              <a:rPr lang="en-US" sz="1500" b="1" spc="150" kern="0" dirty="0">
                <a:solidFill>
                  <a:srgbClr val="8A8479"/>
                </a:solidFill>
                <a:latin typeface="Courier New" pitchFamily="34" charset="0"/>
                <a:ea typeface="Courier New" pitchFamily="34" charset="-122"/>
                <a:cs typeface="Courier New" pitchFamily="34" charset="-120"/>
              </a:rPr>
              <a:t>TRIAGE</a:t>
            </a:r>
            <a:endParaRPr lang="en-US" sz="1500" dirty="0"/>
          </a:p>
        </p:txBody>
      </p:sp>
      <p:sp>
        <p:nvSpPr>
          <p:cNvPr id="8" name="Text 6"/>
          <p:cNvSpPr/>
          <p:nvPr/>
        </p:nvSpPr>
        <p:spPr>
          <a:xfrm>
            <a:off x="609600" y="2556570"/>
            <a:ext cx="9123998" cy="219075"/>
          </a:xfrm>
          <a:prstGeom prst="rect">
            <a:avLst/>
          </a:prstGeom>
          <a:noFill/>
          <a:ln/>
        </p:spPr>
        <p:txBody>
          <a:bodyPr wrap="square" lIns="25400" tIns="25400" rIns="25400" bIns="25400" rtlCol="0" anchor="t">
            <a:normAutofit/>
          </a:bodyPr>
          <a:lstStyle/>
          <a:p>
            <a:pPr algn="l" indent="0" marL="0">
              <a:buNone/>
            </a:pPr>
            <a:r>
              <a:rPr lang="en-US" sz="825" b="1" spc="66" kern="0" dirty="0">
                <a:solidFill>
                  <a:srgbClr val="1B1B1B">
                    <a:alpha val="50000"/>
                  </a:srgbClr>
                </a:solidFill>
                <a:latin typeface="Courier New" pitchFamily="34" charset="0"/>
                <a:ea typeface="Courier New" pitchFamily="34" charset="-122"/>
                <a:cs typeface="Courier New" pitchFamily="34" charset="-120"/>
              </a:rPr>
              <a:t>DESKTOP</a:t>
            </a:r>
            <a:endParaRPr lang="en-US" sz="825" dirty="0"/>
          </a:p>
        </p:txBody>
      </p:sp>
      <p:sp>
        <p:nvSpPr>
          <p:cNvPr id="9" name="Shape 7"/>
          <p:cNvSpPr/>
          <p:nvPr/>
        </p:nvSpPr>
        <p:spPr>
          <a:xfrm>
            <a:off x="609600" y="2851845"/>
            <a:ext cx="8858250" cy="3816846"/>
          </a:xfrm>
          <a:prstGeom prst="roundRect">
            <a:avLst>
              <a:gd name="adj" fmla="val 2995"/>
            </a:avLst>
          </a:prstGeom>
          <a:solidFill>
            <a:srgbClr val="FFFFFF"/>
          </a:solidFill>
          <a:ln w="19050">
            <a:solidFill>
              <a:srgbClr val="1B1B1B"/>
            </a:solidFill>
            <a:prstDash val="solid"/>
          </a:ln>
        </p:spPr>
      </p:sp>
      <p:sp>
        <p:nvSpPr>
          <p:cNvPr id="10" name="Shape 8"/>
          <p:cNvSpPr/>
          <p:nvPr/>
        </p:nvSpPr>
        <p:spPr>
          <a:xfrm>
            <a:off x="823913" y="3066157"/>
            <a:ext cx="1467743" cy="419100"/>
          </a:xfrm>
          <a:prstGeom prst="roundRect">
            <a:avLst>
              <a:gd name="adj" fmla="val 45455"/>
            </a:avLst>
          </a:prstGeom>
          <a:solidFill>
            <a:srgbClr val="FFFFFF"/>
          </a:solidFill>
          <a:ln w="12700">
            <a:solidFill>
              <a:srgbClr val="1B1B1B"/>
            </a:solidFill>
            <a:prstDash val="solid"/>
          </a:ln>
        </p:spPr>
      </p:sp>
      <p:sp>
        <p:nvSpPr>
          <p:cNvPr id="11" name="Text 9"/>
          <p:cNvSpPr/>
          <p:nvPr/>
        </p:nvSpPr>
        <p:spPr>
          <a:xfrm>
            <a:off x="931862" y="3116957"/>
            <a:ext cx="1328043" cy="355600"/>
          </a:xfrm>
          <a:prstGeom prst="rect">
            <a:avLst/>
          </a:prstGeom>
          <a:noFill/>
          <a:ln/>
        </p:spPr>
        <p:txBody>
          <a:bodyPr wrap="square" lIns="25400" tIns="25400" rIns="25400" bIns="25400" rtlCol="0" anchor="t">
            <a:normAutofit/>
          </a:bodyPr>
          <a:lstStyle/>
          <a:p>
            <a:pPr algn="l" indent="0" marL="0">
              <a:buNone/>
            </a:pPr>
            <a:r>
              <a:rPr lang="en-US" sz="1200" dirty="0">
                <a:solidFill>
                  <a:srgbClr val="4A463F"/>
                </a:solidFill>
                <a:latin typeface="Arial" pitchFamily="34" charset="0"/>
                <a:ea typeface="Arial" pitchFamily="34" charset="-122"/>
                <a:cs typeface="Arial" pitchFamily="34" charset="-120"/>
              </a:rPr>
              <a:t>one person</a:t>
            </a:r>
            <a:endParaRPr lang="en-US" sz="1200" dirty="0"/>
          </a:p>
        </p:txBody>
      </p:sp>
      <p:sp>
        <p:nvSpPr>
          <p:cNvPr id="12" name="Shape 10"/>
          <p:cNvSpPr/>
          <p:nvPr/>
        </p:nvSpPr>
        <p:spPr>
          <a:xfrm>
            <a:off x="2391668" y="3066157"/>
            <a:ext cx="2839789" cy="419100"/>
          </a:xfrm>
          <a:prstGeom prst="roundRect">
            <a:avLst>
              <a:gd name="adj" fmla="val 45455"/>
            </a:avLst>
          </a:prstGeom>
          <a:solidFill>
            <a:srgbClr val="FFFFFF"/>
          </a:solidFill>
          <a:ln w="12700">
            <a:solidFill>
              <a:srgbClr val="1B1B1B"/>
            </a:solidFill>
            <a:prstDash val="solid"/>
          </a:ln>
        </p:spPr>
      </p:sp>
      <p:sp>
        <p:nvSpPr>
          <p:cNvPr id="13" name="Text 11"/>
          <p:cNvSpPr/>
          <p:nvPr/>
        </p:nvSpPr>
        <p:spPr>
          <a:xfrm>
            <a:off x="2499618" y="3116957"/>
            <a:ext cx="2709083" cy="355600"/>
          </a:xfrm>
          <a:prstGeom prst="rect">
            <a:avLst/>
          </a:prstGeom>
          <a:noFill/>
          <a:ln/>
        </p:spPr>
        <p:txBody>
          <a:bodyPr wrap="square" lIns="25400" tIns="25400" rIns="25400" bIns="25400" rtlCol="0" anchor="t">
            <a:normAutofit/>
          </a:bodyPr>
          <a:lstStyle/>
          <a:p>
            <a:pPr algn="l" indent="0" marL="0">
              <a:buNone/>
            </a:pPr>
            <a:r>
              <a:rPr lang="en-US" sz="1200" dirty="0">
                <a:solidFill>
                  <a:srgbClr val="4A463F"/>
                </a:solidFill>
                <a:latin typeface="Arial" pitchFamily="34" charset="0"/>
                <a:ea typeface="Arial" pitchFamily="34" charset="-122"/>
                <a:cs typeface="Arial" pitchFamily="34" charset="-120"/>
              </a:rPr>
              <a:t>a draft from last planning</a:t>
            </a:r>
            <a:endParaRPr lang="en-US" sz="1200" dirty="0"/>
          </a:p>
        </p:txBody>
      </p:sp>
      <p:sp>
        <p:nvSpPr>
          <p:cNvPr id="14" name="Shape 12"/>
          <p:cNvSpPr/>
          <p:nvPr/>
        </p:nvSpPr>
        <p:spPr>
          <a:xfrm>
            <a:off x="823913" y="3628132"/>
            <a:ext cx="8429625" cy="14288"/>
          </a:xfrm>
          <a:prstGeom prst="rect">
            <a:avLst/>
          </a:prstGeom>
          <a:solidFill>
            <a:srgbClr val="E2DED7"/>
          </a:solidFill>
          <a:ln/>
        </p:spPr>
      </p:sp>
      <p:sp>
        <p:nvSpPr>
          <p:cNvPr id="15" name="Text 13"/>
          <p:cNvSpPr/>
          <p:nvPr/>
        </p:nvSpPr>
        <p:spPr>
          <a:xfrm>
            <a:off x="823913" y="3785295"/>
            <a:ext cx="8682514" cy="404068"/>
          </a:xfrm>
          <a:prstGeom prst="rect">
            <a:avLst/>
          </a:prstGeom>
          <a:noFill/>
          <a:ln/>
        </p:spPr>
        <p:txBody>
          <a:bodyPr wrap="square" lIns="25400" tIns="25400" rIns="25400" bIns="25400" rtlCol="0" anchor="t">
            <a:normAutofit/>
          </a:bodyPr>
          <a:lstStyle/>
          <a:p>
            <a:pPr algn="l" indent="0" marL="0">
              <a:lnSpc>
                <a:spcPct val="106750"/>
              </a:lnSpc>
              <a:buNone/>
            </a:pPr>
            <a:r>
              <a:rPr lang="en-US" sz="1575" dirty="0">
                <a:solidFill>
                  <a:srgbClr val="1B1B1B"/>
                </a:solidFill>
                <a:latin typeface="Arial" pitchFamily="34" charset="0"/>
                <a:ea typeface="Arial" pitchFamily="34" charset="-122"/>
                <a:cs typeface="Arial" pitchFamily="34" charset="-120"/>
              </a:rPr>
              <a:t>Last question. Can you share that draft with me?</a:t>
            </a:r>
            <a:endParaRPr lang="en-US" sz="1575" dirty="0"/>
          </a:p>
        </p:txBody>
      </p:sp>
      <p:sp>
        <p:nvSpPr>
          <p:cNvPr id="16" name="Shape 14"/>
          <p:cNvSpPr/>
          <p:nvPr/>
        </p:nvSpPr>
        <p:spPr>
          <a:xfrm>
            <a:off x="823913" y="4294138"/>
            <a:ext cx="8429625" cy="1131540"/>
          </a:xfrm>
          <a:prstGeom prst="roundRect">
            <a:avLst>
              <a:gd name="adj" fmla="val 7576"/>
            </a:avLst>
          </a:prstGeom>
          <a:solidFill>
            <a:srgbClr val="FAF8F4"/>
          </a:solidFill>
          <a:ln w="12700">
            <a:solidFill>
              <a:srgbClr val="B3AEA6"/>
            </a:solidFill>
            <a:prstDash val="dash"/>
          </a:ln>
        </p:spPr>
      </p:sp>
      <p:sp>
        <p:nvSpPr>
          <p:cNvPr id="17" name="Text 15"/>
          <p:cNvSpPr/>
          <p:nvPr/>
        </p:nvSpPr>
        <p:spPr>
          <a:xfrm>
            <a:off x="985838" y="4456063"/>
            <a:ext cx="8348948" cy="845790"/>
          </a:xfrm>
          <a:prstGeom prst="rect">
            <a:avLst/>
          </a:prstGeom>
          <a:noFill/>
          <a:ln/>
        </p:spPr>
        <p:txBody>
          <a:bodyPr wrap="square" lIns="25400" tIns="25400" rIns="25400" bIns="25400" rtlCol="0" anchor="t">
            <a:normAutofit/>
          </a:bodyPr>
          <a:lstStyle/>
          <a:p>
            <a:pPr algn="l" indent="0" marL="0">
              <a:lnSpc>
                <a:spcPct val="117813"/>
              </a:lnSpc>
              <a:buNone/>
            </a:pPr>
            <a:r>
              <a:rPr lang="en-US" sz="1088" dirty="0">
                <a:solidFill>
                  <a:srgbClr val="1B1B1B"/>
                </a:solidFill>
                <a:latin typeface="Arial" pitchFamily="34" charset="0"/>
                <a:ea typeface="Arial" pitchFamily="34" charset="-122"/>
                <a:cs typeface="Arial" pitchFamily="34" charset="-120"/>
              </a:rPr>
              <a:t>Before you answer — there's no account here, no database, and I keep nothing when you close the tab. Even so, some wording isn't yours to paste anywhere. Your call, and either answer is a good one.</a:t>
            </a:r>
            <a:endParaRPr lang="en-US" sz="1088" dirty="0"/>
          </a:p>
        </p:txBody>
      </p:sp>
      <p:sp>
        <p:nvSpPr>
          <p:cNvPr id="18" name="Shape 16"/>
          <p:cNvSpPr/>
          <p:nvPr/>
        </p:nvSpPr>
        <p:spPr>
          <a:xfrm>
            <a:off x="823913" y="5568553"/>
            <a:ext cx="4150519" cy="885825"/>
          </a:xfrm>
          <a:prstGeom prst="roundRect">
            <a:avLst>
              <a:gd name="adj" fmla="val 9677"/>
            </a:avLst>
          </a:prstGeom>
          <a:solidFill>
            <a:srgbClr val="1B1B1B"/>
          </a:solidFill>
          <a:ln w="19050">
            <a:solidFill>
              <a:srgbClr val="1B1B1B"/>
            </a:solidFill>
            <a:prstDash val="solid"/>
          </a:ln>
        </p:spPr>
      </p:sp>
      <p:sp>
        <p:nvSpPr>
          <p:cNvPr id="19" name="Text 17"/>
          <p:cNvSpPr/>
          <p:nvPr/>
        </p:nvSpPr>
        <p:spPr>
          <a:xfrm>
            <a:off x="1009650" y="5740003"/>
            <a:ext cx="3033515" cy="295275"/>
          </a:xfrm>
          <a:prstGeom prst="rect">
            <a:avLst/>
          </a:prstGeom>
          <a:noFill/>
          <a:ln/>
        </p:spPr>
        <p:txBody>
          <a:bodyPr wrap="square" lIns="0" tIns="0" rIns="0" bIns="0" rtlCol="0" anchor="t">
            <a:normAutofit/>
          </a:bodyPr>
          <a:lstStyle/>
          <a:p>
            <a:pPr algn="l" indent="0" marL="0">
              <a:buNone/>
            </a:pPr>
            <a:r>
              <a:rPr lang="en-US" sz="1200" dirty="0">
                <a:solidFill>
                  <a:srgbClr val="FFFFFF"/>
                </a:solidFill>
                <a:latin typeface="Arial" pitchFamily="34" charset="0"/>
                <a:ea typeface="Arial" pitchFamily="34" charset="-122"/>
                <a:cs typeface="Arial" pitchFamily="34" charset="-120"/>
              </a:rPr>
              <a:t>Yes — let's look at it together</a:t>
            </a:r>
            <a:endParaRPr lang="en-US" sz="1200" dirty="0"/>
          </a:p>
        </p:txBody>
      </p:sp>
      <p:sp>
        <p:nvSpPr>
          <p:cNvPr id="20" name="Text 18"/>
          <p:cNvSpPr/>
          <p:nvPr/>
        </p:nvSpPr>
        <p:spPr>
          <a:xfrm>
            <a:off x="1009650" y="6063853"/>
            <a:ext cx="1961108" cy="257175"/>
          </a:xfrm>
          <a:prstGeom prst="rect">
            <a:avLst/>
          </a:prstGeom>
          <a:noFill/>
          <a:ln/>
        </p:spPr>
        <p:txBody>
          <a:bodyPr wrap="square" lIns="25400" tIns="25400" rIns="25400" bIns="25400" rtlCol="0" anchor="t">
            <a:normAutofit/>
          </a:bodyPr>
          <a:lstStyle/>
          <a:p>
            <a:pPr algn="l" indent="0" marL="0">
              <a:buNone/>
            </a:pPr>
            <a:r>
              <a:rPr lang="en-US" sz="1000" dirty="0">
                <a:solidFill>
                  <a:srgbClr val="FFFFFF">
                    <a:alpha val="75000"/>
                  </a:srgbClr>
                </a:solidFill>
                <a:latin typeface="Arial" pitchFamily="34" charset="0"/>
                <a:ea typeface="Arial" pitchFamily="34" charset="-122"/>
                <a:cs typeface="Arial" pitchFamily="34" charset="-120"/>
              </a:rPr>
              <a:t>we start coaching now</a:t>
            </a:r>
            <a:endParaRPr lang="en-US" sz="1000" dirty="0"/>
          </a:p>
        </p:txBody>
      </p:sp>
      <p:sp>
        <p:nvSpPr>
          <p:cNvPr id="21" name="Shape 19"/>
          <p:cNvSpPr/>
          <p:nvPr/>
        </p:nvSpPr>
        <p:spPr>
          <a:xfrm>
            <a:off x="5103019" y="5568553"/>
            <a:ext cx="4150519" cy="885825"/>
          </a:xfrm>
          <a:prstGeom prst="roundRect">
            <a:avLst>
              <a:gd name="adj" fmla="val 9677"/>
            </a:avLst>
          </a:prstGeom>
          <a:solidFill>
            <a:srgbClr val="FFE4A8"/>
          </a:solidFill>
          <a:ln w="19050">
            <a:solidFill>
              <a:srgbClr val="1B1B1B"/>
            </a:solidFill>
            <a:prstDash val="solid"/>
          </a:ln>
        </p:spPr>
      </p:sp>
      <p:sp>
        <p:nvSpPr>
          <p:cNvPr id="22" name="Text 20"/>
          <p:cNvSpPr/>
          <p:nvPr/>
        </p:nvSpPr>
        <p:spPr>
          <a:xfrm>
            <a:off x="5288756" y="5740003"/>
            <a:ext cx="3075210" cy="295275"/>
          </a:xfrm>
          <a:prstGeom prst="rect">
            <a:avLst/>
          </a:prstGeom>
          <a:noFill/>
          <a:ln/>
        </p:spPr>
        <p:txBody>
          <a:bodyPr wrap="square" lIns="0" tIns="0" rIns="0" bIns="0" rtlCol="0" anchor="t">
            <a:normAutofit/>
          </a:bodyPr>
          <a:lstStyle/>
          <a:p>
            <a:pPr algn="l" indent="0" marL="0">
              <a:buNone/>
            </a:pPr>
            <a:r>
              <a:rPr lang="en-US" sz="1200" dirty="0">
                <a:solidFill>
                  <a:srgbClr val="1B1B1B"/>
                </a:solidFill>
                <a:latin typeface="Arial" pitchFamily="34" charset="0"/>
                <a:ea typeface="Arial" pitchFamily="34" charset="-122"/>
                <a:cs typeface="Arial" pitchFamily="34" charset="-120"/>
              </a:rPr>
              <a:t>No — it stays inside our walls</a:t>
            </a:r>
            <a:endParaRPr lang="en-US" sz="1200" dirty="0"/>
          </a:p>
        </p:txBody>
      </p:sp>
      <p:sp>
        <p:nvSpPr>
          <p:cNvPr id="23" name="Text 21"/>
          <p:cNvSpPr/>
          <p:nvPr/>
        </p:nvSpPr>
        <p:spPr>
          <a:xfrm>
            <a:off x="5288756" y="6063853"/>
            <a:ext cx="2796984" cy="257175"/>
          </a:xfrm>
          <a:prstGeom prst="rect">
            <a:avLst/>
          </a:prstGeom>
          <a:noFill/>
          <a:ln/>
        </p:spPr>
        <p:txBody>
          <a:bodyPr wrap="square" lIns="25400" tIns="25400" rIns="25400" bIns="25400" rtlCol="0" anchor="t">
            <a:normAutofit/>
          </a:bodyPr>
          <a:lstStyle/>
          <a:p>
            <a:pPr algn="l" indent="0" marL="0">
              <a:buNone/>
            </a:pPr>
            <a:r>
              <a:rPr lang="en-US" sz="1000" dirty="0">
                <a:solidFill>
                  <a:srgbClr val="1B1B1B">
                    <a:alpha val="60000"/>
                  </a:srgbClr>
                </a:solidFill>
                <a:latin typeface="Arial" pitchFamily="34" charset="0"/>
                <a:ea typeface="Arial" pitchFamily="34" charset="-122"/>
                <a:cs typeface="Arial" pitchFamily="34" charset="-120"/>
              </a:rPr>
              <a:t>I'll set you up to coach it in there</a:t>
            </a:r>
            <a:endParaRPr lang="en-US" sz="1000" dirty="0"/>
          </a:p>
        </p:txBody>
      </p:sp>
      <p:sp>
        <p:nvSpPr>
          <p:cNvPr id="24" name="Text 22"/>
          <p:cNvSpPr/>
          <p:nvPr/>
        </p:nvSpPr>
        <p:spPr>
          <a:xfrm>
            <a:off x="9725025" y="2556570"/>
            <a:ext cx="4355973" cy="219075"/>
          </a:xfrm>
          <a:prstGeom prst="rect">
            <a:avLst/>
          </a:prstGeom>
          <a:noFill/>
          <a:ln/>
        </p:spPr>
        <p:txBody>
          <a:bodyPr wrap="square" lIns="25400" tIns="25400" rIns="25400" bIns="25400" rtlCol="0" anchor="t">
            <a:normAutofit/>
          </a:bodyPr>
          <a:lstStyle/>
          <a:p>
            <a:pPr algn="l" indent="0" marL="0">
              <a:buNone/>
            </a:pPr>
            <a:r>
              <a:rPr lang="en-US" sz="825" b="1" spc="66" kern="0" dirty="0">
                <a:solidFill>
                  <a:srgbClr val="1B1B1B">
                    <a:alpha val="50000"/>
                  </a:srgbClr>
                </a:solidFill>
                <a:latin typeface="Courier New" pitchFamily="34" charset="0"/>
                <a:ea typeface="Courier New" pitchFamily="34" charset="-122"/>
                <a:cs typeface="Courier New" pitchFamily="34" charset="-120"/>
              </a:rPr>
              <a:t>MOBILE</a:t>
            </a:r>
            <a:endParaRPr lang="en-US" sz="825" dirty="0"/>
          </a:p>
        </p:txBody>
      </p:sp>
      <p:sp>
        <p:nvSpPr>
          <p:cNvPr id="25" name="Shape 23"/>
          <p:cNvSpPr/>
          <p:nvPr/>
        </p:nvSpPr>
        <p:spPr>
          <a:xfrm>
            <a:off x="9725025" y="2851845"/>
            <a:ext cx="4229100" cy="5735687"/>
          </a:xfrm>
          <a:prstGeom prst="roundRect">
            <a:avLst>
              <a:gd name="adj" fmla="val 2703"/>
            </a:avLst>
          </a:prstGeom>
          <a:solidFill>
            <a:srgbClr val="FFFFFF"/>
          </a:solidFill>
          <a:ln w="19050">
            <a:solidFill>
              <a:srgbClr val="1B1B1B"/>
            </a:solidFill>
            <a:prstDash val="solid"/>
          </a:ln>
        </p:spPr>
      </p:sp>
      <p:sp>
        <p:nvSpPr>
          <p:cNvPr id="26" name="Shape 24"/>
          <p:cNvSpPr/>
          <p:nvPr/>
        </p:nvSpPr>
        <p:spPr>
          <a:xfrm>
            <a:off x="9939338" y="3066157"/>
            <a:ext cx="1467743" cy="419100"/>
          </a:xfrm>
          <a:prstGeom prst="roundRect">
            <a:avLst>
              <a:gd name="adj" fmla="val 45455"/>
            </a:avLst>
          </a:prstGeom>
          <a:solidFill>
            <a:srgbClr val="FFFFFF"/>
          </a:solidFill>
          <a:ln w="12700">
            <a:solidFill>
              <a:srgbClr val="1B1B1B"/>
            </a:solidFill>
            <a:prstDash val="solid"/>
          </a:ln>
        </p:spPr>
      </p:sp>
      <p:sp>
        <p:nvSpPr>
          <p:cNvPr id="27" name="Text 25"/>
          <p:cNvSpPr/>
          <p:nvPr/>
        </p:nvSpPr>
        <p:spPr>
          <a:xfrm>
            <a:off x="10047287" y="3116957"/>
            <a:ext cx="1328043" cy="355600"/>
          </a:xfrm>
          <a:prstGeom prst="rect">
            <a:avLst/>
          </a:prstGeom>
          <a:noFill/>
          <a:ln/>
        </p:spPr>
        <p:txBody>
          <a:bodyPr wrap="square" lIns="25400" tIns="25400" rIns="25400" bIns="25400" rtlCol="0" anchor="t">
            <a:normAutofit/>
          </a:bodyPr>
          <a:lstStyle/>
          <a:p>
            <a:pPr algn="l" indent="0" marL="0">
              <a:buNone/>
            </a:pPr>
            <a:r>
              <a:rPr lang="en-US" sz="1200" dirty="0">
                <a:solidFill>
                  <a:srgbClr val="4A463F"/>
                </a:solidFill>
                <a:latin typeface="Arial" pitchFamily="34" charset="0"/>
                <a:ea typeface="Arial" pitchFamily="34" charset="-122"/>
                <a:cs typeface="Arial" pitchFamily="34" charset="-120"/>
              </a:rPr>
              <a:t>one person</a:t>
            </a:r>
            <a:endParaRPr lang="en-US" sz="1200" dirty="0"/>
          </a:p>
        </p:txBody>
      </p:sp>
      <p:sp>
        <p:nvSpPr>
          <p:cNvPr id="28" name="Shape 26"/>
          <p:cNvSpPr/>
          <p:nvPr/>
        </p:nvSpPr>
        <p:spPr>
          <a:xfrm>
            <a:off x="11492805" y="3066157"/>
            <a:ext cx="971996" cy="419100"/>
          </a:xfrm>
          <a:prstGeom prst="roundRect">
            <a:avLst>
              <a:gd name="adj" fmla="val 45455"/>
            </a:avLst>
          </a:prstGeom>
          <a:solidFill>
            <a:srgbClr val="FFFFFF"/>
          </a:solidFill>
          <a:ln w="12700">
            <a:solidFill>
              <a:srgbClr val="1B1B1B"/>
            </a:solidFill>
            <a:prstDash val="solid"/>
          </a:ln>
        </p:spPr>
      </p:sp>
      <p:sp>
        <p:nvSpPr>
          <p:cNvPr id="29" name="Text 27"/>
          <p:cNvSpPr/>
          <p:nvPr/>
        </p:nvSpPr>
        <p:spPr>
          <a:xfrm>
            <a:off x="11600755" y="3116957"/>
            <a:ext cx="832297" cy="355600"/>
          </a:xfrm>
          <a:prstGeom prst="rect">
            <a:avLst/>
          </a:prstGeom>
          <a:noFill/>
          <a:ln/>
        </p:spPr>
        <p:txBody>
          <a:bodyPr wrap="square" lIns="25400" tIns="25400" rIns="25400" bIns="25400" rtlCol="0" anchor="t">
            <a:normAutofit/>
          </a:bodyPr>
          <a:lstStyle/>
          <a:p>
            <a:pPr algn="l" indent="0" marL="0">
              <a:buNone/>
            </a:pPr>
            <a:r>
              <a:rPr lang="en-US" sz="1200" dirty="0">
                <a:solidFill>
                  <a:srgbClr val="4A463F"/>
                </a:solidFill>
                <a:latin typeface="Arial" pitchFamily="34" charset="0"/>
                <a:ea typeface="Arial" pitchFamily="34" charset="-122"/>
                <a:cs typeface="Arial" pitchFamily="34" charset="-120"/>
              </a:rPr>
              <a:t>a draft</a:t>
            </a:r>
            <a:endParaRPr lang="en-US" sz="1200" dirty="0"/>
          </a:p>
        </p:txBody>
      </p:sp>
      <p:sp>
        <p:nvSpPr>
          <p:cNvPr id="30" name="Shape 28"/>
          <p:cNvSpPr/>
          <p:nvPr/>
        </p:nvSpPr>
        <p:spPr>
          <a:xfrm>
            <a:off x="9939338" y="3628132"/>
            <a:ext cx="3800475" cy="14288"/>
          </a:xfrm>
          <a:prstGeom prst="rect">
            <a:avLst/>
          </a:prstGeom>
          <a:solidFill>
            <a:srgbClr val="E2DED7"/>
          </a:solidFill>
          <a:ln/>
        </p:spPr>
      </p:sp>
      <p:sp>
        <p:nvSpPr>
          <p:cNvPr id="31" name="Text 29"/>
          <p:cNvSpPr/>
          <p:nvPr/>
        </p:nvSpPr>
        <p:spPr>
          <a:xfrm>
            <a:off x="9939338" y="3785295"/>
            <a:ext cx="3914489" cy="770037"/>
          </a:xfrm>
          <a:prstGeom prst="rect">
            <a:avLst/>
          </a:prstGeom>
          <a:noFill/>
          <a:ln/>
        </p:spPr>
        <p:txBody>
          <a:bodyPr wrap="square" lIns="25400" tIns="25400" rIns="25400" bIns="25400" rtlCol="0" anchor="t">
            <a:normAutofit/>
          </a:bodyPr>
          <a:lstStyle/>
          <a:p>
            <a:pPr algn="l" indent="0" marL="0">
              <a:lnSpc>
                <a:spcPct val="106750"/>
              </a:lnSpc>
              <a:buNone/>
            </a:pPr>
            <a:r>
              <a:rPr lang="en-US" sz="1575" dirty="0">
                <a:solidFill>
                  <a:srgbClr val="1B1B1B"/>
                </a:solidFill>
                <a:latin typeface="Arial" pitchFamily="34" charset="0"/>
                <a:ea typeface="Arial" pitchFamily="34" charset="-122"/>
                <a:cs typeface="Arial" pitchFamily="34" charset="-120"/>
              </a:rPr>
              <a:t>Last one. Can you share it with me?</a:t>
            </a:r>
            <a:endParaRPr lang="en-US" sz="1575" dirty="0"/>
          </a:p>
        </p:txBody>
      </p:sp>
      <p:sp>
        <p:nvSpPr>
          <p:cNvPr id="32" name="Shape 30"/>
          <p:cNvSpPr/>
          <p:nvPr/>
        </p:nvSpPr>
        <p:spPr>
          <a:xfrm>
            <a:off x="9939338" y="4660106"/>
            <a:ext cx="3800475" cy="1670000"/>
          </a:xfrm>
          <a:prstGeom prst="roundRect">
            <a:avLst>
              <a:gd name="adj" fmla="val 5133"/>
            </a:avLst>
          </a:prstGeom>
          <a:solidFill>
            <a:srgbClr val="FAF8F4"/>
          </a:solidFill>
          <a:ln w="12700">
            <a:solidFill>
              <a:srgbClr val="B3AEA6"/>
            </a:solidFill>
            <a:prstDash val="dash"/>
          </a:ln>
        </p:spPr>
      </p:sp>
      <p:sp>
        <p:nvSpPr>
          <p:cNvPr id="33" name="Text 31"/>
          <p:cNvSpPr/>
          <p:nvPr/>
        </p:nvSpPr>
        <p:spPr>
          <a:xfrm>
            <a:off x="10101263" y="4822031"/>
            <a:ext cx="3580924" cy="1384250"/>
          </a:xfrm>
          <a:prstGeom prst="rect">
            <a:avLst/>
          </a:prstGeom>
          <a:noFill/>
          <a:ln/>
        </p:spPr>
        <p:txBody>
          <a:bodyPr wrap="square" lIns="25400" tIns="25400" rIns="25400" bIns="25400" rtlCol="0" anchor="t">
            <a:normAutofit/>
          </a:bodyPr>
          <a:lstStyle/>
          <a:p>
            <a:pPr algn="l" indent="0" marL="0">
              <a:lnSpc>
                <a:spcPct val="117813"/>
              </a:lnSpc>
              <a:buNone/>
            </a:pPr>
            <a:r>
              <a:rPr lang="en-US" sz="1088" dirty="0">
                <a:solidFill>
                  <a:srgbClr val="1B1B1B"/>
                </a:solidFill>
                <a:latin typeface="Arial" pitchFamily="34" charset="0"/>
                <a:ea typeface="Arial" pitchFamily="34" charset="-122"/>
                <a:cs typeface="Arial" pitchFamily="34" charset="-120"/>
              </a:rPr>
              <a:t>No account, no database, and I keep nothing when you close the tab. Even so — some wording isn't yours to paste. Your call, and either answer is a good one.</a:t>
            </a:r>
            <a:endParaRPr lang="en-US" sz="1088" dirty="0"/>
          </a:p>
        </p:txBody>
      </p:sp>
      <p:sp>
        <p:nvSpPr>
          <p:cNvPr id="34" name="Shape 32"/>
          <p:cNvSpPr/>
          <p:nvPr/>
        </p:nvSpPr>
        <p:spPr>
          <a:xfrm>
            <a:off x="9939338" y="6472982"/>
            <a:ext cx="3800475" cy="885825"/>
          </a:xfrm>
          <a:prstGeom prst="roundRect">
            <a:avLst>
              <a:gd name="adj" fmla="val 9677"/>
            </a:avLst>
          </a:prstGeom>
          <a:solidFill>
            <a:srgbClr val="1B1B1B"/>
          </a:solidFill>
          <a:ln w="19050">
            <a:solidFill>
              <a:srgbClr val="1B1B1B"/>
            </a:solidFill>
            <a:prstDash val="solid"/>
          </a:ln>
        </p:spPr>
      </p:sp>
      <p:sp>
        <p:nvSpPr>
          <p:cNvPr id="35" name="Text 33"/>
          <p:cNvSpPr/>
          <p:nvPr/>
        </p:nvSpPr>
        <p:spPr>
          <a:xfrm>
            <a:off x="10125075" y="6644432"/>
            <a:ext cx="2589461" cy="295275"/>
          </a:xfrm>
          <a:prstGeom prst="rect">
            <a:avLst/>
          </a:prstGeom>
          <a:noFill/>
          <a:ln/>
        </p:spPr>
        <p:txBody>
          <a:bodyPr wrap="square" lIns="0" tIns="0" rIns="0" bIns="0" rtlCol="0" anchor="t">
            <a:normAutofit/>
          </a:bodyPr>
          <a:lstStyle/>
          <a:p>
            <a:pPr algn="l" indent="0" marL="0">
              <a:buNone/>
            </a:pPr>
            <a:r>
              <a:rPr lang="en-US" sz="1200" dirty="0">
                <a:solidFill>
                  <a:srgbClr val="FFFFFF"/>
                </a:solidFill>
                <a:latin typeface="Arial" pitchFamily="34" charset="0"/>
                <a:ea typeface="Arial" pitchFamily="34" charset="-122"/>
                <a:cs typeface="Arial" pitchFamily="34" charset="-120"/>
              </a:rPr>
              <a:t>Yes — let's look together</a:t>
            </a:r>
            <a:endParaRPr lang="en-US" sz="1200" dirty="0"/>
          </a:p>
        </p:txBody>
      </p:sp>
      <p:sp>
        <p:nvSpPr>
          <p:cNvPr id="36" name="Text 34"/>
          <p:cNvSpPr/>
          <p:nvPr/>
        </p:nvSpPr>
        <p:spPr>
          <a:xfrm>
            <a:off x="10125075" y="6968282"/>
            <a:ext cx="1759893" cy="257175"/>
          </a:xfrm>
          <a:prstGeom prst="rect">
            <a:avLst/>
          </a:prstGeom>
          <a:noFill/>
          <a:ln/>
        </p:spPr>
        <p:txBody>
          <a:bodyPr wrap="square" lIns="25400" tIns="25400" rIns="25400" bIns="25400" rtlCol="0" anchor="t">
            <a:normAutofit/>
          </a:bodyPr>
          <a:lstStyle/>
          <a:p>
            <a:pPr algn="l" indent="0" marL="0">
              <a:buNone/>
            </a:pPr>
            <a:r>
              <a:rPr lang="en-US" sz="1000" dirty="0">
                <a:solidFill>
                  <a:srgbClr val="FFFFFF">
                    <a:alpha val="75000"/>
                  </a:srgbClr>
                </a:solidFill>
                <a:latin typeface="Arial" pitchFamily="34" charset="0"/>
                <a:ea typeface="Arial" pitchFamily="34" charset="-122"/>
                <a:cs typeface="Arial" pitchFamily="34" charset="-120"/>
              </a:rPr>
              <a:t>coaching starts now</a:t>
            </a:r>
            <a:endParaRPr lang="en-US" sz="1000" dirty="0"/>
          </a:p>
        </p:txBody>
      </p:sp>
      <p:sp>
        <p:nvSpPr>
          <p:cNvPr id="37" name="Shape 35"/>
          <p:cNvSpPr/>
          <p:nvPr/>
        </p:nvSpPr>
        <p:spPr>
          <a:xfrm>
            <a:off x="9939338" y="7487394"/>
            <a:ext cx="3800475" cy="885825"/>
          </a:xfrm>
          <a:prstGeom prst="roundRect">
            <a:avLst>
              <a:gd name="adj" fmla="val 9677"/>
            </a:avLst>
          </a:prstGeom>
          <a:solidFill>
            <a:srgbClr val="FFE4A8"/>
          </a:solidFill>
          <a:ln w="19050">
            <a:solidFill>
              <a:srgbClr val="1B1B1B"/>
            </a:solidFill>
            <a:prstDash val="solid"/>
          </a:ln>
        </p:spPr>
      </p:sp>
      <p:sp>
        <p:nvSpPr>
          <p:cNvPr id="38" name="Text 36"/>
          <p:cNvSpPr/>
          <p:nvPr/>
        </p:nvSpPr>
        <p:spPr>
          <a:xfrm>
            <a:off x="10125075" y="7658844"/>
            <a:ext cx="2210395" cy="295275"/>
          </a:xfrm>
          <a:prstGeom prst="rect">
            <a:avLst/>
          </a:prstGeom>
          <a:noFill/>
          <a:ln/>
        </p:spPr>
        <p:txBody>
          <a:bodyPr wrap="square" lIns="0" tIns="0" rIns="0" bIns="0" rtlCol="0" anchor="t">
            <a:normAutofit/>
          </a:bodyPr>
          <a:lstStyle/>
          <a:p>
            <a:pPr algn="l" indent="0" marL="0">
              <a:buNone/>
            </a:pPr>
            <a:r>
              <a:rPr lang="en-US" sz="1200" dirty="0">
                <a:solidFill>
                  <a:srgbClr val="1B1B1B"/>
                </a:solidFill>
                <a:latin typeface="Arial" pitchFamily="34" charset="0"/>
                <a:ea typeface="Arial" pitchFamily="34" charset="-122"/>
                <a:cs typeface="Arial" pitchFamily="34" charset="-120"/>
              </a:rPr>
              <a:t>No — it stays with us</a:t>
            </a:r>
            <a:endParaRPr lang="en-US" sz="1200" dirty="0"/>
          </a:p>
        </p:txBody>
      </p:sp>
      <p:sp>
        <p:nvSpPr>
          <p:cNvPr id="39" name="Text 37"/>
          <p:cNvSpPr/>
          <p:nvPr/>
        </p:nvSpPr>
        <p:spPr>
          <a:xfrm>
            <a:off x="10125075" y="7982694"/>
            <a:ext cx="1870472" cy="257175"/>
          </a:xfrm>
          <a:prstGeom prst="rect">
            <a:avLst/>
          </a:prstGeom>
          <a:noFill/>
          <a:ln/>
        </p:spPr>
        <p:txBody>
          <a:bodyPr wrap="square" lIns="25400" tIns="25400" rIns="25400" bIns="25400" rtlCol="0" anchor="t">
            <a:normAutofit/>
          </a:bodyPr>
          <a:lstStyle/>
          <a:p>
            <a:pPr algn="l" indent="0" marL="0">
              <a:buNone/>
            </a:pPr>
            <a:r>
              <a:rPr lang="en-US" sz="1000" dirty="0">
                <a:solidFill>
                  <a:srgbClr val="1B1B1B">
                    <a:alpha val="60000"/>
                  </a:srgbClr>
                </a:solidFill>
                <a:latin typeface="Arial" pitchFamily="34" charset="0"/>
                <a:ea typeface="Arial" pitchFamily="34" charset="-122"/>
                <a:cs typeface="Arial" pitchFamily="34" charset="-120"/>
              </a:rPr>
              <a:t>I'll set you up in there</a:t>
            </a:r>
            <a:endParaRPr lang="en-US" sz="1000" dirty="0"/>
          </a:p>
        </p:txBody>
      </p:sp>
      <p:sp>
        <p:nvSpPr>
          <p:cNvPr id="40" name="Text 38"/>
          <p:cNvSpPr/>
          <p:nvPr/>
        </p:nvSpPr>
        <p:spPr>
          <a:xfrm>
            <a:off x="14335125" y="4245918"/>
            <a:ext cx="3443573" cy="847725"/>
          </a:xfrm>
          <a:prstGeom prst="rect">
            <a:avLst/>
          </a:prstGeom>
          <a:noFill/>
          <a:ln/>
        </p:spPr>
        <p:txBody>
          <a:bodyPr wrap="square" lIns="25400" tIns="25400" rIns="25400" bIns="25400" rtlCol="0" anchor="t">
            <a:normAutofit/>
          </a:bodyPr>
          <a:lstStyle/>
          <a:p>
            <a:pPr algn="l" indent="0" marL="0">
              <a:lnSpc>
                <a:spcPct val="108974"/>
              </a:lnSpc>
              <a:buNone/>
            </a:pPr>
            <a:r>
              <a:rPr lang="en-US" sz="2550" dirty="0">
                <a:solidFill>
                  <a:srgbClr val="1B1B1B"/>
                </a:solidFill>
                <a:latin typeface="Arial" pitchFamily="34" charset="0"/>
                <a:ea typeface="Arial" pitchFamily="34" charset="-122"/>
                <a:cs typeface="Arial" pitchFamily="34" charset="-120"/>
              </a:rPr>
              <a:t>the fork · the one place the data line is said</a:t>
            </a:r>
            <a:endParaRPr lang="en-US" sz="2550" dirty="0"/>
          </a:p>
        </p:txBody>
      </p:sp>
      <p:sp>
        <p:nvSpPr>
          <p:cNvPr id="41" name="Text 39"/>
          <p:cNvSpPr/>
          <p:nvPr/>
        </p:nvSpPr>
        <p:spPr>
          <a:xfrm>
            <a:off x="14335125" y="5226993"/>
            <a:ext cx="3443573" cy="1709440"/>
          </a:xfrm>
          <a:prstGeom prst="rect">
            <a:avLst/>
          </a:prstGeom>
          <a:noFill/>
          <a:ln/>
        </p:spPr>
        <p:txBody>
          <a:bodyPr wrap="square" lIns="25400" tIns="25400" rIns="25400" bIns="25400" rtlCol="0" anchor="t">
            <a:normAutofit/>
          </a:bodyPr>
          <a:lstStyle/>
          <a:p>
            <a:pPr algn="l" indent="0" marL="0">
              <a:lnSpc>
                <a:spcPct val="113226"/>
              </a:lnSpc>
              <a:buNone/>
            </a:pPr>
            <a:r>
              <a:rPr lang="en-US" sz="1950" dirty="0">
                <a:solidFill>
                  <a:srgbClr val="1F6BB8"/>
                </a:solidFill>
                <a:latin typeface="Arial" pitchFamily="34" charset="0"/>
                <a:ea typeface="Arial" pitchFamily="34" charset="-122"/>
                <a:cs typeface="Arial" pitchFamily="34" charset="-120"/>
              </a:rPr>
              <a:t>Both answers leave this screen forward. “Yes” continues down the column into step 05; “no” leaves the spine for the handover you already have.</a:t>
            </a:r>
            <a:endParaRPr lang="en-US" sz="1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FECE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FECE6"/>
          </a:solidFill>
          <a:ln/>
        </p:spPr>
      </p:sp>
      <p:sp>
        <p:nvSpPr>
          <p:cNvPr id="3" name="Shape 1"/>
          <p:cNvSpPr/>
          <p:nvPr/>
        </p:nvSpPr>
        <p:spPr>
          <a:xfrm>
            <a:off x="609600" y="1066800"/>
            <a:ext cx="17068800" cy="19050"/>
          </a:xfrm>
          <a:prstGeom prst="rect">
            <a:avLst/>
          </a:prstGeom>
          <a:solidFill>
            <a:srgbClr val="1B1B1B"/>
          </a:solidFill>
          <a:ln/>
        </p:spPr>
      </p:sp>
      <p:sp>
        <p:nvSpPr>
          <p:cNvPr id="4" name="Text 2"/>
          <p:cNvSpPr/>
          <p:nvPr/>
        </p:nvSpPr>
        <p:spPr>
          <a:xfrm>
            <a:off x="609600" y="495300"/>
            <a:ext cx="9059600" cy="476250"/>
          </a:xfrm>
          <a:prstGeom prst="rect">
            <a:avLst/>
          </a:prstGeom>
          <a:noFill/>
          <a:ln/>
        </p:spPr>
        <p:txBody>
          <a:bodyPr wrap="square" lIns="25400" tIns="25400" rIns="25400" bIns="25400" rtlCol="0" anchor="t">
            <a:normAutofit/>
          </a:bodyPr>
          <a:lstStyle/>
          <a:p>
            <a:pPr algn="l" indent="0" marL="0">
              <a:lnSpc>
                <a:spcPct val="102222"/>
              </a:lnSpc>
              <a:buNone/>
            </a:pPr>
            <a:r>
              <a:rPr lang="en-US" sz="3000" b="1" dirty="0">
                <a:solidFill>
                  <a:srgbClr val="1B1B1B"/>
                </a:solidFill>
                <a:latin typeface="Helvetica" pitchFamily="34" charset="0"/>
                <a:ea typeface="Helvetica" pitchFamily="34" charset="-122"/>
                <a:cs typeface="Helvetica" pitchFamily="34" charset="-120"/>
              </a:rPr>
              <a:t>The off-ramp, and what makes the seam work</a:t>
            </a:r>
            <a:endParaRPr lang="en-US" sz="3000" dirty="0"/>
          </a:p>
        </p:txBody>
      </p:sp>
      <p:sp>
        <p:nvSpPr>
          <p:cNvPr id="5" name="Text 3"/>
          <p:cNvSpPr/>
          <p:nvPr/>
        </p:nvSpPr>
        <p:spPr>
          <a:xfrm>
            <a:off x="16192946" y="695325"/>
            <a:ext cx="1633999" cy="228600"/>
          </a:xfrm>
          <a:prstGeom prst="rect">
            <a:avLst/>
          </a:prstGeom>
          <a:noFill/>
          <a:ln/>
        </p:spPr>
        <p:txBody>
          <a:bodyPr wrap="none" lIns="25400" tIns="25400" rIns="25400" bIns="25400" rtlCol="0" anchor="t">
            <a:normAutofit/>
          </a:bodyPr>
          <a:lstStyle/>
          <a:p>
            <a:pPr algn="l" indent="0" marL="0">
              <a:lnSpc>
                <a:spcPct val="86957"/>
              </a:lnSpc>
              <a:buNone/>
            </a:pPr>
            <a:r>
              <a:rPr lang="en-US" sz="1500" b="1" spc="150" kern="0" dirty="0">
                <a:solidFill>
                  <a:srgbClr val="8A8479"/>
                </a:solidFill>
                <a:latin typeface="Courier New" pitchFamily="34" charset="0"/>
                <a:ea typeface="Courier New" pitchFamily="34" charset="-122"/>
                <a:cs typeface="Courier New" pitchFamily="34" charset="-120"/>
              </a:rPr>
              <a:t>STEP 04 → 05</a:t>
            </a:r>
            <a:endParaRPr lang="en-US" sz="1500" dirty="0"/>
          </a:p>
        </p:txBody>
      </p:sp>
      <p:sp>
        <p:nvSpPr>
          <p:cNvPr id="6" name="Shape 4"/>
          <p:cNvSpPr/>
          <p:nvPr/>
        </p:nvSpPr>
        <p:spPr>
          <a:xfrm>
            <a:off x="609600" y="3097560"/>
            <a:ext cx="6443663" cy="4911030"/>
          </a:xfrm>
          <a:prstGeom prst="roundRect">
            <a:avLst>
              <a:gd name="adj" fmla="val 1940"/>
            </a:avLst>
          </a:prstGeom>
          <a:solidFill>
            <a:srgbClr val="FAF8F4"/>
          </a:solidFill>
          <a:ln w="13939">
            <a:solidFill>
              <a:srgbClr val="9A968E"/>
            </a:solidFill>
            <a:prstDash val="dash"/>
          </a:ln>
        </p:spPr>
      </p:sp>
      <p:sp>
        <p:nvSpPr>
          <p:cNvPr id="7" name="Text 5"/>
          <p:cNvSpPr/>
          <p:nvPr/>
        </p:nvSpPr>
        <p:spPr>
          <a:xfrm>
            <a:off x="911423" y="3399383"/>
            <a:ext cx="6015216" cy="228600"/>
          </a:xfrm>
          <a:prstGeom prst="rect">
            <a:avLst/>
          </a:prstGeom>
          <a:noFill/>
          <a:ln/>
        </p:spPr>
        <p:txBody>
          <a:bodyPr wrap="square" lIns="25400" tIns="25400" rIns="25400" bIns="25400" rtlCol="0" anchor="t">
            <a:normAutofit/>
          </a:bodyPr>
          <a:lstStyle/>
          <a:p>
            <a:pPr algn="l" indent="0" marL="0">
              <a:buNone/>
            </a:pPr>
            <a:r>
              <a:rPr lang="en-US" sz="638" b="1" spc="38" kern="0" dirty="0">
                <a:solidFill>
                  <a:srgbClr val="8A8479"/>
                </a:solidFill>
                <a:latin typeface="Courier New" pitchFamily="34" charset="0"/>
                <a:ea typeface="Courier New" pitchFamily="34" charset="-122"/>
                <a:cs typeface="Courier New" pitchFamily="34" charset="-120"/>
              </a:rPr>
              <a:t>ALREADY DESIGNED · PACK ONE, SCREEN D</a:t>
            </a:r>
            <a:endParaRPr lang="en-US" sz="638" dirty="0"/>
          </a:p>
        </p:txBody>
      </p:sp>
      <p:sp>
        <p:nvSpPr>
          <p:cNvPr id="8" name="Text 6"/>
          <p:cNvSpPr/>
          <p:nvPr/>
        </p:nvSpPr>
        <p:spPr>
          <a:xfrm>
            <a:off x="911423" y="3765500"/>
            <a:ext cx="6015216" cy="773906"/>
          </a:xfrm>
          <a:prstGeom prst="rect">
            <a:avLst/>
          </a:prstGeom>
          <a:noFill/>
          <a:ln/>
        </p:spPr>
        <p:txBody>
          <a:bodyPr wrap="square" lIns="25400" tIns="25400" rIns="25400" bIns="25400" rtlCol="0" anchor="t">
            <a:normAutofit/>
          </a:bodyPr>
          <a:lstStyle/>
          <a:p>
            <a:pPr algn="l" indent="0" marL="0">
              <a:lnSpc>
                <a:spcPct val="117813"/>
              </a:lnSpc>
              <a:buNone/>
            </a:pPr>
            <a:r>
              <a:rPr lang="en-US" sz="1088" dirty="0">
                <a:solidFill>
                  <a:srgbClr val="1B1B1B"/>
                </a:solidFill>
                <a:latin typeface="Arial" pitchFamily="34" charset="0"/>
                <a:ea typeface="Arial" pitchFamily="34" charset="-122"/>
                <a:cs typeface="Arial" pitchFamily="34" charset="-120"/>
              </a:rPr>
              <a:t>Skill download → where to install it → the prompt to carry back.</a:t>
            </a:r>
            <a:endParaRPr lang="en-US" sz="1088" dirty="0"/>
          </a:p>
        </p:txBody>
      </p:sp>
      <p:sp>
        <p:nvSpPr>
          <p:cNvPr id="9" name="Shape 7"/>
          <p:cNvSpPr/>
          <p:nvPr/>
        </p:nvSpPr>
        <p:spPr>
          <a:xfrm>
            <a:off x="911423" y="4676924"/>
            <a:ext cx="2704951" cy="575072"/>
          </a:xfrm>
          <a:prstGeom prst="roundRect">
            <a:avLst>
              <a:gd name="adj" fmla="val 33126"/>
            </a:avLst>
          </a:prstGeom>
          <a:solidFill>
            <a:srgbClr val="FAF8F4"/>
          </a:solidFill>
          <a:ln w="13939">
            <a:solidFill>
              <a:srgbClr val="9A968E"/>
            </a:solidFill>
            <a:prstDash val="dash"/>
          </a:ln>
        </p:spPr>
      </p:sp>
      <p:sp>
        <p:nvSpPr>
          <p:cNvPr id="10" name="Text 8"/>
          <p:cNvSpPr/>
          <p:nvPr/>
        </p:nvSpPr>
        <p:spPr>
          <a:xfrm>
            <a:off x="1020612" y="4728963"/>
            <a:ext cx="2567722" cy="509094"/>
          </a:xfrm>
          <a:prstGeom prst="rect">
            <a:avLst/>
          </a:prstGeom>
          <a:noFill/>
          <a:ln/>
        </p:spPr>
        <p:txBody>
          <a:bodyPr wrap="square" lIns="25400" tIns="25400" rIns="25400" bIns="25400" rtlCol="0" anchor="t">
            <a:normAutofit/>
          </a:bodyPr>
          <a:lstStyle/>
          <a:p>
            <a:pPr algn="l" indent="0" marL="0">
              <a:buNone/>
            </a:pPr>
            <a:r>
              <a:rPr lang="en-US" sz="1200" dirty="0">
                <a:solidFill>
                  <a:srgbClr val="4A463F"/>
                </a:solidFill>
                <a:latin typeface="Arial" pitchFamily="34" charset="0"/>
                <a:ea typeface="Arial" pitchFamily="34" charset="-122"/>
                <a:cs typeface="Arial" pitchFamily="34" charset="-120"/>
              </a:rPr>
              <a:t>better-goals.skill</a:t>
            </a:r>
            <a:endParaRPr lang="en-US" sz="1200" dirty="0"/>
          </a:p>
        </p:txBody>
      </p:sp>
      <p:sp>
        <p:nvSpPr>
          <p:cNvPr id="11" name="Shape 9"/>
          <p:cNvSpPr/>
          <p:nvPr/>
        </p:nvSpPr>
        <p:spPr>
          <a:xfrm>
            <a:off x="3733502" y="4676924"/>
            <a:ext cx="2271415" cy="575072"/>
          </a:xfrm>
          <a:prstGeom prst="roundRect">
            <a:avLst>
              <a:gd name="adj" fmla="val 33126"/>
            </a:avLst>
          </a:prstGeom>
          <a:solidFill>
            <a:srgbClr val="FAF8F4"/>
          </a:solidFill>
          <a:ln w="13939">
            <a:solidFill>
              <a:srgbClr val="9A968E"/>
            </a:solidFill>
            <a:prstDash val="dash"/>
          </a:ln>
        </p:spPr>
      </p:sp>
      <p:sp>
        <p:nvSpPr>
          <p:cNvPr id="12" name="Text 10"/>
          <p:cNvSpPr/>
          <p:nvPr/>
        </p:nvSpPr>
        <p:spPr>
          <a:xfrm>
            <a:off x="3842691" y="4728963"/>
            <a:ext cx="2129237" cy="509094"/>
          </a:xfrm>
          <a:prstGeom prst="rect">
            <a:avLst/>
          </a:prstGeom>
          <a:noFill/>
          <a:ln/>
        </p:spPr>
        <p:txBody>
          <a:bodyPr wrap="square" lIns="25400" tIns="25400" rIns="25400" bIns="25400" rtlCol="0" anchor="t">
            <a:normAutofit/>
          </a:bodyPr>
          <a:lstStyle/>
          <a:p>
            <a:pPr algn="l" indent="0" marL="0">
              <a:buNone/>
            </a:pPr>
            <a:r>
              <a:rPr lang="en-US" sz="1200" dirty="0">
                <a:solidFill>
                  <a:srgbClr val="4A463F"/>
                </a:solidFill>
                <a:latin typeface="Arial" pitchFamily="34" charset="0"/>
                <a:ea typeface="Arial" pitchFamily="34" charset="-122"/>
                <a:cs typeface="Arial" pitchFamily="34" charset="-120"/>
              </a:rPr>
              <a:t>Claude Code</a:t>
            </a:r>
            <a:endParaRPr lang="en-US" sz="1200" dirty="0"/>
          </a:p>
        </p:txBody>
      </p:sp>
      <p:sp>
        <p:nvSpPr>
          <p:cNvPr id="13" name="Shape 11"/>
          <p:cNvSpPr/>
          <p:nvPr/>
        </p:nvSpPr>
        <p:spPr>
          <a:xfrm>
            <a:off x="911423" y="5369123"/>
            <a:ext cx="1941165" cy="575072"/>
          </a:xfrm>
          <a:prstGeom prst="roundRect">
            <a:avLst>
              <a:gd name="adj" fmla="val 33126"/>
            </a:avLst>
          </a:prstGeom>
          <a:solidFill>
            <a:srgbClr val="FAF8F4"/>
          </a:solidFill>
          <a:ln w="13939">
            <a:solidFill>
              <a:srgbClr val="9A968E"/>
            </a:solidFill>
            <a:prstDash val="dash"/>
          </a:ln>
        </p:spPr>
      </p:sp>
      <p:sp>
        <p:nvSpPr>
          <p:cNvPr id="14" name="Text 12"/>
          <p:cNvSpPr/>
          <p:nvPr/>
        </p:nvSpPr>
        <p:spPr>
          <a:xfrm>
            <a:off x="1020612" y="5421162"/>
            <a:ext cx="1798987" cy="509094"/>
          </a:xfrm>
          <a:prstGeom prst="rect">
            <a:avLst/>
          </a:prstGeom>
          <a:noFill/>
          <a:ln/>
        </p:spPr>
        <p:txBody>
          <a:bodyPr wrap="square" lIns="25400" tIns="25400" rIns="25400" bIns="25400" rtlCol="0" anchor="t">
            <a:normAutofit/>
          </a:bodyPr>
          <a:lstStyle/>
          <a:p>
            <a:pPr algn="l" indent="0" marL="0">
              <a:buNone/>
            </a:pPr>
            <a:r>
              <a:rPr lang="en-US" sz="1200" dirty="0">
                <a:solidFill>
                  <a:srgbClr val="4A463F"/>
                </a:solidFill>
                <a:latin typeface="Arial" pitchFamily="34" charset="0"/>
                <a:ea typeface="Arial" pitchFamily="34" charset="-122"/>
                <a:cs typeface="Arial" pitchFamily="34" charset="-120"/>
              </a:rPr>
              <a:t>the prompt</a:t>
            </a:r>
            <a:endParaRPr lang="en-US" sz="1200" dirty="0"/>
          </a:p>
        </p:txBody>
      </p:sp>
      <p:sp>
        <p:nvSpPr>
          <p:cNvPr id="15" name="Shape 13"/>
          <p:cNvSpPr/>
          <p:nvPr/>
        </p:nvSpPr>
        <p:spPr>
          <a:xfrm>
            <a:off x="911423" y="6119813"/>
            <a:ext cx="5840016" cy="19496"/>
          </a:xfrm>
          <a:prstGeom prst="rect">
            <a:avLst/>
          </a:prstGeom>
          <a:solidFill>
            <a:srgbClr val="E2DED7"/>
          </a:solidFill>
          <a:ln/>
        </p:spPr>
      </p:sp>
      <p:sp>
        <p:nvSpPr>
          <p:cNvPr id="16" name="Text 14"/>
          <p:cNvSpPr/>
          <p:nvPr/>
        </p:nvSpPr>
        <p:spPr>
          <a:xfrm>
            <a:off x="911423" y="6314926"/>
            <a:ext cx="6015216" cy="1429941"/>
          </a:xfrm>
          <a:prstGeom prst="rect">
            <a:avLst/>
          </a:prstGeom>
          <a:noFill/>
          <a:ln/>
        </p:spPr>
        <p:txBody>
          <a:bodyPr wrap="square" lIns="25400" tIns="25400" rIns="25400" bIns="25400" rtlCol="0" anchor="t">
            <a:normAutofit/>
          </a:bodyPr>
          <a:lstStyle/>
          <a:p>
            <a:pPr algn="l" indent="0" marL="0">
              <a:lnSpc>
                <a:spcPct val="137115"/>
              </a:lnSpc>
              <a:buNone/>
            </a:pPr>
            <a:r>
              <a:rPr lang="en-US" sz="863" dirty="0">
                <a:solidFill>
                  <a:srgbClr val="6B665E"/>
                </a:solidFill>
                <a:latin typeface="Courier New" pitchFamily="34" charset="0"/>
                <a:ea typeface="Courier New" pitchFamily="34" charset="-122"/>
                <a:cs typeface="Courier New" pitchFamily="34" charset="-120"/>
              </a:rPr>
              <a:t>Not redrawn here — it leaves the flow and doesn't come back. Worth noting it never reaches the canvas, so everything below is unavailable to anyone who can't share.</a:t>
            </a:r>
            <a:endParaRPr lang="en-US" sz="863" dirty="0"/>
          </a:p>
        </p:txBody>
      </p:sp>
      <p:sp>
        <p:nvSpPr>
          <p:cNvPr id="17" name="Shape 15"/>
          <p:cNvSpPr/>
          <p:nvPr/>
        </p:nvSpPr>
        <p:spPr>
          <a:xfrm>
            <a:off x="9363075" y="3213348"/>
            <a:ext cx="8124825" cy="3839468"/>
          </a:xfrm>
          <a:prstGeom prst="roundRect">
            <a:avLst>
              <a:gd name="adj" fmla="val 3473"/>
            </a:avLst>
          </a:prstGeom>
          <a:solidFill>
            <a:srgbClr val="F4F7FB"/>
          </a:solidFill>
          <a:ln w="9525">
            <a:solidFill>
              <a:srgbClr val="C9D8EA"/>
            </a:solidFill>
            <a:prstDash val="solid"/>
          </a:ln>
        </p:spPr>
      </p:sp>
      <p:sp>
        <p:nvSpPr>
          <p:cNvPr id="18" name="Text 16"/>
          <p:cNvSpPr/>
          <p:nvPr/>
        </p:nvSpPr>
        <p:spPr>
          <a:xfrm>
            <a:off x="9658350" y="3470523"/>
            <a:ext cx="8287703" cy="372368"/>
          </a:xfrm>
          <a:prstGeom prst="rect">
            <a:avLst/>
          </a:prstGeom>
          <a:noFill/>
          <a:ln/>
        </p:spPr>
        <p:txBody>
          <a:bodyPr wrap="square" lIns="25400" tIns="25400" rIns="25400" bIns="25400" rtlCol="0" anchor="t">
            <a:normAutofit/>
          </a:bodyPr>
          <a:lstStyle/>
          <a:p>
            <a:pPr algn="l" indent="0" marL="0">
              <a:lnSpc>
                <a:spcPct val="113226"/>
              </a:lnSpc>
              <a:buNone/>
            </a:pPr>
            <a:r>
              <a:rPr lang="en-US" sz="2025" b="1" dirty="0">
                <a:solidFill>
                  <a:srgbClr val="1B1B1B"/>
                </a:solidFill>
                <a:latin typeface="Helvetica" pitchFamily="34" charset="0"/>
                <a:ea typeface="Helvetica" pitchFamily="34" charset="-122"/>
                <a:cs typeface="Helvetica" pitchFamily="34" charset="-120"/>
              </a:rPr>
              <a:t>The column never closes.</a:t>
            </a:r>
            <a:endParaRPr lang="en-US" sz="2025" dirty="0"/>
          </a:p>
        </p:txBody>
      </p:sp>
      <p:sp>
        <p:nvSpPr>
          <p:cNvPr id="19" name="Text 17"/>
          <p:cNvSpPr/>
          <p:nvPr/>
        </p:nvSpPr>
        <p:spPr>
          <a:xfrm>
            <a:off x="9658350" y="3919091"/>
            <a:ext cx="7760303" cy="1419225"/>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3A352D"/>
                </a:solidFill>
                <a:latin typeface="Helvetica" pitchFamily="34" charset="0"/>
                <a:ea typeface="Helvetica" pitchFamily="34" charset="-122"/>
                <a:cs typeface="Helvetica" pitchFamily="34" charset="-120"/>
              </a:rPr>
              <a:t>The triage chips stay in place, greyed, above the canvas — so the canvas reads as something the conversation produced, not a new tool you've been handed. That's the whole trick, and it's why 1a and 2b stitch cleanly: both are one continuous downward column.</a:t>
            </a:r>
            <a:endParaRPr lang="en-US" sz="1875" dirty="0"/>
          </a:p>
        </p:txBody>
      </p:sp>
      <p:sp>
        <p:nvSpPr>
          <p:cNvPr id="20" name="Text 18"/>
          <p:cNvSpPr/>
          <p:nvPr/>
        </p:nvSpPr>
        <p:spPr>
          <a:xfrm>
            <a:off x="9658350" y="5414516"/>
            <a:ext cx="7760303" cy="1419225"/>
          </a:xfrm>
          <a:prstGeom prst="rect">
            <a:avLst/>
          </a:prstGeom>
          <a:noFill/>
          <a:ln/>
        </p:spPr>
        <p:txBody>
          <a:bodyPr wrap="square" lIns="25400" tIns="25400" rIns="25400" bIns="25400" rtlCol="0" anchor="t">
            <a:normAutofit/>
          </a:bodyPr>
          <a:lstStyle/>
          <a:p>
            <a:pPr algn="l" indent="0" marL="0">
              <a:lnSpc>
                <a:spcPct val="125000"/>
              </a:lnSpc>
              <a:buNone/>
            </a:pPr>
            <a:r>
              <a:rPr lang="en-US" sz="1875" b="1" dirty="0">
                <a:solidFill>
                  <a:srgbClr val="3A352D"/>
                </a:solidFill>
                <a:latin typeface="Helvetica" pitchFamily="34" charset="0"/>
                <a:ea typeface="Helvetica" pitchFamily="34" charset="-122"/>
                <a:cs typeface="Helvetica" pitchFamily="34" charset="-120"/>
              </a:rPr>
              <a:t>The cost: </a:t>
            </a:r>
            <a:pPr algn="l" indent="0" marL="0">
              <a:lnSpc>
                <a:spcPct val="125000"/>
              </a:lnSpc>
              <a:buNone/>
            </a:pPr>
            <a:r>
              <a:rPr lang="en-US" sz="1875" dirty="0">
                <a:solidFill>
                  <a:srgbClr val="3A352D"/>
                </a:solidFill>
                <a:latin typeface="Helvetica" pitchFamily="34" charset="0"/>
                <a:ea typeface="Helvetica" pitchFamily="34" charset="-122"/>
                <a:cs typeface="Helvetica" pitchFamily="34" charset="-120"/>
              </a:rPr>
              <a:t>on desktop the canvas wants to be wide and the column wants to be narrow. I've let the canvas break out to the full column width and pushed the transcript above it — which means the coach's earlier turns scroll out of sight as the canvas grows.</a:t>
            </a:r>
            <a:endParaRPr lang="en-US" sz="1875" dirty="0"/>
          </a:p>
        </p:txBody>
      </p:sp>
      <p:sp>
        <p:nvSpPr>
          <p:cNvPr id="21" name="Text 19"/>
          <p:cNvSpPr/>
          <p:nvPr/>
        </p:nvSpPr>
        <p:spPr>
          <a:xfrm>
            <a:off x="9363075" y="7224266"/>
            <a:ext cx="8368570" cy="706636"/>
          </a:xfrm>
          <a:prstGeom prst="rect">
            <a:avLst/>
          </a:prstGeom>
          <a:noFill/>
          <a:ln/>
        </p:spPr>
        <p:txBody>
          <a:bodyPr wrap="square" lIns="25400" tIns="25400" rIns="25400" bIns="25400" rtlCol="0" anchor="t">
            <a:normAutofit/>
          </a:bodyPr>
          <a:lstStyle/>
          <a:p>
            <a:pPr algn="l" indent="0" marL="0">
              <a:lnSpc>
                <a:spcPct val="113226"/>
              </a:lnSpc>
              <a:buNone/>
            </a:pPr>
            <a:r>
              <a:rPr lang="en-US" sz="1950" dirty="0">
                <a:solidFill>
                  <a:srgbClr val="1F6BB8"/>
                </a:solidFill>
                <a:latin typeface="Arial" pitchFamily="34" charset="0"/>
                <a:ea typeface="Arial" pitchFamily="34" charset="-122"/>
                <a:cs typeface="Arial" pitchFamily="34" charset="-120"/>
              </a:rPr>
              <a:t>This is the flow's biggest open question: a whole half of the product is gated behind one answer at step 04.</a:t>
            </a:r>
            <a:endParaRPr lang="en-US" sz="1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FECE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FECE6"/>
          </a:solidFill>
          <a:ln/>
        </p:spPr>
      </p:sp>
      <p:sp>
        <p:nvSpPr>
          <p:cNvPr id="3" name="Shape 1"/>
          <p:cNvSpPr/>
          <p:nvPr/>
        </p:nvSpPr>
        <p:spPr>
          <a:xfrm>
            <a:off x="609600" y="1104900"/>
            <a:ext cx="17068800" cy="19050"/>
          </a:xfrm>
          <a:prstGeom prst="rect">
            <a:avLst/>
          </a:prstGeom>
          <a:solidFill>
            <a:srgbClr val="1B1B1B"/>
          </a:solidFill>
          <a:ln/>
        </p:spPr>
      </p:sp>
      <p:sp>
        <p:nvSpPr>
          <p:cNvPr id="4" name="Shape 2"/>
          <p:cNvSpPr/>
          <p:nvPr/>
        </p:nvSpPr>
        <p:spPr>
          <a:xfrm>
            <a:off x="609600" y="590550"/>
            <a:ext cx="459135" cy="381000"/>
          </a:xfrm>
          <a:prstGeom prst="roundRect">
            <a:avLst>
              <a:gd name="adj" fmla="val 17500"/>
            </a:avLst>
          </a:prstGeom>
          <a:solidFill>
            <a:srgbClr val="1B1B1B"/>
          </a:solidFill>
          <a:ln/>
        </p:spPr>
      </p:sp>
      <p:sp>
        <p:nvSpPr>
          <p:cNvPr id="5" name="Text 3"/>
          <p:cNvSpPr/>
          <p:nvPr/>
        </p:nvSpPr>
        <p:spPr>
          <a:xfrm>
            <a:off x="723900" y="676275"/>
            <a:ext cx="306735" cy="247650"/>
          </a:xfrm>
          <a:prstGeom prst="rect">
            <a:avLst/>
          </a:prstGeom>
          <a:noFill/>
          <a:ln/>
        </p:spPr>
        <p:txBody>
          <a:bodyPr wrap="square" lIns="25400" tIns="25400" rIns="25400" bIns="25400" rtlCol="0" anchor="t">
            <a:normAutofit/>
          </a:bodyPr>
          <a:lstStyle/>
          <a:p>
            <a:pPr algn="l" indent="0" marL="0">
              <a:lnSpc>
                <a:spcPct val="88000"/>
              </a:lnSpc>
              <a:buNone/>
            </a:pPr>
            <a:r>
              <a:rPr lang="en-US" sz="1650" b="1" dirty="0">
                <a:solidFill>
                  <a:srgbClr val="FFFFFF"/>
                </a:solidFill>
                <a:latin typeface="Courier New" pitchFamily="34" charset="0"/>
                <a:ea typeface="Courier New" pitchFamily="34" charset="-122"/>
                <a:cs typeface="Courier New" pitchFamily="34" charset="-120"/>
              </a:rPr>
              <a:t>05</a:t>
            </a:r>
            <a:endParaRPr lang="en-US" sz="1650" dirty="0"/>
          </a:p>
        </p:txBody>
      </p:sp>
      <p:sp>
        <p:nvSpPr>
          <p:cNvPr id="6" name="Text 4"/>
          <p:cNvSpPr/>
          <p:nvPr/>
        </p:nvSpPr>
        <p:spPr>
          <a:xfrm>
            <a:off x="1221135" y="504825"/>
            <a:ext cx="6193496" cy="457200"/>
          </a:xfrm>
          <a:prstGeom prst="rect">
            <a:avLst/>
          </a:prstGeom>
          <a:noFill/>
          <a:ln/>
        </p:spPr>
        <p:txBody>
          <a:bodyPr wrap="square" lIns="0" tIns="0" rIns="0" bIns="0" rtlCol="0" anchor="t">
            <a:normAutofit/>
          </a:bodyPr>
          <a:lstStyle/>
          <a:p>
            <a:pPr algn="l" indent="0" marL="0">
              <a:lnSpc>
                <a:spcPct val="102222"/>
              </a:lnSpc>
              <a:buNone/>
            </a:pPr>
            <a:r>
              <a:rPr lang="en-US" sz="3000" b="1" dirty="0">
                <a:solidFill>
                  <a:srgbClr val="1B1B1B"/>
                </a:solidFill>
                <a:latin typeface="Helvetica" pitchFamily="34" charset="0"/>
                <a:ea typeface="Helvetica" pitchFamily="34" charset="-122"/>
                <a:cs typeface="Helvetica" pitchFamily="34" charset="-120"/>
              </a:rPr>
              <a:t>The canvas rises into the column</a:t>
            </a:r>
            <a:endParaRPr lang="en-US" sz="3000" dirty="0"/>
          </a:p>
        </p:txBody>
      </p:sp>
      <p:sp>
        <p:nvSpPr>
          <p:cNvPr id="7" name="Text 5"/>
          <p:cNvSpPr/>
          <p:nvPr/>
        </p:nvSpPr>
        <p:spPr>
          <a:xfrm>
            <a:off x="16688098" y="695325"/>
            <a:ext cx="1066502" cy="228600"/>
          </a:xfrm>
          <a:prstGeom prst="rect">
            <a:avLst/>
          </a:prstGeom>
          <a:noFill/>
          <a:ln/>
        </p:spPr>
        <p:txBody>
          <a:bodyPr wrap="none" lIns="25400" tIns="25400" rIns="25400" bIns="25400" rtlCol="0" anchor="t">
            <a:normAutofit/>
          </a:bodyPr>
          <a:lstStyle/>
          <a:p>
            <a:pPr algn="l" indent="0" marL="0">
              <a:lnSpc>
                <a:spcPct val="86957"/>
              </a:lnSpc>
              <a:buNone/>
            </a:pPr>
            <a:r>
              <a:rPr lang="en-US" sz="1500" b="1" spc="150" kern="0" dirty="0">
                <a:solidFill>
                  <a:srgbClr val="8A8479"/>
                </a:solidFill>
                <a:latin typeface="Courier New" pitchFamily="34" charset="0"/>
                <a:ea typeface="Courier New" pitchFamily="34" charset="-122"/>
                <a:cs typeface="Courier New" pitchFamily="34" charset="-120"/>
              </a:rPr>
              <a:t>THE SEAM</a:t>
            </a:r>
            <a:endParaRPr lang="en-US" sz="1500" dirty="0"/>
          </a:p>
        </p:txBody>
      </p:sp>
      <p:sp>
        <p:nvSpPr>
          <p:cNvPr id="8" name="Text 6"/>
          <p:cNvSpPr/>
          <p:nvPr/>
        </p:nvSpPr>
        <p:spPr>
          <a:xfrm>
            <a:off x="609600" y="3062288"/>
            <a:ext cx="9123998" cy="219075"/>
          </a:xfrm>
          <a:prstGeom prst="rect">
            <a:avLst/>
          </a:prstGeom>
          <a:noFill/>
          <a:ln/>
        </p:spPr>
        <p:txBody>
          <a:bodyPr wrap="square" lIns="25400" tIns="25400" rIns="25400" bIns="25400" rtlCol="0" anchor="t">
            <a:normAutofit/>
          </a:bodyPr>
          <a:lstStyle/>
          <a:p>
            <a:pPr algn="l" indent="0" marL="0">
              <a:buNone/>
            </a:pPr>
            <a:r>
              <a:rPr lang="en-US" sz="825" b="1" spc="66" kern="0" dirty="0">
                <a:solidFill>
                  <a:srgbClr val="1B1B1B">
                    <a:alpha val="50000"/>
                  </a:srgbClr>
                </a:solidFill>
                <a:latin typeface="Courier New" pitchFamily="34" charset="0"/>
                <a:ea typeface="Courier New" pitchFamily="34" charset="-122"/>
                <a:cs typeface="Courier New" pitchFamily="34" charset="-120"/>
              </a:rPr>
              <a:t>DESKTOP · MID-SCROLL, BOTH HALVES VISIBLE AT ONCE</a:t>
            </a:r>
            <a:endParaRPr lang="en-US" sz="825" dirty="0"/>
          </a:p>
        </p:txBody>
      </p:sp>
      <p:sp>
        <p:nvSpPr>
          <p:cNvPr id="9" name="Shape 7"/>
          <p:cNvSpPr/>
          <p:nvPr/>
        </p:nvSpPr>
        <p:spPr>
          <a:xfrm>
            <a:off x="609600" y="3357563"/>
            <a:ext cx="8858250" cy="4724251"/>
          </a:xfrm>
          <a:prstGeom prst="roundRect">
            <a:avLst>
              <a:gd name="adj" fmla="val 2419"/>
            </a:avLst>
          </a:prstGeom>
          <a:solidFill>
            <a:srgbClr val="FFFFFF"/>
          </a:solidFill>
          <a:ln w="19050">
            <a:solidFill>
              <a:srgbClr val="1B1B1B"/>
            </a:solidFill>
            <a:prstDash val="solid"/>
          </a:ln>
        </p:spPr>
      </p:sp>
      <p:sp>
        <p:nvSpPr>
          <p:cNvPr id="10" name="Shape 8"/>
          <p:cNvSpPr/>
          <p:nvPr/>
        </p:nvSpPr>
        <p:spPr>
          <a:xfrm>
            <a:off x="823913" y="3571875"/>
            <a:ext cx="1467743" cy="419100"/>
          </a:xfrm>
          <a:prstGeom prst="roundRect">
            <a:avLst>
              <a:gd name="adj" fmla="val 45455"/>
            </a:avLst>
          </a:prstGeom>
          <a:solidFill>
            <a:srgbClr val="FFFFFF">
              <a:alpha val="50000"/>
            </a:srgbClr>
          </a:solidFill>
          <a:ln w="12700">
            <a:solidFill>
              <a:srgbClr val="1B1B1B">
                <a:alpha val="50000"/>
              </a:srgbClr>
            </a:solidFill>
            <a:prstDash val="solid"/>
          </a:ln>
        </p:spPr>
      </p:sp>
      <p:sp>
        <p:nvSpPr>
          <p:cNvPr id="11" name="Text 9"/>
          <p:cNvSpPr/>
          <p:nvPr/>
        </p:nvSpPr>
        <p:spPr>
          <a:xfrm>
            <a:off x="931862" y="3622675"/>
            <a:ext cx="1328043" cy="355600"/>
          </a:xfrm>
          <a:prstGeom prst="rect">
            <a:avLst/>
          </a:prstGeom>
          <a:noFill/>
          <a:ln/>
        </p:spPr>
        <p:txBody>
          <a:bodyPr wrap="square" lIns="25400" tIns="25400" rIns="25400" bIns="25400" rtlCol="0" anchor="t">
            <a:normAutofit/>
          </a:bodyPr>
          <a:lstStyle/>
          <a:p>
            <a:pPr algn="l" indent="0" marL="0">
              <a:buNone/>
            </a:pPr>
            <a:r>
              <a:rPr lang="en-US" sz="1200" dirty="0">
                <a:solidFill>
                  <a:srgbClr val="4A463F">
                    <a:alpha val="50000"/>
                  </a:srgbClr>
                </a:solidFill>
                <a:latin typeface="Arial" pitchFamily="34" charset="0"/>
                <a:ea typeface="Arial" pitchFamily="34" charset="-122"/>
                <a:cs typeface="Arial" pitchFamily="34" charset="-120"/>
              </a:rPr>
              <a:t>one person</a:t>
            </a:r>
            <a:endParaRPr lang="en-US" sz="1200" dirty="0"/>
          </a:p>
        </p:txBody>
      </p:sp>
      <p:sp>
        <p:nvSpPr>
          <p:cNvPr id="12" name="Shape 10"/>
          <p:cNvSpPr/>
          <p:nvPr/>
        </p:nvSpPr>
        <p:spPr>
          <a:xfrm>
            <a:off x="2391668" y="3571875"/>
            <a:ext cx="2839789" cy="419100"/>
          </a:xfrm>
          <a:prstGeom prst="roundRect">
            <a:avLst>
              <a:gd name="adj" fmla="val 45455"/>
            </a:avLst>
          </a:prstGeom>
          <a:solidFill>
            <a:srgbClr val="FFFFFF">
              <a:alpha val="50000"/>
            </a:srgbClr>
          </a:solidFill>
          <a:ln w="12700">
            <a:solidFill>
              <a:srgbClr val="1B1B1B">
                <a:alpha val="50000"/>
              </a:srgbClr>
            </a:solidFill>
            <a:prstDash val="solid"/>
          </a:ln>
        </p:spPr>
      </p:sp>
      <p:sp>
        <p:nvSpPr>
          <p:cNvPr id="13" name="Text 11"/>
          <p:cNvSpPr/>
          <p:nvPr/>
        </p:nvSpPr>
        <p:spPr>
          <a:xfrm>
            <a:off x="2499618" y="3622675"/>
            <a:ext cx="2709083" cy="355600"/>
          </a:xfrm>
          <a:prstGeom prst="rect">
            <a:avLst/>
          </a:prstGeom>
          <a:noFill/>
          <a:ln/>
        </p:spPr>
        <p:txBody>
          <a:bodyPr wrap="square" lIns="25400" tIns="25400" rIns="25400" bIns="25400" rtlCol="0" anchor="t">
            <a:normAutofit/>
          </a:bodyPr>
          <a:lstStyle/>
          <a:p>
            <a:pPr algn="l" indent="0" marL="0">
              <a:buNone/>
            </a:pPr>
            <a:r>
              <a:rPr lang="en-US" sz="1200" dirty="0">
                <a:solidFill>
                  <a:srgbClr val="4A463F">
                    <a:alpha val="50000"/>
                  </a:srgbClr>
                </a:solidFill>
                <a:latin typeface="Arial" pitchFamily="34" charset="0"/>
                <a:ea typeface="Arial" pitchFamily="34" charset="-122"/>
                <a:cs typeface="Arial" pitchFamily="34" charset="-120"/>
              </a:rPr>
              <a:t>a draft from last planning</a:t>
            </a:r>
            <a:endParaRPr lang="en-US" sz="1200" dirty="0"/>
          </a:p>
        </p:txBody>
      </p:sp>
      <p:sp>
        <p:nvSpPr>
          <p:cNvPr id="14" name="Shape 12"/>
          <p:cNvSpPr/>
          <p:nvPr/>
        </p:nvSpPr>
        <p:spPr>
          <a:xfrm>
            <a:off x="5331470" y="3571875"/>
            <a:ext cx="2014091" cy="419100"/>
          </a:xfrm>
          <a:prstGeom prst="roundRect">
            <a:avLst>
              <a:gd name="adj" fmla="val 45455"/>
            </a:avLst>
          </a:prstGeom>
          <a:solidFill>
            <a:srgbClr val="FFFFFF">
              <a:alpha val="50000"/>
            </a:srgbClr>
          </a:solidFill>
          <a:ln w="12700">
            <a:solidFill>
              <a:srgbClr val="1B1B1B">
                <a:alpha val="50000"/>
              </a:srgbClr>
            </a:solidFill>
            <a:prstDash val="solid"/>
          </a:ln>
        </p:spPr>
      </p:sp>
      <p:sp>
        <p:nvSpPr>
          <p:cNvPr id="15" name="Text 13"/>
          <p:cNvSpPr/>
          <p:nvPr/>
        </p:nvSpPr>
        <p:spPr>
          <a:xfrm>
            <a:off x="5439420" y="3622675"/>
            <a:ext cx="1874391" cy="355600"/>
          </a:xfrm>
          <a:prstGeom prst="rect">
            <a:avLst/>
          </a:prstGeom>
          <a:noFill/>
          <a:ln/>
        </p:spPr>
        <p:txBody>
          <a:bodyPr wrap="square" lIns="25400" tIns="25400" rIns="25400" bIns="25400" rtlCol="0" anchor="t">
            <a:normAutofit/>
          </a:bodyPr>
          <a:lstStyle/>
          <a:p>
            <a:pPr algn="l" indent="0" marL="0">
              <a:buNone/>
            </a:pPr>
            <a:r>
              <a:rPr lang="en-US" sz="1200" dirty="0">
                <a:solidFill>
                  <a:srgbClr val="4A463F">
                    <a:alpha val="50000"/>
                  </a:srgbClr>
                </a:solidFill>
                <a:latin typeface="Arial" pitchFamily="34" charset="0"/>
                <a:ea typeface="Arial" pitchFamily="34" charset="-122"/>
                <a:cs typeface="Arial" pitchFamily="34" charset="-120"/>
              </a:rPr>
              <a:t>happy to share it</a:t>
            </a:r>
            <a:endParaRPr lang="en-US" sz="1200" dirty="0"/>
          </a:p>
        </p:txBody>
      </p:sp>
      <p:sp>
        <p:nvSpPr>
          <p:cNvPr id="16" name="Text 14"/>
          <p:cNvSpPr/>
          <p:nvPr/>
        </p:nvSpPr>
        <p:spPr>
          <a:xfrm>
            <a:off x="823913" y="4133850"/>
            <a:ext cx="8682514" cy="307330"/>
          </a:xfrm>
          <a:prstGeom prst="rect">
            <a:avLst/>
          </a:prstGeom>
          <a:noFill/>
          <a:ln/>
        </p:spPr>
        <p:txBody>
          <a:bodyPr wrap="square" lIns="25400" tIns="25400" rIns="25400" bIns="25400" rtlCol="0" anchor="t">
            <a:normAutofit/>
          </a:bodyPr>
          <a:lstStyle/>
          <a:p>
            <a:pPr algn="l" indent="0" marL="0">
              <a:lnSpc>
                <a:spcPct val="117813"/>
              </a:lnSpc>
              <a:buNone/>
            </a:pPr>
            <a:r>
              <a:rPr lang="en-US" sz="1088" dirty="0">
                <a:solidFill>
                  <a:srgbClr val="1B1B1B">
                    <a:alpha val="50000"/>
                  </a:srgbClr>
                </a:solidFill>
                <a:latin typeface="Arial" pitchFamily="34" charset="0"/>
                <a:ea typeface="Arial" pitchFamily="34" charset="-122"/>
                <a:cs typeface="Arial" pitchFamily="34" charset="-120"/>
              </a:rPr>
              <a:t>Good — then I've got everything I need to be useful.</a:t>
            </a:r>
            <a:endParaRPr lang="en-US" sz="1088" dirty="0"/>
          </a:p>
        </p:txBody>
      </p:sp>
      <p:sp>
        <p:nvSpPr>
          <p:cNvPr id="17" name="Shape 15"/>
          <p:cNvSpPr/>
          <p:nvPr/>
        </p:nvSpPr>
        <p:spPr>
          <a:xfrm>
            <a:off x="823913" y="4545955"/>
            <a:ext cx="8429625" cy="14288"/>
          </a:xfrm>
          <a:prstGeom prst="rect">
            <a:avLst/>
          </a:prstGeom>
          <a:solidFill>
            <a:srgbClr val="E2DED7"/>
          </a:solidFill>
          <a:ln/>
        </p:spPr>
      </p:sp>
      <p:sp>
        <p:nvSpPr>
          <p:cNvPr id="18" name="Text 16"/>
          <p:cNvSpPr/>
          <p:nvPr/>
        </p:nvSpPr>
        <p:spPr>
          <a:xfrm>
            <a:off x="823913" y="4703118"/>
            <a:ext cx="8682514" cy="770037"/>
          </a:xfrm>
          <a:prstGeom prst="rect">
            <a:avLst/>
          </a:prstGeom>
          <a:noFill/>
          <a:ln/>
        </p:spPr>
        <p:txBody>
          <a:bodyPr wrap="square" lIns="25400" tIns="25400" rIns="25400" bIns="25400" rtlCol="0" anchor="t">
            <a:normAutofit/>
          </a:bodyPr>
          <a:lstStyle/>
          <a:p>
            <a:pPr algn="l" indent="0" marL="0">
              <a:lnSpc>
                <a:spcPct val="106750"/>
              </a:lnSpc>
              <a:buNone/>
            </a:pPr>
            <a:r>
              <a:rPr lang="en-US" sz="1575" dirty="0">
                <a:solidFill>
                  <a:srgbClr val="1B1B1B"/>
                </a:solidFill>
                <a:latin typeface="Arial" pitchFamily="34" charset="0"/>
                <a:ea typeface="Arial" pitchFamily="34" charset="-122"/>
                <a:cs typeface="Arial" pitchFamily="34" charset="-120"/>
              </a:rPr>
              <a:t>I'm going to put your canvas up as we go. You don't have to fill it in — I'll ask, you talk, and it fills itself.</a:t>
            </a:r>
            <a:endParaRPr lang="en-US" sz="1575" dirty="0"/>
          </a:p>
        </p:txBody>
      </p:sp>
      <p:sp>
        <p:nvSpPr>
          <p:cNvPr id="19" name="Shape 17"/>
          <p:cNvSpPr/>
          <p:nvPr/>
        </p:nvSpPr>
        <p:spPr>
          <a:xfrm>
            <a:off x="823913" y="5577929"/>
            <a:ext cx="4171950" cy="628650"/>
          </a:xfrm>
          <a:prstGeom prst="roundRect">
            <a:avLst>
              <a:gd name="adj" fmla="val 12121"/>
            </a:avLst>
          </a:prstGeom>
          <a:ln w="12700">
            <a:solidFill>
              <a:srgbClr val="C3BEB5">
                <a:alpha val="62000"/>
              </a:srgbClr>
            </a:solidFill>
            <a:prstDash val="solid"/>
          </a:ln>
        </p:spPr>
      </p:sp>
      <p:sp>
        <p:nvSpPr>
          <p:cNvPr id="20" name="Shape 18"/>
          <p:cNvSpPr/>
          <p:nvPr/>
        </p:nvSpPr>
        <p:spPr>
          <a:xfrm>
            <a:off x="4595813" y="5468392"/>
            <a:ext cx="280988" cy="280988"/>
          </a:xfrm>
          <a:prstGeom prst="ellipse">
            <a:avLst/>
          </a:prstGeom>
          <a:solidFill>
            <a:srgbClr val="EFECE6">
              <a:alpha val="62000"/>
            </a:srgbClr>
          </a:solidFill>
          <a:ln w="12700">
            <a:solidFill>
              <a:srgbClr val="8A8479">
                <a:alpha val="62000"/>
              </a:srgbClr>
            </a:solidFill>
            <a:prstDash val="solid"/>
          </a:ln>
        </p:spPr>
      </p:sp>
      <p:sp>
        <p:nvSpPr>
          <p:cNvPr id="21" name="Text 19"/>
          <p:cNvSpPr/>
          <p:nvPr/>
        </p:nvSpPr>
        <p:spPr>
          <a:xfrm>
            <a:off x="4570412" y="5481092"/>
            <a:ext cx="331788" cy="293688"/>
          </a:xfrm>
          <a:prstGeom prst="rect">
            <a:avLst/>
          </a:prstGeom>
          <a:noFill/>
          <a:ln/>
        </p:spPr>
        <p:txBody>
          <a:bodyPr wrap="square" lIns="25400" tIns="25400" rIns="25400" bIns="25400" rtlCol="0" anchor="t">
            <a:normAutofit/>
          </a:bodyPr>
          <a:lstStyle/>
          <a:p>
            <a:pPr algn="ctr" indent="0" marL="0">
              <a:lnSpc>
                <a:spcPct val="140000"/>
              </a:lnSpc>
              <a:buNone/>
            </a:pPr>
            <a:r>
              <a:rPr lang="en-US" sz="638" b="1" dirty="0">
                <a:solidFill>
                  <a:srgbClr val="5A5449">
                    <a:alpha val="62000"/>
                  </a:srgbClr>
                </a:solidFill>
                <a:latin typeface="Courier New" pitchFamily="34" charset="0"/>
                <a:ea typeface="Courier New" pitchFamily="34" charset="-122"/>
                <a:cs typeface="Courier New" pitchFamily="34" charset="-120"/>
              </a:rPr>
              <a:t>2</a:t>
            </a:r>
            <a:endParaRPr lang="en-US" sz="638" dirty="0"/>
          </a:p>
        </p:txBody>
      </p:sp>
      <p:sp>
        <p:nvSpPr>
          <p:cNvPr id="22" name="Text 20"/>
          <p:cNvSpPr/>
          <p:nvPr/>
        </p:nvSpPr>
        <p:spPr>
          <a:xfrm>
            <a:off x="942975" y="5696992"/>
            <a:ext cx="4051840" cy="251668"/>
          </a:xfrm>
          <a:prstGeom prst="rect">
            <a:avLst/>
          </a:prstGeom>
          <a:noFill/>
          <a:ln/>
        </p:spPr>
        <p:txBody>
          <a:bodyPr wrap="square" lIns="25400" tIns="25400" rIns="25400" bIns="25400" rtlCol="0" anchor="t">
            <a:normAutofit/>
          </a:bodyPr>
          <a:lstStyle/>
          <a:p>
            <a:pPr algn="l" indent="0" marL="0">
              <a:lnSpc>
                <a:spcPct val="124583"/>
              </a:lnSpc>
              <a:buNone/>
            </a:pPr>
            <a:r>
              <a:rPr lang="en-US" sz="863" dirty="0">
                <a:solidFill>
                  <a:srgbClr val="87817A">
                    <a:alpha val="62000"/>
                  </a:srgbClr>
                </a:solidFill>
                <a:latin typeface="Arial" pitchFamily="34" charset="0"/>
                <a:ea typeface="Arial" pitchFamily="34" charset="-122"/>
                <a:cs typeface="Arial" pitchFamily="34" charset="-120"/>
              </a:rPr>
              <a:t>Due to… — I'll ask you next</a:t>
            </a:r>
            <a:endParaRPr lang="en-US" sz="863" dirty="0"/>
          </a:p>
        </p:txBody>
      </p:sp>
      <p:sp>
        <p:nvSpPr>
          <p:cNvPr id="23" name="Shape 21"/>
          <p:cNvSpPr/>
          <p:nvPr/>
        </p:nvSpPr>
        <p:spPr>
          <a:xfrm>
            <a:off x="5081588" y="5577929"/>
            <a:ext cx="4171950" cy="628650"/>
          </a:xfrm>
          <a:prstGeom prst="roundRect">
            <a:avLst>
              <a:gd name="adj" fmla="val 12121"/>
            </a:avLst>
          </a:prstGeom>
          <a:ln w="12700">
            <a:solidFill>
              <a:srgbClr val="C3BEB5">
                <a:alpha val="62000"/>
              </a:srgbClr>
            </a:solidFill>
            <a:prstDash val="solid"/>
          </a:ln>
        </p:spPr>
      </p:sp>
      <p:sp>
        <p:nvSpPr>
          <p:cNvPr id="24" name="Shape 22"/>
          <p:cNvSpPr/>
          <p:nvPr/>
        </p:nvSpPr>
        <p:spPr>
          <a:xfrm>
            <a:off x="8853488" y="5468392"/>
            <a:ext cx="280988" cy="280988"/>
          </a:xfrm>
          <a:prstGeom prst="ellipse">
            <a:avLst/>
          </a:prstGeom>
          <a:solidFill>
            <a:srgbClr val="EFECE6">
              <a:alpha val="62000"/>
            </a:srgbClr>
          </a:solidFill>
          <a:ln w="12700">
            <a:solidFill>
              <a:srgbClr val="8A8479">
                <a:alpha val="62000"/>
              </a:srgbClr>
            </a:solidFill>
            <a:prstDash val="solid"/>
          </a:ln>
        </p:spPr>
      </p:sp>
      <p:sp>
        <p:nvSpPr>
          <p:cNvPr id="25" name="Text 23"/>
          <p:cNvSpPr/>
          <p:nvPr/>
        </p:nvSpPr>
        <p:spPr>
          <a:xfrm>
            <a:off x="8828087" y="5481092"/>
            <a:ext cx="331788" cy="293688"/>
          </a:xfrm>
          <a:prstGeom prst="rect">
            <a:avLst/>
          </a:prstGeom>
          <a:noFill/>
          <a:ln/>
        </p:spPr>
        <p:txBody>
          <a:bodyPr wrap="square" lIns="25400" tIns="25400" rIns="25400" bIns="25400" rtlCol="0" anchor="t">
            <a:normAutofit/>
          </a:bodyPr>
          <a:lstStyle/>
          <a:p>
            <a:pPr algn="ctr" indent="0" marL="0">
              <a:lnSpc>
                <a:spcPct val="140000"/>
              </a:lnSpc>
              <a:buNone/>
            </a:pPr>
            <a:r>
              <a:rPr lang="en-US" sz="638" b="1" dirty="0">
                <a:solidFill>
                  <a:srgbClr val="5A5449">
                    <a:alpha val="62000"/>
                  </a:srgbClr>
                </a:solidFill>
                <a:latin typeface="Courier New" pitchFamily="34" charset="0"/>
                <a:ea typeface="Courier New" pitchFamily="34" charset="-122"/>
                <a:cs typeface="Courier New" pitchFamily="34" charset="-120"/>
              </a:rPr>
              <a:t>4</a:t>
            </a:r>
            <a:endParaRPr lang="en-US" sz="638" dirty="0"/>
          </a:p>
        </p:txBody>
      </p:sp>
      <p:sp>
        <p:nvSpPr>
          <p:cNvPr id="26" name="Text 24"/>
          <p:cNvSpPr/>
          <p:nvPr/>
        </p:nvSpPr>
        <p:spPr>
          <a:xfrm>
            <a:off x="5200650" y="5696992"/>
            <a:ext cx="4051840" cy="251668"/>
          </a:xfrm>
          <a:prstGeom prst="rect">
            <a:avLst/>
          </a:prstGeom>
          <a:noFill/>
          <a:ln/>
        </p:spPr>
        <p:txBody>
          <a:bodyPr wrap="square" lIns="25400" tIns="25400" rIns="25400" bIns="25400" rtlCol="0" anchor="t">
            <a:normAutofit/>
          </a:bodyPr>
          <a:lstStyle/>
          <a:p>
            <a:pPr algn="l" indent="0" marL="0">
              <a:lnSpc>
                <a:spcPct val="124583"/>
              </a:lnSpc>
              <a:buNone/>
            </a:pPr>
            <a:r>
              <a:rPr lang="en-US" sz="863" dirty="0">
                <a:solidFill>
                  <a:srgbClr val="87817A">
                    <a:alpha val="62000"/>
                  </a:srgbClr>
                </a:solidFill>
                <a:latin typeface="Arial" pitchFamily="34" charset="0"/>
                <a:ea typeface="Arial" pitchFamily="34" charset="-122"/>
                <a:cs typeface="Arial" pitchFamily="34" charset="-120"/>
              </a:rPr>
              <a:t>We believe that… — later, on purpose</a:t>
            </a:r>
            <a:endParaRPr lang="en-US" sz="863" dirty="0"/>
          </a:p>
        </p:txBody>
      </p:sp>
      <p:sp>
        <p:nvSpPr>
          <p:cNvPr id="27" name="Shape 25"/>
          <p:cNvSpPr/>
          <p:nvPr/>
        </p:nvSpPr>
        <p:spPr>
          <a:xfrm>
            <a:off x="823913" y="6292304"/>
            <a:ext cx="8429625" cy="514350"/>
          </a:xfrm>
          <a:prstGeom prst="roundRect">
            <a:avLst>
              <a:gd name="adj" fmla="val 14815"/>
            </a:avLst>
          </a:prstGeom>
          <a:solidFill>
            <a:srgbClr val="FAF8F4"/>
          </a:solidFill>
          <a:ln w="12700">
            <a:solidFill>
              <a:srgbClr val="1B1B1B"/>
            </a:solidFill>
            <a:prstDash val="solid"/>
          </a:ln>
        </p:spPr>
      </p:sp>
      <p:sp>
        <p:nvSpPr>
          <p:cNvPr id="28" name="Shape 26"/>
          <p:cNvSpPr/>
          <p:nvPr/>
        </p:nvSpPr>
        <p:spPr>
          <a:xfrm>
            <a:off x="8853488" y="6182767"/>
            <a:ext cx="280988" cy="280988"/>
          </a:xfrm>
          <a:prstGeom prst="ellipse">
            <a:avLst/>
          </a:prstGeom>
          <a:solidFill>
            <a:srgbClr val="EFECE6"/>
          </a:solidFill>
          <a:ln w="12700">
            <a:solidFill>
              <a:srgbClr val="8A8479"/>
            </a:solidFill>
            <a:prstDash val="solid"/>
          </a:ln>
        </p:spPr>
      </p:sp>
      <p:sp>
        <p:nvSpPr>
          <p:cNvPr id="29" name="Text 27"/>
          <p:cNvSpPr/>
          <p:nvPr/>
        </p:nvSpPr>
        <p:spPr>
          <a:xfrm>
            <a:off x="8828087" y="6195467"/>
            <a:ext cx="331788" cy="293688"/>
          </a:xfrm>
          <a:prstGeom prst="rect">
            <a:avLst/>
          </a:prstGeom>
          <a:noFill/>
          <a:ln/>
        </p:spPr>
        <p:txBody>
          <a:bodyPr wrap="square" lIns="25400" tIns="25400" rIns="25400" bIns="25400" rtlCol="0" anchor="t">
            <a:normAutofit/>
          </a:bodyPr>
          <a:lstStyle/>
          <a:p>
            <a:pPr algn="ctr" indent="0" marL="0">
              <a:lnSpc>
                <a:spcPct val="140000"/>
              </a:lnSpc>
              <a:buNone/>
            </a:pPr>
            <a:r>
              <a:rPr lang="en-US" sz="638" b="1" dirty="0">
                <a:solidFill>
                  <a:srgbClr val="5A5449"/>
                </a:solidFill>
                <a:latin typeface="Courier New" pitchFamily="34" charset="0"/>
                <a:ea typeface="Courier New" pitchFamily="34" charset="-122"/>
                <a:cs typeface="Courier New" pitchFamily="34" charset="-120"/>
              </a:rPr>
              <a:t>1</a:t>
            </a:r>
            <a:endParaRPr lang="en-US" sz="638" dirty="0"/>
          </a:p>
        </p:txBody>
      </p:sp>
      <p:sp>
        <p:nvSpPr>
          <p:cNvPr id="30" name="Text 28"/>
          <p:cNvSpPr/>
          <p:nvPr/>
        </p:nvSpPr>
        <p:spPr>
          <a:xfrm>
            <a:off x="942975" y="6411367"/>
            <a:ext cx="8437245" cy="251668"/>
          </a:xfrm>
          <a:prstGeom prst="rect">
            <a:avLst/>
          </a:prstGeom>
          <a:noFill/>
          <a:ln/>
        </p:spPr>
        <p:txBody>
          <a:bodyPr wrap="square" lIns="25400" tIns="25400" rIns="25400" bIns="25400" rtlCol="0" anchor="t">
            <a:normAutofit/>
          </a:bodyPr>
          <a:lstStyle/>
          <a:p>
            <a:pPr algn="l" indent="0" marL="0">
              <a:lnSpc>
                <a:spcPct val="124583"/>
              </a:lnSpc>
              <a:buNone/>
            </a:pPr>
            <a:r>
              <a:rPr lang="en-US" sz="863" dirty="0">
                <a:solidFill>
                  <a:srgbClr val="87817A"/>
                </a:solidFill>
                <a:latin typeface="Arial" pitchFamily="34" charset="0"/>
                <a:ea typeface="Arial" pitchFamily="34" charset="-122"/>
                <a:cs typeface="Arial" pitchFamily="34" charset="-120"/>
              </a:rPr>
              <a:t>we start in the middle</a:t>
            </a:r>
            <a:endParaRPr lang="en-US" sz="863" dirty="0"/>
          </a:p>
        </p:txBody>
      </p:sp>
      <p:sp>
        <p:nvSpPr>
          <p:cNvPr id="31" name="Shape 29"/>
          <p:cNvSpPr/>
          <p:nvPr/>
        </p:nvSpPr>
        <p:spPr>
          <a:xfrm>
            <a:off x="823913" y="6892379"/>
            <a:ext cx="4171950" cy="628650"/>
          </a:xfrm>
          <a:prstGeom prst="roundRect">
            <a:avLst>
              <a:gd name="adj" fmla="val 12121"/>
            </a:avLst>
          </a:prstGeom>
          <a:ln w="12700">
            <a:solidFill>
              <a:srgbClr val="C3BEB5">
                <a:alpha val="62000"/>
              </a:srgbClr>
            </a:solidFill>
            <a:prstDash val="solid"/>
          </a:ln>
        </p:spPr>
      </p:sp>
      <p:sp>
        <p:nvSpPr>
          <p:cNvPr id="32" name="Shape 30"/>
          <p:cNvSpPr/>
          <p:nvPr/>
        </p:nvSpPr>
        <p:spPr>
          <a:xfrm>
            <a:off x="4595813" y="6782842"/>
            <a:ext cx="280988" cy="280988"/>
          </a:xfrm>
          <a:prstGeom prst="ellipse">
            <a:avLst/>
          </a:prstGeom>
          <a:solidFill>
            <a:srgbClr val="EFECE6">
              <a:alpha val="62000"/>
            </a:srgbClr>
          </a:solidFill>
          <a:ln w="12700">
            <a:solidFill>
              <a:srgbClr val="8A8479">
                <a:alpha val="62000"/>
              </a:srgbClr>
            </a:solidFill>
            <a:prstDash val="solid"/>
          </a:ln>
        </p:spPr>
      </p:sp>
      <p:sp>
        <p:nvSpPr>
          <p:cNvPr id="33" name="Text 31"/>
          <p:cNvSpPr/>
          <p:nvPr/>
        </p:nvSpPr>
        <p:spPr>
          <a:xfrm>
            <a:off x="4570412" y="6795542"/>
            <a:ext cx="331788" cy="293688"/>
          </a:xfrm>
          <a:prstGeom prst="rect">
            <a:avLst/>
          </a:prstGeom>
          <a:noFill/>
          <a:ln/>
        </p:spPr>
        <p:txBody>
          <a:bodyPr wrap="square" lIns="25400" tIns="25400" rIns="25400" bIns="25400" rtlCol="0" anchor="t">
            <a:normAutofit/>
          </a:bodyPr>
          <a:lstStyle/>
          <a:p>
            <a:pPr algn="ctr" indent="0" marL="0">
              <a:lnSpc>
                <a:spcPct val="140000"/>
              </a:lnSpc>
              <a:buNone/>
            </a:pPr>
            <a:r>
              <a:rPr lang="en-US" sz="638" b="1" dirty="0">
                <a:solidFill>
                  <a:srgbClr val="5A5449">
                    <a:alpha val="62000"/>
                  </a:srgbClr>
                </a:solidFill>
                <a:latin typeface="Courier New" pitchFamily="34" charset="0"/>
                <a:ea typeface="Courier New" pitchFamily="34" charset="-122"/>
                <a:cs typeface="Courier New" pitchFamily="34" charset="-120"/>
              </a:rPr>
              <a:t>5</a:t>
            </a:r>
            <a:endParaRPr lang="en-US" sz="638" dirty="0"/>
          </a:p>
        </p:txBody>
      </p:sp>
      <p:sp>
        <p:nvSpPr>
          <p:cNvPr id="34" name="Text 32"/>
          <p:cNvSpPr/>
          <p:nvPr/>
        </p:nvSpPr>
        <p:spPr>
          <a:xfrm>
            <a:off x="942975" y="7011442"/>
            <a:ext cx="4051840" cy="251668"/>
          </a:xfrm>
          <a:prstGeom prst="rect">
            <a:avLst/>
          </a:prstGeom>
          <a:noFill/>
          <a:ln/>
        </p:spPr>
        <p:txBody>
          <a:bodyPr wrap="square" lIns="25400" tIns="25400" rIns="25400" bIns="25400" rtlCol="0" anchor="t">
            <a:normAutofit/>
          </a:bodyPr>
          <a:lstStyle/>
          <a:p>
            <a:pPr algn="l" indent="0" marL="0">
              <a:lnSpc>
                <a:spcPct val="124583"/>
              </a:lnSpc>
              <a:buNone/>
            </a:pPr>
            <a:r>
              <a:rPr lang="en-US" sz="863" dirty="0">
                <a:solidFill>
                  <a:srgbClr val="87817A">
                    <a:alpha val="62000"/>
                  </a:srgbClr>
                </a:solidFill>
                <a:latin typeface="Arial" pitchFamily="34" charset="0"/>
                <a:ea typeface="Arial" pitchFamily="34" charset="-122"/>
                <a:cs typeface="Arial" pitchFamily="34" charset="-120"/>
              </a:rPr>
              <a:t>what tells us in weeks?</a:t>
            </a:r>
            <a:endParaRPr lang="en-US" sz="863" dirty="0"/>
          </a:p>
        </p:txBody>
      </p:sp>
      <p:sp>
        <p:nvSpPr>
          <p:cNvPr id="35" name="Shape 33"/>
          <p:cNvSpPr/>
          <p:nvPr/>
        </p:nvSpPr>
        <p:spPr>
          <a:xfrm>
            <a:off x="5081588" y="6892379"/>
            <a:ext cx="4171950" cy="628650"/>
          </a:xfrm>
          <a:prstGeom prst="roundRect">
            <a:avLst>
              <a:gd name="adj" fmla="val 12121"/>
            </a:avLst>
          </a:prstGeom>
          <a:ln w="12700">
            <a:solidFill>
              <a:srgbClr val="C3BEB5">
                <a:alpha val="62000"/>
              </a:srgbClr>
            </a:solidFill>
            <a:prstDash val="solid"/>
          </a:ln>
        </p:spPr>
      </p:sp>
      <p:sp>
        <p:nvSpPr>
          <p:cNvPr id="36" name="Shape 34"/>
          <p:cNvSpPr/>
          <p:nvPr/>
        </p:nvSpPr>
        <p:spPr>
          <a:xfrm>
            <a:off x="8853488" y="6782842"/>
            <a:ext cx="280988" cy="280988"/>
          </a:xfrm>
          <a:prstGeom prst="ellipse">
            <a:avLst/>
          </a:prstGeom>
          <a:solidFill>
            <a:srgbClr val="EFECE6">
              <a:alpha val="62000"/>
            </a:srgbClr>
          </a:solidFill>
          <a:ln w="12700">
            <a:solidFill>
              <a:srgbClr val="8A8479">
                <a:alpha val="62000"/>
              </a:srgbClr>
            </a:solidFill>
            <a:prstDash val="solid"/>
          </a:ln>
        </p:spPr>
      </p:sp>
      <p:sp>
        <p:nvSpPr>
          <p:cNvPr id="37" name="Text 35"/>
          <p:cNvSpPr/>
          <p:nvPr/>
        </p:nvSpPr>
        <p:spPr>
          <a:xfrm>
            <a:off x="8828087" y="6795542"/>
            <a:ext cx="331788" cy="293688"/>
          </a:xfrm>
          <a:prstGeom prst="rect">
            <a:avLst/>
          </a:prstGeom>
          <a:noFill/>
          <a:ln/>
        </p:spPr>
        <p:txBody>
          <a:bodyPr wrap="square" lIns="25400" tIns="25400" rIns="25400" bIns="25400" rtlCol="0" anchor="t">
            <a:normAutofit/>
          </a:bodyPr>
          <a:lstStyle/>
          <a:p>
            <a:pPr algn="ctr" indent="0" marL="0">
              <a:lnSpc>
                <a:spcPct val="140000"/>
              </a:lnSpc>
              <a:buNone/>
            </a:pPr>
            <a:r>
              <a:rPr lang="en-US" sz="638" b="1" dirty="0">
                <a:solidFill>
                  <a:srgbClr val="5A5449">
                    <a:alpha val="62000"/>
                  </a:srgbClr>
                </a:solidFill>
                <a:latin typeface="Courier New" pitchFamily="34" charset="0"/>
                <a:ea typeface="Courier New" pitchFamily="34" charset="-122"/>
                <a:cs typeface="Courier New" pitchFamily="34" charset="-120"/>
              </a:rPr>
              <a:t>3</a:t>
            </a:r>
            <a:endParaRPr lang="en-US" sz="638" dirty="0"/>
          </a:p>
        </p:txBody>
      </p:sp>
      <p:sp>
        <p:nvSpPr>
          <p:cNvPr id="38" name="Text 36"/>
          <p:cNvSpPr/>
          <p:nvPr/>
        </p:nvSpPr>
        <p:spPr>
          <a:xfrm>
            <a:off x="5200650" y="7011442"/>
            <a:ext cx="4051840" cy="251668"/>
          </a:xfrm>
          <a:prstGeom prst="rect">
            <a:avLst/>
          </a:prstGeom>
          <a:noFill/>
          <a:ln/>
        </p:spPr>
        <p:txBody>
          <a:bodyPr wrap="square" lIns="25400" tIns="25400" rIns="25400" bIns="25400" rtlCol="0" anchor="t">
            <a:normAutofit/>
          </a:bodyPr>
          <a:lstStyle/>
          <a:p>
            <a:pPr algn="l" indent="0" marL="0">
              <a:lnSpc>
                <a:spcPct val="124583"/>
              </a:lnSpc>
              <a:buNone/>
            </a:pPr>
            <a:r>
              <a:rPr lang="en-US" sz="863" dirty="0">
                <a:solidFill>
                  <a:srgbClr val="87817A">
                    <a:alpha val="62000"/>
                  </a:srgbClr>
                </a:solidFill>
                <a:latin typeface="Arial" pitchFamily="34" charset="0"/>
                <a:ea typeface="Arial" pitchFamily="34" charset="-122"/>
                <a:cs typeface="Arial" pitchFamily="34" charset="-120"/>
              </a:rPr>
              <a:t>what would convince a sceptic?</a:t>
            </a:r>
            <a:endParaRPr lang="en-US" sz="863" dirty="0"/>
          </a:p>
        </p:txBody>
      </p:sp>
      <p:sp>
        <p:nvSpPr>
          <p:cNvPr id="39" name="Text 37"/>
          <p:cNvSpPr/>
          <p:nvPr/>
        </p:nvSpPr>
        <p:spPr>
          <a:xfrm>
            <a:off x="823913" y="7663904"/>
            <a:ext cx="8682514"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 the triage chips stay above, greyed. nothing has been cleared away.</a:t>
            </a:r>
            <a:endParaRPr lang="en-US" sz="713" dirty="0"/>
          </a:p>
        </p:txBody>
      </p:sp>
      <p:sp>
        <p:nvSpPr>
          <p:cNvPr id="40" name="Text 38"/>
          <p:cNvSpPr/>
          <p:nvPr/>
        </p:nvSpPr>
        <p:spPr>
          <a:xfrm>
            <a:off x="9725025" y="3062288"/>
            <a:ext cx="4355973" cy="219075"/>
          </a:xfrm>
          <a:prstGeom prst="rect">
            <a:avLst/>
          </a:prstGeom>
          <a:noFill/>
          <a:ln/>
        </p:spPr>
        <p:txBody>
          <a:bodyPr wrap="square" lIns="25400" tIns="25400" rIns="25400" bIns="25400" rtlCol="0" anchor="t">
            <a:normAutofit/>
          </a:bodyPr>
          <a:lstStyle/>
          <a:p>
            <a:pPr algn="l" indent="0" marL="0">
              <a:buNone/>
            </a:pPr>
            <a:r>
              <a:rPr lang="en-US" sz="825" b="1" spc="66" kern="0" dirty="0">
                <a:solidFill>
                  <a:srgbClr val="1B1B1B">
                    <a:alpha val="50000"/>
                  </a:srgbClr>
                </a:solidFill>
                <a:latin typeface="Courier New" pitchFamily="34" charset="0"/>
                <a:ea typeface="Courier New" pitchFamily="34" charset="-122"/>
                <a:cs typeface="Courier New" pitchFamily="34" charset="-120"/>
              </a:rPr>
              <a:t>MOBILE · CANVAS ARRIVES COLLAPSED</a:t>
            </a:r>
            <a:endParaRPr lang="en-US" sz="825" dirty="0"/>
          </a:p>
        </p:txBody>
      </p:sp>
      <p:sp>
        <p:nvSpPr>
          <p:cNvPr id="41" name="Shape 39"/>
          <p:cNvSpPr/>
          <p:nvPr/>
        </p:nvSpPr>
        <p:spPr>
          <a:xfrm>
            <a:off x="9725025" y="3357563"/>
            <a:ext cx="4229100" cy="4182814"/>
          </a:xfrm>
          <a:prstGeom prst="roundRect">
            <a:avLst>
              <a:gd name="adj" fmla="val 2733"/>
            </a:avLst>
          </a:prstGeom>
          <a:solidFill>
            <a:srgbClr val="FFFFFF"/>
          </a:solidFill>
          <a:ln w="19050">
            <a:solidFill>
              <a:srgbClr val="1B1B1B"/>
            </a:solidFill>
            <a:prstDash val="solid"/>
          </a:ln>
        </p:spPr>
      </p:sp>
      <p:sp>
        <p:nvSpPr>
          <p:cNvPr id="42" name="Shape 40"/>
          <p:cNvSpPr/>
          <p:nvPr/>
        </p:nvSpPr>
        <p:spPr>
          <a:xfrm>
            <a:off x="9939338" y="3571875"/>
            <a:ext cx="1467743" cy="419100"/>
          </a:xfrm>
          <a:prstGeom prst="roundRect">
            <a:avLst>
              <a:gd name="adj" fmla="val 45455"/>
            </a:avLst>
          </a:prstGeom>
          <a:solidFill>
            <a:srgbClr val="FFFFFF">
              <a:alpha val="50000"/>
            </a:srgbClr>
          </a:solidFill>
          <a:ln w="12700">
            <a:solidFill>
              <a:srgbClr val="1B1B1B">
                <a:alpha val="50000"/>
              </a:srgbClr>
            </a:solidFill>
            <a:prstDash val="solid"/>
          </a:ln>
        </p:spPr>
      </p:sp>
      <p:sp>
        <p:nvSpPr>
          <p:cNvPr id="43" name="Text 41"/>
          <p:cNvSpPr/>
          <p:nvPr/>
        </p:nvSpPr>
        <p:spPr>
          <a:xfrm>
            <a:off x="10047287" y="3622675"/>
            <a:ext cx="1328043" cy="355600"/>
          </a:xfrm>
          <a:prstGeom prst="rect">
            <a:avLst/>
          </a:prstGeom>
          <a:noFill/>
          <a:ln/>
        </p:spPr>
        <p:txBody>
          <a:bodyPr wrap="square" lIns="25400" tIns="25400" rIns="25400" bIns="25400" rtlCol="0" anchor="t">
            <a:normAutofit/>
          </a:bodyPr>
          <a:lstStyle/>
          <a:p>
            <a:pPr algn="l" indent="0" marL="0">
              <a:buNone/>
            </a:pPr>
            <a:r>
              <a:rPr lang="en-US" sz="1200" dirty="0">
                <a:solidFill>
                  <a:srgbClr val="4A463F">
                    <a:alpha val="50000"/>
                  </a:srgbClr>
                </a:solidFill>
                <a:latin typeface="Arial" pitchFamily="34" charset="0"/>
                <a:ea typeface="Arial" pitchFamily="34" charset="-122"/>
                <a:cs typeface="Arial" pitchFamily="34" charset="-120"/>
              </a:rPr>
              <a:t>one person</a:t>
            </a:r>
            <a:endParaRPr lang="en-US" sz="1200" dirty="0"/>
          </a:p>
        </p:txBody>
      </p:sp>
      <p:sp>
        <p:nvSpPr>
          <p:cNvPr id="44" name="Shape 42"/>
          <p:cNvSpPr/>
          <p:nvPr/>
        </p:nvSpPr>
        <p:spPr>
          <a:xfrm>
            <a:off x="11492805" y="3571875"/>
            <a:ext cx="971996" cy="419100"/>
          </a:xfrm>
          <a:prstGeom prst="roundRect">
            <a:avLst>
              <a:gd name="adj" fmla="val 45455"/>
            </a:avLst>
          </a:prstGeom>
          <a:solidFill>
            <a:srgbClr val="FFFFFF">
              <a:alpha val="50000"/>
            </a:srgbClr>
          </a:solidFill>
          <a:ln w="12700">
            <a:solidFill>
              <a:srgbClr val="1B1B1B">
                <a:alpha val="50000"/>
              </a:srgbClr>
            </a:solidFill>
            <a:prstDash val="solid"/>
          </a:ln>
        </p:spPr>
      </p:sp>
      <p:sp>
        <p:nvSpPr>
          <p:cNvPr id="45" name="Text 43"/>
          <p:cNvSpPr/>
          <p:nvPr/>
        </p:nvSpPr>
        <p:spPr>
          <a:xfrm>
            <a:off x="11600755" y="3622675"/>
            <a:ext cx="832297" cy="355600"/>
          </a:xfrm>
          <a:prstGeom prst="rect">
            <a:avLst/>
          </a:prstGeom>
          <a:noFill/>
          <a:ln/>
        </p:spPr>
        <p:txBody>
          <a:bodyPr wrap="square" lIns="25400" tIns="25400" rIns="25400" bIns="25400" rtlCol="0" anchor="t">
            <a:normAutofit/>
          </a:bodyPr>
          <a:lstStyle/>
          <a:p>
            <a:pPr algn="l" indent="0" marL="0">
              <a:buNone/>
            </a:pPr>
            <a:r>
              <a:rPr lang="en-US" sz="1200" dirty="0">
                <a:solidFill>
                  <a:srgbClr val="4A463F">
                    <a:alpha val="50000"/>
                  </a:srgbClr>
                </a:solidFill>
                <a:latin typeface="Arial" pitchFamily="34" charset="0"/>
                <a:ea typeface="Arial" pitchFamily="34" charset="-122"/>
                <a:cs typeface="Arial" pitchFamily="34" charset="-120"/>
              </a:rPr>
              <a:t>a draft</a:t>
            </a:r>
            <a:endParaRPr lang="en-US" sz="1200" dirty="0"/>
          </a:p>
        </p:txBody>
      </p:sp>
      <p:sp>
        <p:nvSpPr>
          <p:cNvPr id="46" name="Shape 44"/>
          <p:cNvSpPr/>
          <p:nvPr/>
        </p:nvSpPr>
        <p:spPr>
          <a:xfrm>
            <a:off x="9939338" y="4076700"/>
            <a:ext cx="1327845" cy="419100"/>
          </a:xfrm>
          <a:prstGeom prst="roundRect">
            <a:avLst>
              <a:gd name="adj" fmla="val 45455"/>
            </a:avLst>
          </a:prstGeom>
          <a:solidFill>
            <a:srgbClr val="FFFFFF">
              <a:alpha val="50000"/>
            </a:srgbClr>
          </a:solidFill>
          <a:ln w="12700">
            <a:solidFill>
              <a:srgbClr val="1B1B1B">
                <a:alpha val="50000"/>
              </a:srgbClr>
            </a:solidFill>
            <a:prstDash val="solid"/>
          </a:ln>
        </p:spPr>
      </p:sp>
      <p:sp>
        <p:nvSpPr>
          <p:cNvPr id="47" name="Text 45"/>
          <p:cNvSpPr/>
          <p:nvPr/>
        </p:nvSpPr>
        <p:spPr>
          <a:xfrm>
            <a:off x="10047287" y="4127500"/>
            <a:ext cx="1188145" cy="355600"/>
          </a:xfrm>
          <a:prstGeom prst="rect">
            <a:avLst/>
          </a:prstGeom>
          <a:noFill/>
          <a:ln/>
        </p:spPr>
        <p:txBody>
          <a:bodyPr wrap="square" lIns="25400" tIns="25400" rIns="25400" bIns="25400" rtlCol="0" anchor="t">
            <a:normAutofit/>
          </a:bodyPr>
          <a:lstStyle/>
          <a:p>
            <a:pPr algn="l" indent="0" marL="0">
              <a:buNone/>
            </a:pPr>
            <a:r>
              <a:rPr lang="en-US" sz="1200" dirty="0">
                <a:solidFill>
                  <a:srgbClr val="4A463F">
                    <a:alpha val="50000"/>
                  </a:srgbClr>
                </a:solidFill>
                <a:latin typeface="Arial" pitchFamily="34" charset="0"/>
                <a:ea typeface="Arial" pitchFamily="34" charset="-122"/>
                <a:cs typeface="Arial" pitchFamily="34" charset="-120"/>
              </a:rPr>
              <a:t>can share</a:t>
            </a:r>
            <a:endParaRPr lang="en-US" sz="1200" dirty="0"/>
          </a:p>
        </p:txBody>
      </p:sp>
      <p:sp>
        <p:nvSpPr>
          <p:cNvPr id="48" name="Shape 46"/>
          <p:cNvSpPr/>
          <p:nvPr/>
        </p:nvSpPr>
        <p:spPr>
          <a:xfrm>
            <a:off x="9939338" y="4638675"/>
            <a:ext cx="3800475" cy="14288"/>
          </a:xfrm>
          <a:prstGeom prst="rect">
            <a:avLst/>
          </a:prstGeom>
          <a:solidFill>
            <a:srgbClr val="E2DED7"/>
          </a:solidFill>
          <a:ln/>
        </p:spPr>
      </p:sp>
      <p:sp>
        <p:nvSpPr>
          <p:cNvPr id="49" name="Text 47"/>
          <p:cNvSpPr/>
          <p:nvPr/>
        </p:nvSpPr>
        <p:spPr>
          <a:xfrm>
            <a:off x="9939338" y="4795838"/>
            <a:ext cx="3914489" cy="1136005"/>
          </a:xfrm>
          <a:prstGeom prst="rect">
            <a:avLst/>
          </a:prstGeom>
          <a:noFill/>
          <a:ln/>
        </p:spPr>
        <p:txBody>
          <a:bodyPr wrap="square" lIns="25400" tIns="25400" rIns="25400" bIns="25400" rtlCol="0" anchor="t">
            <a:normAutofit/>
          </a:bodyPr>
          <a:lstStyle/>
          <a:p>
            <a:pPr algn="l" indent="0" marL="0">
              <a:lnSpc>
                <a:spcPct val="106750"/>
              </a:lnSpc>
              <a:buNone/>
            </a:pPr>
            <a:r>
              <a:rPr lang="en-US" sz="1575" dirty="0">
                <a:solidFill>
                  <a:srgbClr val="1B1B1B"/>
                </a:solidFill>
                <a:latin typeface="Arial" pitchFamily="34" charset="0"/>
                <a:ea typeface="Arial" pitchFamily="34" charset="-122"/>
                <a:cs typeface="Arial" pitchFamily="34" charset="-120"/>
              </a:rPr>
              <a:t>I'll put your canvas up as we go. I ask, you talk — it fills itself.</a:t>
            </a:r>
            <a:endParaRPr lang="en-US" sz="1575" dirty="0"/>
          </a:p>
        </p:txBody>
      </p:sp>
      <p:sp>
        <p:nvSpPr>
          <p:cNvPr id="50" name="Text 48"/>
          <p:cNvSpPr/>
          <p:nvPr/>
        </p:nvSpPr>
        <p:spPr>
          <a:xfrm>
            <a:off x="9939338" y="6036618"/>
            <a:ext cx="2613571"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canvas ▾ we'll start in the centre</a:t>
            </a:r>
            <a:endParaRPr lang="en-US" sz="713" dirty="0"/>
          </a:p>
        </p:txBody>
      </p:sp>
      <p:sp>
        <p:nvSpPr>
          <p:cNvPr id="51" name="Text 49"/>
          <p:cNvSpPr/>
          <p:nvPr/>
        </p:nvSpPr>
        <p:spPr>
          <a:xfrm>
            <a:off x="12918877" y="6036618"/>
            <a:ext cx="897136"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tap to open</a:t>
            </a:r>
            <a:endParaRPr lang="en-US" sz="713" dirty="0"/>
          </a:p>
        </p:txBody>
      </p:sp>
      <p:sp>
        <p:nvSpPr>
          <p:cNvPr id="52" name="Shape 50"/>
          <p:cNvSpPr/>
          <p:nvPr/>
        </p:nvSpPr>
        <p:spPr>
          <a:xfrm>
            <a:off x="9939338" y="6383089"/>
            <a:ext cx="1871663" cy="285750"/>
          </a:xfrm>
          <a:prstGeom prst="roundRect">
            <a:avLst>
              <a:gd name="adj" fmla="val 26667"/>
            </a:avLst>
          </a:prstGeom>
          <a:ln w="12700">
            <a:solidFill>
              <a:srgbClr val="C3BEB5">
                <a:alpha val="62000"/>
              </a:srgbClr>
            </a:solidFill>
            <a:prstDash val="solid"/>
          </a:ln>
        </p:spPr>
      </p:sp>
      <p:sp>
        <p:nvSpPr>
          <p:cNvPr id="53" name="Shape 51"/>
          <p:cNvSpPr/>
          <p:nvPr/>
        </p:nvSpPr>
        <p:spPr>
          <a:xfrm>
            <a:off x="11868150" y="6383089"/>
            <a:ext cx="1871663" cy="285750"/>
          </a:xfrm>
          <a:prstGeom prst="roundRect">
            <a:avLst>
              <a:gd name="adj" fmla="val 26667"/>
            </a:avLst>
          </a:prstGeom>
          <a:ln w="12700">
            <a:solidFill>
              <a:srgbClr val="C3BEB5">
                <a:alpha val="62000"/>
              </a:srgbClr>
            </a:solidFill>
            <a:prstDash val="solid"/>
          </a:ln>
        </p:spPr>
      </p:sp>
      <p:sp>
        <p:nvSpPr>
          <p:cNvPr id="54" name="Shape 52"/>
          <p:cNvSpPr/>
          <p:nvPr/>
        </p:nvSpPr>
        <p:spPr>
          <a:xfrm>
            <a:off x="9939338" y="6725989"/>
            <a:ext cx="3800475" cy="257175"/>
          </a:xfrm>
          <a:prstGeom prst="roundRect">
            <a:avLst>
              <a:gd name="adj" fmla="val 29630"/>
            </a:avLst>
          </a:prstGeom>
          <a:solidFill>
            <a:srgbClr val="FAF8F4"/>
          </a:solidFill>
          <a:ln w="12700">
            <a:solidFill>
              <a:srgbClr val="1B1B1B"/>
            </a:solidFill>
            <a:prstDash val="solid"/>
          </a:ln>
        </p:spPr>
      </p:sp>
      <p:sp>
        <p:nvSpPr>
          <p:cNvPr id="55" name="Shape 53"/>
          <p:cNvSpPr/>
          <p:nvPr/>
        </p:nvSpPr>
        <p:spPr>
          <a:xfrm>
            <a:off x="9939338" y="7040314"/>
            <a:ext cx="1871663" cy="285750"/>
          </a:xfrm>
          <a:prstGeom prst="roundRect">
            <a:avLst>
              <a:gd name="adj" fmla="val 26667"/>
            </a:avLst>
          </a:prstGeom>
          <a:ln w="12700">
            <a:solidFill>
              <a:srgbClr val="C3BEB5">
                <a:alpha val="62000"/>
              </a:srgbClr>
            </a:solidFill>
            <a:prstDash val="solid"/>
          </a:ln>
        </p:spPr>
      </p:sp>
      <p:sp>
        <p:nvSpPr>
          <p:cNvPr id="56" name="Shape 54"/>
          <p:cNvSpPr/>
          <p:nvPr/>
        </p:nvSpPr>
        <p:spPr>
          <a:xfrm>
            <a:off x="11868150" y="7040314"/>
            <a:ext cx="1871663" cy="285750"/>
          </a:xfrm>
          <a:prstGeom prst="roundRect">
            <a:avLst>
              <a:gd name="adj" fmla="val 26667"/>
            </a:avLst>
          </a:prstGeom>
          <a:ln w="12700">
            <a:solidFill>
              <a:srgbClr val="C3BEB5">
                <a:alpha val="62000"/>
              </a:srgbClr>
            </a:solidFill>
            <a:prstDash val="solid"/>
          </a:ln>
        </p:spPr>
      </p:sp>
      <p:sp>
        <p:nvSpPr>
          <p:cNvPr id="57" name="Text 55"/>
          <p:cNvSpPr/>
          <p:nvPr/>
        </p:nvSpPr>
        <p:spPr>
          <a:xfrm>
            <a:off x="14335125" y="4964906"/>
            <a:ext cx="3443573" cy="1252538"/>
          </a:xfrm>
          <a:prstGeom prst="rect">
            <a:avLst/>
          </a:prstGeom>
          <a:noFill/>
          <a:ln/>
        </p:spPr>
        <p:txBody>
          <a:bodyPr wrap="square" lIns="25400" tIns="25400" rIns="25400" bIns="25400" rtlCol="0" anchor="t">
            <a:normAutofit/>
          </a:bodyPr>
          <a:lstStyle/>
          <a:p>
            <a:pPr algn="l" indent="0" marL="0">
              <a:lnSpc>
                <a:spcPct val="108974"/>
              </a:lnSpc>
              <a:buNone/>
            </a:pPr>
            <a:r>
              <a:rPr lang="en-US" sz="2550" dirty="0">
                <a:solidFill>
                  <a:srgbClr val="1B1B1B"/>
                </a:solidFill>
                <a:latin typeface="Arial" pitchFamily="34" charset="0"/>
                <a:ea typeface="Arial" pitchFamily="34" charset="-122"/>
                <a:cs typeface="Arial" pitchFamily="34" charset="-120"/>
              </a:rPr>
              <a:t>no transition, no “start” button, no new page</a:t>
            </a:r>
            <a:endParaRPr lang="en-US" sz="2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FECE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FECE6"/>
          </a:solidFill>
          <a:ln/>
        </p:spPr>
      </p:sp>
      <p:sp>
        <p:nvSpPr>
          <p:cNvPr id="3" name="Shape 1"/>
          <p:cNvSpPr/>
          <p:nvPr/>
        </p:nvSpPr>
        <p:spPr>
          <a:xfrm>
            <a:off x="609600" y="1104900"/>
            <a:ext cx="17068800" cy="19050"/>
          </a:xfrm>
          <a:prstGeom prst="rect">
            <a:avLst/>
          </a:prstGeom>
          <a:solidFill>
            <a:srgbClr val="1B1B1B"/>
          </a:solidFill>
          <a:ln/>
        </p:spPr>
      </p:sp>
      <p:sp>
        <p:nvSpPr>
          <p:cNvPr id="4" name="Shape 2"/>
          <p:cNvSpPr/>
          <p:nvPr/>
        </p:nvSpPr>
        <p:spPr>
          <a:xfrm>
            <a:off x="609600" y="590550"/>
            <a:ext cx="459135" cy="381000"/>
          </a:xfrm>
          <a:prstGeom prst="roundRect">
            <a:avLst>
              <a:gd name="adj" fmla="val 17500"/>
            </a:avLst>
          </a:prstGeom>
          <a:solidFill>
            <a:srgbClr val="1B1B1B"/>
          </a:solidFill>
          <a:ln/>
        </p:spPr>
      </p:sp>
      <p:sp>
        <p:nvSpPr>
          <p:cNvPr id="5" name="Text 3"/>
          <p:cNvSpPr/>
          <p:nvPr/>
        </p:nvSpPr>
        <p:spPr>
          <a:xfrm>
            <a:off x="723900" y="676275"/>
            <a:ext cx="306735" cy="247650"/>
          </a:xfrm>
          <a:prstGeom prst="rect">
            <a:avLst/>
          </a:prstGeom>
          <a:noFill/>
          <a:ln/>
        </p:spPr>
        <p:txBody>
          <a:bodyPr wrap="square" lIns="25400" tIns="25400" rIns="25400" bIns="25400" rtlCol="0" anchor="t">
            <a:normAutofit/>
          </a:bodyPr>
          <a:lstStyle/>
          <a:p>
            <a:pPr algn="l" indent="0" marL="0">
              <a:lnSpc>
                <a:spcPct val="88000"/>
              </a:lnSpc>
              <a:buNone/>
            </a:pPr>
            <a:r>
              <a:rPr lang="en-US" sz="1650" b="1" dirty="0">
                <a:solidFill>
                  <a:srgbClr val="FFFFFF"/>
                </a:solidFill>
                <a:latin typeface="Courier New" pitchFamily="34" charset="0"/>
                <a:ea typeface="Courier New" pitchFamily="34" charset="-122"/>
                <a:cs typeface="Courier New" pitchFamily="34" charset="-120"/>
              </a:rPr>
              <a:t>06</a:t>
            </a:r>
            <a:endParaRPr lang="en-US" sz="1650" dirty="0"/>
          </a:p>
        </p:txBody>
      </p:sp>
      <p:sp>
        <p:nvSpPr>
          <p:cNvPr id="6" name="Text 4"/>
          <p:cNvSpPr/>
          <p:nvPr/>
        </p:nvSpPr>
        <p:spPr>
          <a:xfrm>
            <a:off x="1221135" y="504825"/>
            <a:ext cx="8403214" cy="457200"/>
          </a:xfrm>
          <a:prstGeom prst="rect">
            <a:avLst/>
          </a:prstGeom>
          <a:noFill/>
          <a:ln/>
        </p:spPr>
        <p:txBody>
          <a:bodyPr wrap="square" lIns="0" tIns="0" rIns="0" bIns="0" rtlCol="0" anchor="t">
            <a:normAutofit/>
          </a:bodyPr>
          <a:lstStyle/>
          <a:p>
            <a:pPr algn="l" indent="0" marL="0">
              <a:lnSpc>
                <a:spcPct val="102222"/>
              </a:lnSpc>
              <a:buNone/>
            </a:pPr>
            <a:r>
              <a:rPr lang="en-US" sz="3000" b="1" dirty="0">
                <a:solidFill>
                  <a:srgbClr val="1B1B1B"/>
                </a:solidFill>
                <a:latin typeface="Helvetica" pitchFamily="34" charset="0"/>
                <a:ea typeface="Helvetica" pitchFamily="34" charset="-122"/>
                <a:cs typeface="Helvetica" pitchFamily="34" charset="-120"/>
              </a:rPr>
              <a:t>Centre ① — customer and behaviour change</a:t>
            </a:r>
            <a:endParaRPr lang="en-US" sz="3000" dirty="0"/>
          </a:p>
        </p:txBody>
      </p:sp>
      <p:sp>
        <p:nvSpPr>
          <p:cNvPr id="7" name="Text 5"/>
          <p:cNvSpPr/>
          <p:nvPr/>
        </p:nvSpPr>
        <p:spPr>
          <a:xfrm>
            <a:off x="16688098" y="695325"/>
            <a:ext cx="1066502" cy="228600"/>
          </a:xfrm>
          <a:prstGeom prst="rect">
            <a:avLst/>
          </a:prstGeom>
          <a:noFill/>
          <a:ln/>
        </p:spPr>
        <p:txBody>
          <a:bodyPr wrap="none" lIns="25400" tIns="25400" rIns="25400" bIns="25400" rtlCol="0" anchor="t">
            <a:normAutofit/>
          </a:bodyPr>
          <a:lstStyle/>
          <a:p>
            <a:pPr algn="l" indent="0" marL="0">
              <a:lnSpc>
                <a:spcPct val="86957"/>
              </a:lnSpc>
              <a:buNone/>
            </a:pPr>
            <a:r>
              <a:rPr lang="en-US" sz="1500" b="1" spc="150" kern="0" dirty="0">
                <a:solidFill>
                  <a:srgbClr val="8A8479"/>
                </a:solidFill>
                <a:latin typeface="Courier New" pitchFamily="34" charset="0"/>
                <a:ea typeface="Courier New" pitchFamily="34" charset="-122"/>
                <a:cs typeface="Courier New" pitchFamily="34" charset="-120"/>
              </a:rPr>
              <a:t>COACHING</a:t>
            </a:r>
            <a:endParaRPr lang="en-US" sz="1500" dirty="0"/>
          </a:p>
        </p:txBody>
      </p:sp>
      <p:sp>
        <p:nvSpPr>
          <p:cNvPr id="8" name="Text 6"/>
          <p:cNvSpPr/>
          <p:nvPr/>
        </p:nvSpPr>
        <p:spPr>
          <a:xfrm>
            <a:off x="609600" y="2889796"/>
            <a:ext cx="9123998" cy="219075"/>
          </a:xfrm>
          <a:prstGeom prst="rect">
            <a:avLst/>
          </a:prstGeom>
          <a:noFill/>
          <a:ln/>
        </p:spPr>
        <p:txBody>
          <a:bodyPr wrap="square" lIns="25400" tIns="25400" rIns="25400" bIns="25400" rtlCol="0" anchor="t">
            <a:normAutofit/>
          </a:bodyPr>
          <a:lstStyle/>
          <a:p>
            <a:pPr algn="l" indent="0" marL="0">
              <a:buNone/>
            </a:pPr>
            <a:r>
              <a:rPr lang="en-US" sz="825" b="1" spc="66" kern="0" dirty="0">
                <a:solidFill>
                  <a:srgbClr val="1B1B1B">
                    <a:alpha val="50000"/>
                  </a:srgbClr>
                </a:solidFill>
                <a:latin typeface="Courier New" pitchFamily="34" charset="0"/>
                <a:ea typeface="Courier New" pitchFamily="34" charset="-122"/>
                <a:cs typeface="Courier New" pitchFamily="34" charset="-120"/>
              </a:rPr>
              <a:t>DESKTOP</a:t>
            </a:r>
            <a:endParaRPr lang="en-US" sz="825" dirty="0"/>
          </a:p>
        </p:txBody>
      </p:sp>
      <p:sp>
        <p:nvSpPr>
          <p:cNvPr id="9" name="Shape 7"/>
          <p:cNvSpPr/>
          <p:nvPr/>
        </p:nvSpPr>
        <p:spPr>
          <a:xfrm>
            <a:off x="609600" y="3185071"/>
            <a:ext cx="8858250" cy="5069384"/>
          </a:xfrm>
          <a:prstGeom prst="roundRect">
            <a:avLst>
              <a:gd name="adj" fmla="val 2255"/>
            </a:avLst>
          </a:prstGeom>
          <a:solidFill>
            <a:srgbClr val="FFFFFF"/>
          </a:solidFill>
          <a:ln w="19050">
            <a:solidFill>
              <a:srgbClr val="1B1B1B"/>
            </a:solidFill>
            <a:prstDash val="solid"/>
          </a:ln>
        </p:spPr>
      </p:sp>
      <p:sp>
        <p:nvSpPr>
          <p:cNvPr id="10" name="Shape 8"/>
          <p:cNvSpPr/>
          <p:nvPr/>
        </p:nvSpPr>
        <p:spPr>
          <a:xfrm>
            <a:off x="823913" y="3399383"/>
            <a:ext cx="4171950" cy="942975"/>
          </a:xfrm>
          <a:prstGeom prst="roundRect">
            <a:avLst>
              <a:gd name="adj" fmla="val 8081"/>
            </a:avLst>
          </a:prstGeom>
          <a:ln w="12700">
            <a:solidFill>
              <a:srgbClr val="C3BEB5">
                <a:alpha val="62000"/>
              </a:srgbClr>
            </a:solidFill>
            <a:prstDash val="solid"/>
          </a:ln>
        </p:spPr>
      </p:sp>
      <p:sp>
        <p:nvSpPr>
          <p:cNvPr id="11" name="Shape 9"/>
          <p:cNvSpPr/>
          <p:nvPr/>
        </p:nvSpPr>
        <p:spPr>
          <a:xfrm>
            <a:off x="4595813" y="3289846"/>
            <a:ext cx="280988" cy="280988"/>
          </a:xfrm>
          <a:prstGeom prst="ellipse">
            <a:avLst/>
          </a:prstGeom>
          <a:solidFill>
            <a:srgbClr val="EFECE6">
              <a:alpha val="62000"/>
            </a:srgbClr>
          </a:solidFill>
          <a:ln w="12700">
            <a:solidFill>
              <a:srgbClr val="8A8479">
                <a:alpha val="62000"/>
              </a:srgbClr>
            </a:solidFill>
            <a:prstDash val="solid"/>
          </a:ln>
        </p:spPr>
      </p:sp>
      <p:sp>
        <p:nvSpPr>
          <p:cNvPr id="12" name="Text 10"/>
          <p:cNvSpPr/>
          <p:nvPr/>
        </p:nvSpPr>
        <p:spPr>
          <a:xfrm>
            <a:off x="4570412" y="3302546"/>
            <a:ext cx="331788" cy="293688"/>
          </a:xfrm>
          <a:prstGeom prst="rect">
            <a:avLst/>
          </a:prstGeom>
          <a:noFill/>
          <a:ln/>
        </p:spPr>
        <p:txBody>
          <a:bodyPr wrap="square" lIns="25400" tIns="25400" rIns="25400" bIns="25400" rtlCol="0" anchor="t">
            <a:normAutofit/>
          </a:bodyPr>
          <a:lstStyle/>
          <a:p>
            <a:pPr algn="ctr" indent="0" marL="0">
              <a:lnSpc>
                <a:spcPct val="140000"/>
              </a:lnSpc>
              <a:buNone/>
            </a:pPr>
            <a:r>
              <a:rPr lang="en-US" sz="638" b="1" dirty="0">
                <a:solidFill>
                  <a:srgbClr val="5A5449">
                    <a:alpha val="62000"/>
                  </a:srgbClr>
                </a:solidFill>
                <a:latin typeface="Courier New" pitchFamily="34" charset="0"/>
                <a:ea typeface="Courier New" pitchFamily="34" charset="-122"/>
                <a:cs typeface="Courier New" pitchFamily="34" charset="-120"/>
              </a:rPr>
              <a:t>2</a:t>
            </a:r>
            <a:endParaRPr lang="en-US" sz="638" dirty="0"/>
          </a:p>
        </p:txBody>
      </p:sp>
      <p:sp>
        <p:nvSpPr>
          <p:cNvPr id="13" name="Text 11"/>
          <p:cNvSpPr/>
          <p:nvPr/>
        </p:nvSpPr>
        <p:spPr>
          <a:xfrm>
            <a:off x="942975" y="3518446"/>
            <a:ext cx="4051840" cy="180975"/>
          </a:xfrm>
          <a:prstGeom prst="rect">
            <a:avLst/>
          </a:prstGeom>
          <a:noFill/>
          <a:ln/>
        </p:spPr>
        <p:txBody>
          <a:bodyPr wrap="square" lIns="25400" tIns="25400" rIns="25400" bIns="25400" rtlCol="0" anchor="t">
            <a:normAutofit/>
          </a:bodyPr>
          <a:lstStyle/>
          <a:p>
            <a:pPr algn="l" indent="0" marL="0">
              <a:buNone/>
            </a:pPr>
            <a:r>
              <a:rPr lang="en-US" sz="638" b="1" spc="38" kern="0" dirty="0">
                <a:solidFill>
                  <a:srgbClr val="8A8479">
                    <a:alpha val="62000"/>
                  </a:srgbClr>
                </a:solidFill>
                <a:latin typeface="Courier New" pitchFamily="34" charset="0"/>
                <a:ea typeface="Courier New" pitchFamily="34" charset="-122"/>
                <a:cs typeface="Courier New" pitchFamily="34" charset="-120"/>
              </a:rPr>
              <a:t>DRIVER → PROBLEM</a:t>
            </a:r>
            <a:endParaRPr lang="en-US" sz="638" dirty="0"/>
          </a:p>
        </p:txBody>
      </p:sp>
      <p:sp>
        <p:nvSpPr>
          <p:cNvPr id="14" name="Text 12"/>
          <p:cNvSpPr/>
          <p:nvPr/>
        </p:nvSpPr>
        <p:spPr>
          <a:xfrm>
            <a:off x="942975" y="3732758"/>
            <a:ext cx="4051840" cy="251668"/>
          </a:xfrm>
          <a:prstGeom prst="rect">
            <a:avLst/>
          </a:prstGeom>
          <a:noFill/>
          <a:ln/>
        </p:spPr>
        <p:txBody>
          <a:bodyPr wrap="square" lIns="25400" tIns="25400" rIns="25400" bIns="25400" rtlCol="0" anchor="t">
            <a:normAutofit/>
          </a:bodyPr>
          <a:lstStyle/>
          <a:p>
            <a:pPr algn="l" indent="0" marL="0">
              <a:lnSpc>
                <a:spcPct val="124583"/>
              </a:lnSpc>
              <a:buNone/>
            </a:pPr>
            <a:r>
              <a:rPr lang="en-US" sz="863" dirty="0">
                <a:solidFill>
                  <a:srgbClr val="87817A">
                    <a:alpha val="62000"/>
                  </a:srgbClr>
                </a:solidFill>
                <a:latin typeface="Arial" pitchFamily="34" charset="0"/>
                <a:ea typeface="Arial" pitchFamily="34" charset="-122"/>
                <a:cs typeface="Arial" pitchFamily="34" charset="-120"/>
              </a:rPr>
              <a:t>Due to… — next</a:t>
            </a:r>
            <a:endParaRPr lang="en-US" sz="863" dirty="0"/>
          </a:p>
        </p:txBody>
      </p:sp>
      <p:sp>
        <p:nvSpPr>
          <p:cNvPr id="15" name="Shape 13"/>
          <p:cNvSpPr/>
          <p:nvPr/>
        </p:nvSpPr>
        <p:spPr>
          <a:xfrm>
            <a:off x="5081588" y="3399383"/>
            <a:ext cx="4171950" cy="942975"/>
          </a:xfrm>
          <a:prstGeom prst="roundRect">
            <a:avLst>
              <a:gd name="adj" fmla="val 8081"/>
            </a:avLst>
          </a:prstGeom>
          <a:ln w="12700">
            <a:solidFill>
              <a:srgbClr val="C3BEB5">
                <a:alpha val="62000"/>
              </a:srgbClr>
            </a:solidFill>
            <a:prstDash val="solid"/>
          </a:ln>
        </p:spPr>
      </p:sp>
      <p:sp>
        <p:nvSpPr>
          <p:cNvPr id="16" name="Shape 14"/>
          <p:cNvSpPr/>
          <p:nvPr/>
        </p:nvSpPr>
        <p:spPr>
          <a:xfrm>
            <a:off x="8853488" y="3289846"/>
            <a:ext cx="280988" cy="280988"/>
          </a:xfrm>
          <a:prstGeom prst="ellipse">
            <a:avLst/>
          </a:prstGeom>
          <a:solidFill>
            <a:srgbClr val="EFECE6">
              <a:alpha val="62000"/>
            </a:srgbClr>
          </a:solidFill>
          <a:ln w="12700">
            <a:solidFill>
              <a:srgbClr val="8A8479">
                <a:alpha val="62000"/>
              </a:srgbClr>
            </a:solidFill>
            <a:prstDash val="solid"/>
          </a:ln>
        </p:spPr>
      </p:sp>
      <p:sp>
        <p:nvSpPr>
          <p:cNvPr id="17" name="Text 15"/>
          <p:cNvSpPr/>
          <p:nvPr/>
        </p:nvSpPr>
        <p:spPr>
          <a:xfrm>
            <a:off x="8828087" y="3302546"/>
            <a:ext cx="331788" cy="293688"/>
          </a:xfrm>
          <a:prstGeom prst="rect">
            <a:avLst/>
          </a:prstGeom>
          <a:noFill/>
          <a:ln/>
        </p:spPr>
        <p:txBody>
          <a:bodyPr wrap="square" lIns="25400" tIns="25400" rIns="25400" bIns="25400" rtlCol="0" anchor="t">
            <a:normAutofit/>
          </a:bodyPr>
          <a:lstStyle/>
          <a:p>
            <a:pPr algn="ctr" indent="0" marL="0">
              <a:lnSpc>
                <a:spcPct val="140000"/>
              </a:lnSpc>
              <a:buNone/>
            </a:pPr>
            <a:r>
              <a:rPr lang="en-US" sz="638" b="1" dirty="0">
                <a:solidFill>
                  <a:srgbClr val="5A5449">
                    <a:alpha val="62000"/>
                  </a:srgbClr>
                </a:solidFill>
                <a:latin typeface="Courier New" pitchFamily="34" charset="0"/>
                <a:ea typeface="Courier New" pitchFamily="34" charset="-122"/>
                <a:cs typeface="Courier New" pitchFamily="34" charset="-120"/>
              </a:rPr>
              <a:t>4</a:t>
            </a:r>
            <a:endParaRPr lang="en-US" sz="638" dirty="0"/>
          </a:p>
        </p:txBody>
      </p:sp>
      <p:sp>
        <p:nvSpPr>
          <p:cNvPr id="18" name="Text 16"/>
          <p:cNvSpPr/>
          <p:nvPr/>
        </p:nvSpPr>
        <p:spPr>
          <a:xfrm>
            <a:off x="5200650" y="3518446"/>
            <a:ext cx="4051840" cy="180975"/>
          </a:xfrm>
          <a:prstGeom prst="rect">
            <a:avLst/>
          </a:prstGeom>
          <a:noFill/>
          <a:ln/>
        </p:spPr>
        <p:txBody>
          <a:bodyPr wrap="square" lIns="25400" tIns="25400" rIns="25400" bIns="25400" rtlCol="0" anchor="t">
            <a:normAutofit/>
          </a:bodyPr>
          <a:lstStyle/>
          <a:p>
            <a:pPr algn="l" indent="0" marL="0">
              <a:buNone/>
            </a:pPr>
            <a:r>
              <a:rPr lang="en-US" sz="638" b="1" spc="38" kern="0" dirty="0">
                <a:solidFill>
                  <a:srgbClr val="8A8479">
                    <a:alpha val="62000"/>
                  </a:srgbClr>
                </a:solidFill>
                <a:latin typeface="Courier New" pitchFamily="34" charset="0"/>
                <a:ea typeface="Courier New" pitchFamily="34" charset="-122"/>
                <a:cs typeface="Courier New" pitchFamily="34" charset="-120"/>
              </a:rPr>
              <a:t>OUTCOME HYPOTHESIS</a:t>
            </a:r>
            <a:endParaRPr lang="en-US" sz="638" dirty="0"/>
          </a:p>
        </p:txBody>
      </p:sp>
      <p:sp>
        <p:nvSpPr>
          <p:cNvPr id="19" name="Text 17"/>
          <p:cNvSpPr/>
          <p:nvPr/>
        </p:nvSpPr>
        <p:spPr>
          <a:xfrm>
            <a:off x="5200650" y="3732758"/>
            <a:ext cx="4051840" cy="251668"/>
          </a:xfrm>
          <a:prstGeom prst="rect">
            <a:avLst/>
          </a:prstGeom>
          <a:noFill/>
          <a:ln/>
        </p:spPr>
        <p:txBody>
          <a:bodyPr wrap="square" lIns="25400" tIns="25400" rIns="25400" bIns="25400" rtlCol="0" anchor="t">
            <a:normAutofit/>
          </a:bodyPr>
          <a:lstStyle/>
          <a:p>
            <a:pPr algn="l" indent="0" marL="0">
              <a:lnSpc>
                <a:spcPct val="124583"/>
              </a:lnSpc>
              <a:buNone/>
            </a:pPr>
            <a:r>
              <a:rPr lang="en-US" sz="863" dirty="0">
                <a:solidFill>
                  <a:srgbClr val="87817A">
                    <a:alpha val="62000"/>
                  </a:srgbClr>
                </a:solidFill>
                <a:latin typeface="Arial" pitchFamily="34" charset="0"/>
                <a:ea typeface="Arial" pitchFamily="34" charset="-122"/>
                <a:cs typeface="Arial" pitchFamily="34" charset="-120"/>
              </a:rPr>
              <a:t>We believe that… — later, on purpose</a:t>
            </a:r>
            <a:endParaRPr lang="en-US" sz="863" dirty="0"/>
          </a:p>
        </p:txBody>
      </p:sp>
      <p:sp>
        <p:nvSpPr>
          <p:cNvPr id="20" name="Shape 18"/>
          <p:cNvSpPr/>
          <p:nvPr/>
        </p:nvSpPr>
        <p:spPr>
          <a:xfrm>
            <a:off x="823913" y="4428083"/>
            <a:ext cx="8429625" cy="2236887"/>
          </a:xfrm>
          <a:prstGeom prst="roundRect">
            <a:avLst>
              <a:gd name="adj" fmla="val 3407"/>
            </a:avLst>
          </a:prstGeom>
          <a:solidFill>
            <a:srgbClr val="FFFDF5"/>
          </a:solidFill>
          <a:ln w="19050">
            <a:solidFill>
              <a:srgbClr val="1B1B1B"/>
            </a:solidFill>
            <a:prstDash val="solid"/>
          </a:ln>
        </p:spPr>
      </p:sp>
      <p:sp>
        <p:nvSpPr>
          <p:cNvPr id="21" name="Shape 19"/>
          <p:cNvSpPr/>
          <p:nvPr/>
        </p:nvSpPr>
        <p:spPr>
          <a:xfrm>
            <a:off x="8843963" y="4328071"/>
            <a:ext cx="280988" cy="280988"/>
          </a:xfrm>
          <a:prstGeom prst="ellipse">
            <a:avLst/>
          </a:prstGeom>
          <a:solidFill>
            <a:srgbClr val="1B1B1B"/>
          </a:solidFill>
          <a:ln w="12700">
            <a:solidFill>
              <a:srgbClr val="1B1B1B"/>
            </a:solidFill>
            <a:prstDash val="solid"/>
          </a:ln>
        </p:spPr>
      </p:sp>
      <p:sp>
        <p:nvSpPr>
          <p:cNvPr id="22" name="Text 20"/>
          <p:cNvSpPr/>
          <p:nvPr/>
        </p:nvSpPr>
        <p:spPr>
          <a:xfrm>
            <a:off x="8818562" y="4340771"/>
            <a:ext cx="331788" cy="293688"/>
          </a:xfrm>
          <a:prstGeom prst="rect">
            <a:avLst/>
          </a:prstGeom>
          <a:noFill/>
          <a:ln/>
        </p:spPr>
        <p:txBody>
          <a:bodyPr wrap="square" lIns="25400" tIns="25400" rIns="25400" bIns="25400" rtlCol="0" anchor="t">
            <a:normAutofit/>
          </a:bodyPr>
          <a:lstStyle/>
          <a:p>
            <a:pPr algn="ctr" indent="0" marL="0">
              <a:lnSpc>
                <a:spcPct val="140000"/>
              </a:lnSpc>
              <a:buNone/>
            </a:pPr>
            <a:r>
              <a:rPr lang="en-US" sz="638" b="1" dirty="0">
                <a:solidFill>
                  <a:srgbClr val="FFFFFF"/>
                </a:solidFill>
                <a:latin typeface="Courier New" pitchFamily="34" charset="0"/>
                <a:ea typeface="Courier New" pitchFamily="34" charset="-122"/>
                <a:cs typeface="Courier New" pitchFamily="34" charset="-120"/>
              </a:rPr>
              <a:t>1</a:t>
            </a:r>
            <a:endParaRPr lang="en-US" sz="638" dirty="0"/>
          </a:p>
        </p:txBody>
      </p:sp>
      <p:sp>
        <p:nvSpPr>
          <p:cNvPr id="23" name="Text 21"/>
          <p:cNvSpPr/>
          <p:nvPr/>
        </p:nvSpPr>
        <p:spPr>
          <a:xfrm>
            <a:off x="952500" y="4556671"/>
            <a:ext cx="8417624" cy="180975"/>
          </a:xfrm>
          <a:prstGeom prst="rect">
            <a:avLst/>
          </a:prstGeom>
          <a:noFill/>
          <a:ln/>
        </p:spPr>
        <p:txBody>
          <a:bodyPr wrap="square" lIns="25400" tIns="25400" rIns="25400" bIns="25400" rtlCol="0" anchor="t">
            <a:normAutofit/>
          </a:bodyPr>
          <a:lstStyle/>
          <a:p>
            <a:pPr algn="l" indent="0" marL="0">
              <a:buNone/>
            </a:pPr>
            <a:r>
              <a:rPr lang="en-US" sz="638" b="1" spc="38" kern="0" dirty="0">
                <a:solidFill>
                  <a:srgbClr val="8A8479"/>
                </a:solidFill>
                <a:latin typeface="Courier New" pitchFamily="34" charset="0"/>
                <a:ea typeface="Courier New" pitchFamily="34" charset="-122"/>
                <a:cs typeface="Courier New" pitchFamily="34" charset="-120"/>
              </a:rPr>
              <a:t>WHO IS THIS FOR · WHAT CHANGES IN THEIR BEHAVIOUR</a:t>
            </a:r>
            <a:endParaRPr lang="en-US" sz="638" dirty="0"/>
          </a:p>
        </p:txBody>
      </p:sp>
      <p:sp>
        <p:nvSpPr>
          <p:cNvPr id="24" name="Text 22"/>
          <p:cNvSpPr/>
          <p:nvPr/>
        </p:nvSpPr>
        <p:spPr>
          <a:xfrm>
            <a:off x="952500" y="4799558"/>
            <a:ext cx="8417624" cy="770037"/>
          </a:xfrm>
          <a:prstGeom prst="rect">
            <a:avLst/>
          </a:prstGeom>
          <a:noFill/>
          <a:ln/>
        </p:spPr>
        <p:txBody>
          <a:bodyPr wrap="square" lIns="25400" tIns="25400" rIns="25400" bIns="25400" rtlCol="0" anchor="t">
            <a:normAutofit/>
          </a:bodyPr>
          <a:lstStyle/>
          <a:p>
            <a:pPr algn="l" indent="0" marL="0">
              <a:lnSpc>
                <a:spcPct val="106750"/>
              </a:lnSpc>
              <a:buNone/>
            </a:pPr>
            <a:r>
              <a:rPr lang="en-US" sz="1575" dirty="0">
                <a:solidFill>
                  <a:srgbClr val="1B1B1B"/>
                </a:solidFill>
                <a:latin typeface="Arial" pitchFamily="34" charset="0"/>
                <a:ea typeface="Arial" pitchFamily="34" charset="-122"/>
                <a:cs typeface="Arial" pitchFamily="34" charset="-120"/>
              </a:rPr>
              <a:t>Who is this actually for, and what would they be doing differently?</a:t>
            </a:r>
            <a:endParaRPr lang="en-US" sz="1575" dirty="0"/>
          </a:p>
        </p:txBody>
      </p:sp>
      <p:sp>
        <p:nvSpPr>
          <p:cNvPr id="25" name="Shape 23"/>
          <p:cNvSpPr/>
          <p:nvPr/>
        </p:nvSpPr>
        <p:spPr>
          <a:xfrm>
            <a:off x="952500" y="5631507"/>
            <a:ext cx="457200" cy="457200"/>
          </a:xfrm>
          <a:prstGeom prst="ellipse">
            <a:avLst/>
          </a:prstGeom>
          <a:ln w="19050">
            <a:solidFill>
              <a:srgbClr val="1B1B1B"/>
            </a:solidFill>
            <a:prstDash val="solid"/>
          </a:ln>
        </p:spPr>
      </p:sp>
      <p:sp>
        <p:nvSpPr>
          <p:cNvPr id="26" name="Text 24"/>
          <p:cNvSpPr/>
          <p:nvPr/>
        </p:nvSpPr>
        <p:spPr>
          <a:xfrm>
            <a:off x="933450" y="5650557"/>
            <a:ext cx="495300" cy="457200"/>
          </a:xfrm>
          <a:prstGeom prst="rect">
            <a:avLst/>
          </a:prstGeom>
          <a:noFill/>
          <a:ln/>
        </p:spPr>
        <p:txBody>
          <a:bodyPr wrap="square" lIns="25400" tIns="25400" rIns="25400" bIns="25400" rtlCol="0" anchor="ctr">
            <a:normAutofit/>
          </a:bodyPr>
          <a:lstStyle/>
          <a:p>
            <a:pPr algn="ctr" indent="0" marL="0">
              <a:buNone/>
            </a:pPr>
            <a:r>
              <a:rPr lang="en-US" sz="713" b="1" dirty="0">
                <a:solidFill>
                  <a:srgbClr val="1B1B1B"/>
                </a:solidFill>
                <a:latin typeface="Courier New" pitchFamily="34" charset="0"/>
                <a:ea typeface="Courier New" pitchFamily="34" charset="-122"/>
                <a:cs typeface="Courier New" pitchFamily="34" charset="-120"/>
              </a:rPr>
              <a:t>◉</a:t>
            </a:r>
            <a:endParaRPr lang="en-US" sz="713" dirty="0"/>
          </a:p>
        </p:txBody>
      </p:sp>
      <p:sp>
        <p:nvSpPr>
          <p:cNvPr id="27" name="Shape 25"/>
          <p:cNvSpPr/>
          <p:nvPr/>
        </p:nvSpPr>
        <p:spPr>
          <a:xfrm>
            <a:off x="1552575" y="5802957"/>
            <a:ext cx="42863" cy="114300"/>
          </a:xfrm>
          <a:prstGeom prst="roundRect">
            <a:avLst>
              <a:gd name="adj" fmla="val 44444"/>
            </a:avLst>
          </a:prstGeom>
          <a:solidFill>
            <a:srgbClr val="1B1B1B"/>
          </a:solidFill>
          <a:ln/>
        </p:spPr>
      </p:sp>
      <p:sp>
        <p:nvSpPr>
          <p:cNvPr id="28" name="Shape 26"/>
          <p:cNvSpPr/>
          <p:nvPr/>
        </p:nvSpPr>
        <p:spPr>
          <a:xfrm>
            <a:off x="1638300" y="5731520"/>
            <a:ext cx="42863" cy="257175"/>
          </a:xfrm>
          <a:prstGeom prst="roundRect">
            <a:avLst>
              <a:gd name="adj" fmla="val 44444"/>
            </a:avLst>
          </a:prstGeom>
          <a:solidFill>
            <a:srgbClr val="1B1B1B"/>
          </a:solidFill>
          <a:ln/>
        </p:spPr>
      </p:sp>
      <p:sp>
        <p:nvSpPr>
          <p:cNvPr id="29" name="Shape 27"/>
          <p:cNvSpPr/>
          <p:nvPr/>
        </p:nvSpPr>
        <p:spPr>
          <a:xfrm>
            <a:off x="1724025" y="5688657"/>
            <a:ext cx="42863" cy="342900"/>
          </a:xfrm>
          <a:prstGeom prst="roundRect">
            <a:avLst>
              <a:gd name="adj" fmla="val 44444"/>
            </a:avLst>
          </a:prstGeom>
          <a:solidFill>
            <a:srgbClr val="1B1B1B"/>
          </a:solidFill>
          <a:ln/>
        </p:spPr>
      </p:sp>
      <p:sp>
        <p:nvSpPr>
          <p:cNvPr id="30" name="Shape 28"/>
          <p:cNvSpPr/>
          <p:nvPr/>
        </p:nvSpPr>
        <p:spPr>
          <a:xfrm>
            <a:off x="1809750" y="5774382"/>
            <a:ext cx="42863" cy="171450"/>
          </a:xfrm>
          <a:prstGeom prst="roundRect">
            <a:avLst>
              <a:gd name="adj" fmla="val 44444"/>
            </a:avLst>
          </a:prstGeom>
          <a:solidFill>
            <a:srgbClr val="1B1B1B"/>
          </a:solidFill>
          <a:ln/>
        </p:spPr>
      </p:sp>
      <p:sp>
        <p:nvSpPr>
          <p:cNvPr id="31" name="Shape 29"/>
          <p:cNvSpPr/>
          <p:nvPr/>
        </p:nvSpPr>
        <p:spPr>
          <a:xfrm>
            <a:off x="1895475" y="5717232"/>
            <a:ext cx="42863" cy="285750"/>
          </a:xfrm>
          <a:prstGeom prst="roundRect">
            <a:avLst>
              <a:gd name="adj" fmla="val 44444"/>
            </a:avLst>
          </a:prstGeom>
          <a:solidFill>
            <a:srgbClr val="1B1B1B"/>
          </a:solidFill>
          <a:ln/>
        </p:spPr>
      </p:sp>
      <p:sp>
        <p:nvSpPr>
          <p:cNvPr id="32" name="Shape 30"/>
          <p:cNvSpPr/>
          <p:nvPr/>
        </p:nvSpPr>
        <p:spPr>
          <a:xfrm>
            <a:off x="1981200" y="5788670"/>
            <a:ext cx="42863" cy="142875"/>
          </a:xfrm>
          <a:prstGeom prst="roundRect">
            <a:avLst>
              <a:gd name="adj" fmla="val 44444"/>
            </a:avLst>
          </a:prstGeom>
          <a:solidFill>
            <a:srgbClr val="1B1B1B"/>
          </a:solidFill>
          <a:ln/>
        </p:spPr>
      </p:sp>
      <p:sp>
        <p:nvSpPr>
          <p:cNvPr id="33" name="Text 31"/>
          <p:cNvSpPr/>
          <p:nvPr/>
        </p:nvSpPr>
        <p:spPr>
          <a:xfrm>
            <a:off x="2166938" y="5758309"/>
            <a:ext cx="1195685"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or type in here</a:t>
            </a:r>
            <a:endParaRPr lang="en-US" sz="713" dirty="0"/>
          </a:p>
        </p:txBody>
      </p:sp>
      <p:sp>
        <p:nvSpPr>
          <p:cNvPr id="34" name="Shape 32"/>
          <p:cNvSpPr/>
          <p:nvPr/>
        </p:nvSpPr>
        <p:spPr>
          <a:xfrm rot="-72000">
            <a:off x="1192634" y="6224439"/>
            <a:ext cx="962025" cy="247650"/>
          </a:xfrm>
          <a:prstGeom prst="roundRect">
            <a:avLst>
              <a:gd name="adj" fmla="val 7692"/>
            </a:avLst>
          </a:prstGeom>
          <a:solidFill>
            <a:srgbClr val="FFF6BF"/>
          </a:solidFill>
          <a:ln w="6350">
            <a:solidFill>
              <a:srgbClr val="E3D489"/>
            </a:solidFill>
            <a:prstDash val="solid"/>
          </a:ln>
          <a:effectLst>
            <a:outerShdw sx="100000" sy="100000" kx="0" ky="0" algn="bl" rotWithShape="0" blurRad="101600" dist="13470" dir="2700000">
              <a:srgbClr val="000000">
                <a:alpha val="8000"/>
              </a:srgbClr>
            </a:outerShdw>
          </a:effectLst>
        </p:spPr>
      </p:sp>
      <p:sp>
        <p:nvSpPr>
          <p:cNvPr id="35" name="Text 33"/>
          <p:cNvSpPr/>
          <p:nvPr/>
        </p:nvSpPr>
        <p:spPr>
          <a:xfrm rot="-72000">
            <a:off x="1256134" y="6278414"/>
            <a:ext cx="911225" cy="177800"/>
          </a:xfrm>
          <a:prstGeom prst="rect">
            <a:avLst/>
          </a:prstGeom>
          <a:noFill/>
          <a:ln/>
        </p:spPr>
        <p:txBody>
          <a:bodyPr wrap="square" lIns="25400" tIns="25400" rIns="25400" bIns="25400" rtlCol="0" anchor="t">
            <a:normAutofit/>
          </a:bodyPr>
          <a:lstStyle/>
          <a:p>
            <a:pPr algn="l" indent="0" marL="0">
              <a:lnSpc>
                <a:spcPct val="107143"/>
              </a:lnSpc>
              <a:buNone/>
            </a:pPr>
            <a:r>
              <a:rPr lang="en-US" sz="900" dirty="0">
                <a:solidFill>
                  <a:srgbClr val="2B2620"/>
                </a:solidFill>
                <a:latin typeface="Arial" pitchFamily="34" charset="0"/>
                <a:ea typeface="Arial" pitchFamily="34" charset="-122"/>
                <a:cs typeface="Arial" pitchFamily="34" charset="-120"/>
              </a:rPr>
              <a:t>district managers</a:t>
            </a:r>
            <a:endParaRPr lang="en-US" sz="900" dirty="0"/>
          </a:p>
        </p:txBody>
      </p:sp>
      <p:sp>
        <p:nvSpPr>
          <p:cNvPr id="36" name="Shape 34"/>
          <p:cNvSpPr/>
          <p:nvPr/>
        </p:nvSpPr>
        <p:spPr>
          <a:xfrm>
            <a:off x="823913" y="6750695"/>
            <a:ext cx="4171950" cy="942975"/>
          </a:xfrm>
          <a:prstGeom prst="roundRect">
            <a:avLst>
              <a:gd name="adj" fmla="val 8081"/>
            </a:avLst>
          </a:prstGeom>
          <a:ln w="12700">
            <a:solidFill>
              <a:srgbClr val="C3BEB5">
                <a:alpha val="62000"/>
              </a:srgbClr>
            </a:solidFill>
            <a:prstDash val="solid"/>
          </a:ln>
        </p:spPr>
      </p:sp>
      <p:sp>
        <p:nvSpPr>
          <p:cNvPr id="37" name="Shape 35"/>
          <p:cNvSpPr/>
          <p:nvPr/>
        </p:nvSpPr>
        <p:spPr>
          <a:xfrm>
            <a:off x="4595813" y="6641157"/>
            <a:ext cx="280988" cy="280988"/>
          </a:xfrm>
          <a:prstGeom prst="ellipse">
            <a:avLst/>
          </a:prstGeom>
          <a:solidFill>
            <a:srgbClr val="EFECE6">
              <a:alpha val="62000"/>
            </a:srgbClr>
          </a:solidFill>
          <a:ln w="12700">
            <a:solidFill>
              <a:srgbClr val="8A8479">
                <a:alpha val="62000"/>
              </a:srgbClr>
            </a:solidFill>
            <a:prstDash val="solid"/>
          </a:ln>
        </p:spPr>
      </p:sp>
      <p:sp>
        <p:nvSpPr>
          <p:cNvPr id="38" name="Text 36"/>
          <p:cNvSpPr/>
          <p:nvPr/>
        </p:nvSpPr>
        <p:spPr>
          <a:xfrm>
            <a:off x="4570412" y="6653857"/>
            <a:ext cx="331788" cy="293688"/>
          </a:xfrm>
          <a:prstGeom prst="rect">
            <a:avLst/>
          </a:prstGeom>
          <a:noFill/>
          <a:ln/>
        </p:spPr>
        <p:txBody>
          <a:bodyPr wrap="square" lIns="25400" tIns="25400" rIns="25400" bIns="25400" rtlCol="0" anchor="t">
            <a:normAutofit/>
          </a:bodyPr>
          <a:lstStyle/>
          <a:p>
            <a:pPr algn="ctr" indent="0" marL="0">
              <a:lnSpc>
                <a:spcPct val="140000"/>
              </a:lnSpc>
              <a:buNone/>
            </a:pPr>
            <a:r>
              <a:rPr lang="en-US" sz="638" b="1" dirty="0">
                <a:solidFill>
                  <a:srgbClr val="5A5449">
                    <a:alpha val="62000"/>
                  </a:srgbClr>
                </a:solidFill>
                <a:latin typeface="Courier New" pitchFamily="34" charset="0"/>
                <a:ea typeface="Courier New" pitchFamily="34" charset="-122"/>
                <a:cs typeface="Courier New" pitchFamily="34" charset="-120"/>
              </a:rPr>
              <a:t>5</a:t>
            </a:r>
            <a:endParaRPr lang="en-US" sz="638" dirty="0"/>
          </a:p>
        </p:txBody>
      </p:sp>
      <p:sp>
        <p:nvSpPr>
          <p:cNvPr id="39" name="Text 37"/>
          <p:cNvSpPr/>
          <p:nvPr/>
        </p:nvSpPr>
        <p:spPr>
          <a:xfrm>
            <a:off x="942975" y="6869757"/>
            <a:ext cx="4051840" cy="180975"/>
          </a:xfrm>
          <a:prstGeom prst="rect">
            <a:avLst/>
          </a:prstGeom>
          <a:noFill/>
          <a:ln/>
        </p:spPr>
        <p:txBody>
          <a:bodyPr wrap="square" lIns="25400" tIns="25400" rIns="25400" bIns="25400" rtlCol="0" anchor="t">
            <a:normAutofit/>
          </a:bodyPr>
          <a:lstStyle/>
          <a:p>
            <a:pPr algn="l" indent="0" marL="0">
              <a:buNone/>
            </a:pPr>
            <a:r>
              <a:rPr lang="en-US" sz="638" b="1" spc="38" kern="0" dirty="0">
                <a:solidFill>
                  <a:srgbClr val="8A8479">
                    <a:alpha val="62000"/>
                  </a:srgbClr>
                </a:solidFill>
                <a:latin typeface="Courier New" pitchFamily="34" charset="0"/>
                <a:ea typeface="Courier New" pitchFamily="34" charset="-122"/>
                <a:cs typeface="Courier New" pitchFamily="34" charset="-120"/>
              </a:rPr>
              <a:t>LEADING</a:t>
            </a:r>
            <a:endParaRPr lang="en-US" sz="638" dirty="0"/>
          </a:p>
        </p:txBody>
      </p:sp>
      <p:sp>
        <p:nvSpPr>
          <p:cNvPr id="40" name="Text 38"/>
          <p:cNvSpPr/>
          <p:nvPr/>
        </p:nvSpPr>
        <p:spPr>
          <a:xfrm>
            <a:off x="942975" y="7084070"/>
            <a:ext cx="4051840" cy="251668"/>
          </a:xfrm>
          <a:prstGeom prst="rect">
            <a:avLst/>
          </a:prstGeom>
          <a:noFill/>
          <a:ln/>
        </p:spPr>
        <p:txBody>
          <a:bodyPr wrap="square" lIns="25400" tIns="25400" rIns="25400" bIns="25400" rtlCol="0" anchor="t">
            <a:normAutofit/>
          </a:bodyPr>
          <a:lstStyle/>
          <a:p>
            <a:pPr algn="l" indent="0" marL="0">
              <a:lnSpc>
                <a:spcPct val="124583"/>
              </a:lnSpc>
              <a:buNone/>
            </a:pPr>
            <a:r>
              <a:rPr lang="en-US" sz="863" dirty="0">
                <a:solidFill>
                  <a:srgbClr val="87817A">
                    <a:alpha val="62000"/>
                  </a:srgbClr>
                </a:solidFill>
                <a:latin typeface="Arial" pitchFamily="34" charset="0"/>
                <a:ea typeface="Arial" pitchFamily="34" charset="-122"/>
                <a:cs typeface="Arial" pitchFamily="34" charset="-120"/>
              </a:rPr>
              <a:t>what tells us in weeks?</a:t>
            </a:r>
            <a:endParaRPr lang="en-US" sz="863" dirty="0"/>
          </a:p>
        </p:txBody>
      </p:sp>
      <p:sp>
        <p:nvSpPr>
          <p:cNvPr id="41" name="Shape 39"/>
          <p:cNvSpPr/>
          <p:nvPr/>
        </p:nvSpPr>
        <p:spPr>
          <a:xfrm>
            <a:off x="5081588" y="6750695"/>
            <a:ext cx="4171950" cy="942975"/>
          </a:xfrm>
          <a:prstGeom prst="roundRect">
            <a:avLst>
              <a:gd name="adj" fmla="val 8081"/>
            </a:avLst>
          </a:prstGeom>
          <a:ln w="12700">
            <a:solidFill>
              <a:srgbClr val="C3BEB5">
                <a:alpha val="62000"/>
              </a:srgbClr>
            </a:solidFill>
            <a:prstDash val="solid"/>
          </a:ln>
        </p:spPr>
      </p:sp>
      <p:sp>
        <p:nvSpPr>
          <p:cNvPr id="42" name="Shape 40"/>
          <p:cNvSpPr/>
          <p:nvPr/>
        </p:nvSpPr>
        <p:spPr>
          <a:xfrm>
            <a:off x="8853488" y="6641157"/>
            <a:ext cx="280988" cy="280988"/>
          </a:xfrm>
          <a:prstGeom prst="ellipse">
            <a:avLst/>
          </a:prstGeom>
          <a:solidFill>
            <a:srgbClr val="EFECE6">
              <a:alpha val="62000"/>
            </a:srgbClr>
          </a:solidFill>
          <a:ln w="12700">
            <a:solidFill>
              <a:srgbClr val="8A8479">
                <a:alpha val="62000"/>
              </a:srgbClr>
            </a:solidFill>
            <a:prstDash val="solid"/>
          </a:ln>
        </p:spPr>
      </p:sp>
      <p:sp>
        <p:nvSpPr>
          <p:cNvPr id="43" name="Text 41"/>
          <p:cNvSpPr/>
          <p:nvPr/>
        </p:nvSpPr>
        <p:spPr>
          <a:xfrm>
            <a:off x="8828087" y="6653857"/>
            <a:ext cx="331788" cy="293688"/>
          </a:xfrm>
          <a:prstGeom prst="rect">
            <a:avLst/>
          </a:prstGeom>
          <a:noFill/>
          <a:ln/>
        </p:spPr>
        <p:txBody>
          <a:bodyPr wrap="square" lIns="25400" tIns="25400" rIns="25400" bIns="25400" rtlCol="0" anchor="t">
            <a:normAutofit/>
          </a:bodyPr>
          <a:lstStyle/>
          <a:p>
            <a:pPr algn="ctr" indent="0" marL="0">
              <a:lnSpc>
                <a:spcPct val="140000"/>
              </a:lnSpc>
              <a:buNone/>
            </a:pPr>
            <a:r>
              <a:rPr lang="en-US" sz="638" b="1" dirty="0">
                <a:solidFill>
                  <a:srgbClr val="5A5449">
                    <a:alpha val="62000"/>
                  </a:srgbClr>
                </a:solidFill>
                <a:latin typeface="Courier New" pitchFamily="34" charset="0"/>
                <a:ea typeface="Courier New" pitchFamily="34" charset="-122"/>
                <a:cs typeface="Courier New" pitchFamily="34" charset="-120"/>
              </a:rPr>
              <a:t>3</a:t>
            </a:r>
            <a:endParaRPr lang="en-US" sz="638" dirty="0"/>
          </a:p>
        </p:txBody>
      </p:sp>
      <p:sp>
        <p:nvSpPr>
          <p:cNvPr id="44" name="Text 42"/>
          <p:cNvSpPr/>
          <p:nvPr/>
        </p:nvSpPr>
        <p:spPr>
          <a:xfrm>
            <a:off x="5200650" y="6869757"/>
            <a:ext cx="4051840" cy="180975"/>
          </a:xfrm>
          <a:prstGeom prst="rect">
            <a:avLst/>
          </a:prstGeom>
          <a:noFill/>
          <a:ln/>
        </p:spPr>
        <p:txBody>
          <a:bodyPr wrap="square" lIns="25400" tIns="25400" rIns="25400" bIns="25400" rtlCol="0" anchor="t">
            <a:normAutofit/>
          </a:bodyPr>
          <a:lstStyle/>
          <a:p>
            <a:pPr algn="l" indent="0" marL="0">
              <a:buNone/>
            </a:pPr>
            <a:r>
              <a:rPr lang="en-US" sz="638" b="1" spc="38" kern="0" dirty="0">
                <a:solidFill>
                  <a:srgbClr val="8A8479">
                    <a:alpha val="62000"/>
                  </a:srgbClr>
                </a:solidFill>
                <a:latin typeface="Courier New" pitchFamily="34" charset="0"/>
                <a:ea typeface="Courier New" pitchFamily="34" charset="-122"/>
                <a:cs typeface="Courier New" pitchFamily="34" charset="-120"/>
              </a:rPr>
              <a:t>LAGGING</a:t>
            </a:r>
            <a:endParaRPr lang="en-US" sz="638" dirty="0"/>
          </a:p>
        </p:txBody>
      </p:sp>
      <p:sp>
        <p:nvSpPr>
          <p:cNvPr id="45" name="Text 43"/>
          <p:cNvSpPr/>
          <p:nvPr/>
        </p:nvSpPr>
        <p:spPr>
          <a:xfrm>
            <a:off x="5200650" y="7084070"/>
            <a:ext cx="4051840" cy="251668"/>
          </a:xfrm>
          <a:prstGeom prst="rect">
            <a:avLst/>
          </a:prstGeom>
          <a:noFill/>
          <a:ln/>
        </p:spPr>
        <p:txBody>
          <a:bodyPr wrap="square" lIns="25400" tIns="25400" rIns="25400" bIns="25400" rtlCol="0" anchor="t">
            <a:normAutofit/>
          </a:bodyPr>
          <a:lstStyle/>
          <a:p>
            <a:pPr algn="l" indent="0" marL="0">
              <a:lnSpc>
                <a:spcPct val="124583"/>
              </a:lnSpc>
              <a:buNone/>
            </a:pPr>
            <a:r>
              <a:rPr lang="en-US" sz="863" dirty="0">
                <a:solidFill>
                  <a:srgbClr val="87817A">
                    <a:alpha val="62000"/>
                  </a:srgbClr>
                </a:solidFill>
                <a:latin typeface="Arial" pitchFamily="34" charset="0"/>
                <a:ea typeface="Arial" pitchFamily="34" charset="-122"/>
                <a:cs typeface="Arial" pitchFamily="34" charset="-120"/>
              </a:rPr>
              <a:t>what would convince a sceptic?</a:t>
            </a:r>
            <a:endParaRPr lang="en-US" sz="863" dirty="0"/>
          </a:p>
        </p:txBody>
      </p:sp>
      <p:sp>
        <p:nvSpPr>
          <p:cNvPr id="46" name="Text 44"/>
          <p:cNvSpPr/>
          <p:nvPr/>
        </p:nvSpPr>
        <p:spPr>
          <a:xfrm>
            <a:off x="823913" y="7836545"/>
            <a:ext cx="8682514"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the lit box is where we're talking · the others are questions I haven't asked yet</a:t>
            </a:r>
            <a:endParaRPr lang="en-US" sz="713" dirty="0"/>
          </a:p>
        </p:txBody>
      </p:sp>
      <p:sp>
        <p:nvSpPr>
          <p:cNvPr id="47" name="Text 45"/>
          <p:cNvSpPr/>
          <p:nvPr/>
        </p:nvSpPr>
        <p:spPr>
          <a:xfrm>
            <a:off x="9725025" y="2889796"/>
            <a:ext cx="4355973" cy="219075"/>
          </a:xfrm>
          <a:prstGeom prst="rect">
            <a:avLst/>
          </a:prstGeom>
          <a:noFill/>
          <a:ln/>
        </p:spPr>
        <p:txBody>
          <a:bodyPr wrap="square" lIns="25400" tIns="25400" rIns="25400" bIns="25400" rtlCol="0" anchor="t">
            <a:normAutofit/>
          </a:bodyPr>
          <a:lstStyle/>
          <a:p>
            <a:pPr algn="l" indent="0" marL="0">
              <a:buNone/>
            </a:pPr>
            <a:r>
              <a:rPr lang="en-US" sz="825" b="1" spc="66" kern="0" dirty="0">
                <a:solidFill>
                  <a:srgbClr val="1B1B1B">
                    <a:alpha val="50000"/>
                  </a:srgbClr>
                </a:solidFill>
                <a:latin typeface="Courier New" pitchFamily="34" charset="0"/>
                <a:ea typeface="Courier New" pitchFamily="34" charset="-122"/>
                <a:cs typeface="Courier New" pitchFamily="34" charset="-120"/>
              </a:rPr>
              <a:t>MOBILE</a:t>
            </a:r>
            <a:endParaRPr lang="en-US" sz="825" dirty="0"/>
          </a:p>
        </p:txBody>
      </p:sp>
      <p:sp>
        <p:nvSpPr>
          <p:cNvPr id="48" name="Shape 46"/>
          <p:cNvSpPr/>
          <p:nvPr/>
        </p:nvSpPr>
        <p:spPr>
          <a:xfrm>
            <a:off x="9725025" y="3185071"/>
            <a:ext cx="4229100" cy="4439543"/>
          </a:xfrm>
          <a:prstGeom prst="roundRect">
            <a:avLst>
              <a:gd name="adj" fmla="val 2703"/>
            </a:avLst>
          </a:prstGeom>
          <a:solidFill>
            <a:srgbClr val="FFFFFF"/>
          </a:solidFill>
          <a:ln w="19050">
            <a:solidFill>
              <a:srgbClr val="1B1B1B"/>
            </a:solidFill>
            <a:prstDash val="solid"/>
          </a:ln>
        </p:spPr>
      </p:sp>
      <p:sp>
        <p:nvSpPr>
          <p:cNvPr id="49" name="Text 47"/>
          <p:cNvSpPr/>
          <p:nvPr/>
        </p:nvSpPr>
        <p:spPr>
          <a:xfrm>
            <a:off x="9939338" y="3399383"/>
            <a:ext cx="2165747"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canvas ▾ we're in the centre</a:t>
            </a:r>
            <a:endParaRPr lang="en-US" sz="713" dirty="0"/>
          </a:p>
        </p:txBody>
      </p:sp>
      <p:sp>
        <p:nvSpPr>
          <p:cNvPr id="50" name="Text 48"/>
          <p:cNvSpPr/>
          <p:nvPr/>
        </p:nvSpPr>
        <p:spPr>
          <a:xfrm>
            <a:off x="13587710" y="3399383"/>
            <a:ext cx="228302"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a:t>
            </a:r>
            <a:endParaRPr lang="en-US" sz="713" dirty="0"/>
          </a:p>
        </p:txBody>
      </p:sp>
      <p:sp>
        <p:nvSpPr>
          <p:cNvPr id="51" name="Shape 49"/>
          <p:cNvSpPr/>
          <p:nvPr/>
        </p:nvSpPr>
        <p:spPr>
          <a:xfrm>
            <a:off x="9939338" y="3745855"/>
            <a:ext cx="1871663" cy="285750"/>
          </a:xfrm>
          <a:prstGeom prst="roundRect">
            <a:avLst>
              <a:gd name="adj" fmla="val 26667"/>
            </a:avLst>
          </a:prstGeom>
          <a:ln w="12700">
            <a:solidFill>
              <a:srgbClr val="C3BEB5">
                <a:alpha val="62000"/>
              </a:srgbClr>
            </a:solidFill>
            <a:prstDash val="solid"/>
          </a:ln>
        </p:spPr>
      </p:sp>
      <p:sp>
        <p:nvSpPr>
          <p:cNvPr id="52" name="Shape 50"/>
          <p:cNvSpPr/>
          <p:nvPr/>
        </p:nvSpPr>
        <p:spPr>
          <a:xfrm>
            <a:off x="11468100" y="3636318"/>
            <a:ext cx="223838" cy="223838"/>
          </a:xfrm>
          <a:prstGeom prst="ellipse">
            <a:avLst/>
          </a:prstGeom>
          <a:solidFill>
            <a:srgbClr val="EFECE6">
              <a:alpha val="62000"/>
            </a:srgbClr>
          </a:solidFill>
          <a:ln w="12700">
            <a:solidFill>
              <a:srgbClr val="8A8479">
                <a:alpha val="62000"/>
              </a:srgbClr>
            </a:solidFill>
            <a:prstDash val="solid"/>
          </a:ln>
        </p:spPr>
      </p:sp>
      <p:sp>
        <p:nvSpPr>
          <p:cNvPr id="53" name="Text 51"/>
          <p:cNvSpPr/>
          <p:nvPr/>
        </p:nvSpPr>
        <p:spPr>
          <a:xfrm>
            <a:off x="11442700" y="3649018"/>
            <a:ext cx="274638" cy="236538"/>
          </a:xfrm>
          <a:prstGeom prst="rect">
            <a:avLst/>
          </a:prstGeom>
          <a:noFill/>
          <a:ln/>
        </p:spPr>
        <p:txBody>
          <a:bodyPr wrap="square" lIns="25400" tIns="25400" rIns="25400" bIns="25400" rtlCol="0" anchor="t">
            <a:normAutofit/>
          </a:bodyPr>
          <a:lstStyle/>
          <a:p>
            <a:pPr algn="ctr" indent="0" marL="0">
              <a:lnSpc>
                <a:spcPct val="125000"/>
              </a:lnSpc>
              <a:buNone/>
            </a:pPr>
            <a:r>
              <a:rPr lang="en-US" sz="563" b="1" dirty="0">
                <a:solidFill>
                  <a:srgbClr val="5A5449">
                    <a:alpha val="62000"/>
                  </a:srgbClr>
                </a:solidFill>
                <a:latin typeface="Courier New" pitchFamily="34" charset="0"/>
                <a:ea typeface="Courier New" pitchFamily="34" charset="-122"/>
                <a:cs typeface="Courier New" pitchFamily="34" charset="-120"/>
              </a:rPr>
              <a:t>2</a:t>
            </a:r>
            <a:endParaRPr lang="en-US" sz="563" dirty="0"/>
          </a:p>
        </p:txBody>
      </p:sp>
      <p:sp>
        <p:nvSpPr>
          <p:cNvPr id="54" name="Shape 52"/>
          <p:cNvSpPr/>
          <p:nvPr/>
        </p:nvSpPr>
        <p:spPr>
          <a:xfrm>
            <a:off x="11868150" y="3745855"/>
            <a:ext cx="1871663" cy="285750"/>
          </a:xfrm>
          <a:prstGeom prst="roundRect">
            <a:avLst>
              <a:gd name="adj" fmla="val 26667"/>
            </a:avLst>
          </a:prstGeom>
          <a:ln w="12700">
            <a:solidFill>
              <a:srgbClr val="C3BEB5">
                <a:alpha val="62000"/>
              </a:srgbClr>
            </a:solidFill>
            <a:prstDash val="solid"/>
          </a:ln>
        </p:spPr>
      </p:sp>
      <p:sp>
        <p:nvSpPr>
          <p:cNvPr id="55" name="Shape 53"/>
          <p:cNvSpPr/>
          <p:nvPr/>
        </p:nvSpPr>
        <p:spPr>
          <a:xfrm>
            <a:off x="13396913" y="3636318"/>
            <a:ext cx="223838" cy="223838"/>
          </a:xfrm>
          <a:prstGeom prst="ellipse">
            <a:avLst/>
          </a:prstGeom>
          <a:solidFill>
            <a:srgbClr val="EFECE6">
              <a:alpha val="62000"/>
            </a:srgbClr>
          </a:solidFill>
          <a:ln w="12700">
            <a:solidFill>
              <a:srgbClr val="8A8479">
                <a:alpha val="62000"/>
              </a:srgbClr>
            </a:solidFill>
            <a:prstDash val="solid"/>
          </a:ln>
        </p:spPr>
      </p:sp>
      <p:sp>
        <p:nvSpPr>
          <p:cNvPr id="56" name="Text 54"/>
          <p:cNvSpPr/>
          <p:nvPr/>
        </p:nvSpPr>
        <p:spPr>
          <a:xfrm>
            <a:off x="13371512" y="3649018"/>
            <a:ext cx="274638" cy="236538"/>
          </a:xfrm>
          <a:prstGeom prst="rect">
            <a:avLst/>
          </a:prstGeom>
          <a:noFill/>
          <a:ln/>
        </p:spPr>
        <p:txBody>
          <a:bodyPr wrap="square" lIns="25400" tIns="25400" rIns="25400" bIns="25400" rtlCol="0" anchor="t">
            <a:normAutofit/>
          </a:bodyPr>
          <a:lstStyle/>
          <a:p>
            <a:pPr algn="ctr" indent="0" marL="0">
              <a:lnSpc>
                <a:spcPct val="125000"/>
              </a:lnSpc>
              <a:buNone/>
            </a:pPr>
            <a:r>
              <a:rPr lang="en-US" sz="563" b="1" dirty="0">
                <a:solidFill>
                  <a:srgbClr val="5A5449">
                    <a:alpha val="62000"/>
                  </a:srgbClr>
                </a:solidFill>
                <a:latin typeface="Courier New" pitchFamily="34" charset="0"/>
                <a:ea typeface="Courier New" pitchFamily="34" charset="-122"/>
                <a:cs typeface="Courier New" pitchFamily="34" charset="-120"/>
              </a:rPr>
              <a:t>4</a:t>
            </a:r>
            <a:endParaRPr lang="en-US" sz="563" dirty="0"/>
          </a:p>
        </p:txBody>
      </p:sp>
      <p:sp>
        <p:nvSpPr>
          <p:cNvPr id="57" name="Shape 55"/>
          <p:cNvSpPr/>
          <p:nvPr/>
        </p:nvSpPr>
        <p:spPr>
          <a:xfrm>
            <a:off x="9939338" y="4088755"/>
            <a:ext cx="3800475" cy="342900"/>
          </a:xfrm>
          <a:prstGeom prst="roundRect">
            <a:avLst>
              <a:gd name="adj" fmla="val 22222"/>
            </a:avLst>
          </a:prstGeom>
          <a:solidFill>
            <a:srgbClr val="FFFDF5"/>
          </a:solidFill>
          <a:ln w="19050">
            <a:solidFill>
              <a:srgbClr val="1B1B1B"/>
            </a:solidFill>
            <a:prstDash val="solid"/>
          </a:ln>
        </p:spPr>
      </p:sp>
      <p:sp>
        <p:nvSpPr>
          <p:cNvPr id="58" name="Text 56"/>
          <p:cNvSpPr/>
          <p:nvPr/>
        </p:nvSpPr>
        <p:spPr>
          <a:xfrm>
            <a:off x="10025063" y="4174480"/>
            <a:ext cx="3737896" cy="209550"/>
          </a:xfrm>
          <a:prstGeom prst="rect">
            <a:avLst/>
          </a:prstGeom>
          <a:noFill/>
          <a:ln/>
        </p:spPr>
        <p:txBody>
          <a:bodyPr wrap="square" lIns="25400" tIns="25400" rIns="25400" bIns="25400" rtlCol="0" anchor="t">
            <a:normAutofit/>
          </a:bodyPr>
          <a:lstStyle/>
          <a:p>
            <a:pPr algn="l" indent="0" marL="0">
              <a:lnSpc>
                <a:spcPct val="133333"/>
              </a:lnSpc>
              <a:buNone/>
            </a:pPr>
            <a:r>
              <a:rPr lang="en-US" sz="600" dirty="0">
                <a:solidFill>
                  <a:srgbClr val="6B665E"/>
                </a:solidFill>
                <a:latin typeface="Courier New" pitchFamily="34" charset="0"/>
                <a:ea typeface="Courier New" pitchFamily="34" charset="-122"/>
                <a:cs typeface="Courier New" pitchFamily="34" charset="-120"/>
              </a:rPr>
              <a:t>you are here</a:t>
            </a:r>
            <a:endParaRPr lang="en-US" sz="600" dirty="0"/>
          </a:p>
        </p:txBody>
      </p:sp>
      <p:sp>
        <p:nvSpPr>
          <p:cNvPr id="59" name="Shape 57"/>
          <p:cNvSpPr/>
          <p:nvPr/>
        </p:nvSpPr>
        <p:spPr>
          <a:xfrm>
            <a:off x="9939338" y="4488805"/>
            <a:ext cx="1871663" cy="285750"/>
          </a:xfrm>
          <a:prstGeom prst="roundRect">
            <a:avLst>
              <a:gd name="adj" fmla="val 26667"/>
            </a:avLst>
          </a:prstGeom>
          <a:ln w="12700">
            <a:solidFill>
              <a:srgbClr val="C3BEB5">
                <a:alpha val="62000"/>
              </a:srgbClr>
            </a:solidFill>
            <a:prstDash val="solid"/>
          </a:ln>
        </p:spPr>
      </p:sp>
      <p:sp>
        <p:nvSpPr>
          <p:cNvPr id="60" name="Shape 58"/>
          <p:cNvSpPr/>
          <p:nvPr/>
        </p:nvSpPr>
        <p:spPr>
          <a:xfrm>
            <a:off x="11468100" y="4379268"/>
            <a:ext cx="223838" cy="223838"/>
          </a:xfrm>
          <a:prstGeom prst="ellipse">
            <a:avLst/>
          </a:prstGeom>
          <a:solidFill>
            <a:srgbClr val="EFECE6">
              <a:alpha val="62000"/>
            </a:srgbClr>
          </a:solidFill>
          <a:ln w="12700">
            <a:solidFill>
              <a:srgbClr val="8A8479">
                <a:alpha val="62000"/>
              </a:srgbClr>
            </a:solidFill>
            <a:prstDash val="solid"/>
          </a:ln>
        </p:spPr>
      </p:sp>
      <p:sp>
        <p:nvSpPr>
          <p:cNvPr id="61" name="Text 59"/>
          <p:cNvSpPr/>
          <p:nvPr/>
        </p:nvSpPr>
        <p:spPr>
          <a:xfrm>
            <a:off x="11442700" y="4391968"/>
            <a:ext cx="274638" cy="236538"/>
          </a:xfrm>
          <a:prstGeom prst="rect">
            <a:avLst/>
          </a:prstGeom>
          <a:noFill/>
          <a:ln/>
        </p:spPr>
        <p:txBody>
          <a:bodyPr wrap="square" lIns="25400" tIns="25400" rIns="25400" bIns="25400" rtlCol="0" anchor="t">
            <a:normAutofit/>
          </a:bodyPr>
          <a:lstStyle/>
          <a:p>
            <a:pPr algn="ctr" indent="0" marL="0">
              <a:lnSpc>
                <a:spcPct val="125000"/>
              </a:lnSpc>
              <a:buNone/>
            </a:pPr>
            <a:r>
              <a:rPr lang="en-US" sz="563" b="1" dirty="0">
                <a:solidFill>
                  <a:srgbClr val="5A5449">
                    <a:alpha val="62000"/>
                  </a:srgbClr>
                </a:solidFill>
                <a:latin typeface="Courier New" pitchFamily="34" charset="0"/>
                <a:ea typeface="Courier New" pitchFamily="34" charset="-122"/>
                <a:cs typeface="Courier New" pitchFamily="34" charset="-120"/>
              </a:rPr>
              <a:t>5</a:t>
            </a:r>
            <a:endParaRPr lang="en-US" sz="563" dirty="0"/>
          </a:p>
        </p:txBody>
      </p:sp>
      <p:sp>
        <p:nvSpPr>
          <p:cNvPr id="62" name="Shape 60"/>
          <p:cNvSpPr/>
          <p:nvPr/>
        </p:nvSpPr>
        <p:spPr>
          <a:xfrm>
            <a:off x="11868150" y="4488805"/>
            <a:ext cx="1871663" cy="285750"/>
          </a:xfrm>
          <a:prstGeom prst="roundRect">
            <a:avLst>
              <a:gd name="adj" fmla="val 26667"/>
            </a:avLst>
          </a:prstGeom>
          <a:ln w="12700">
            <a:solidFill>
              <a:srgbClr val="C3BEB5">
                <a:alpha val="62000"/>
              </a:srgbClr>
            </a:solidFill>
            <a:prstDash val="solid"/>
          </a:ln>
        </p:spPr>
      </p:sp>
      <p:sp>
        <p:nvSpPr>
          <p:cNvPr id="63" name="Shape 61"/>
          <p:cNvSpPr/>
          <p:nvPr/>
        </p:nvSpPr>
        <p:spPr>
          <a:xfrm>
            <a:off x="13396913" y="4379268"/>
            <a:ext cx="223838" cy="223838"/>
          </a:xfrm>
          <a:prstGeom prst="ellipse">
            <a:avLst/>
          </a:prstGeom>
          <a:solidFill>
            <a:srgbClr val="EFECE6">
              <a:alpha val="62000"/>
            </a:srgbClr>
          </a:solidFill>
          <a:ln w="12700">
            <a:solidFill>
              <a:srgbClr val="8A8479">
                <a:alpha val="62000"/>
              </a:srgbClr>
            </a:solidFill>
            <a:prstDash val="solid"/>
          </a:ln>
        </p:spPr>
      </p:sp>
      <p:sp>
        <p:nvSpPr>
          <p:cNvPr id="64" name="Text 62"/>
          <p:cNvSpPr/>
          <p:nvPr/>
        </p:nvSpPr>
        <p:spPr>
          <a:xfrm>
            <a:off x="13371512" y="4391968"/>
            <a:ext cx="274638" cy="236538"/>
          </a:xfrm>
          <a:prstGeom prst="rect">
            <a:avLst/>
          </a:prstGeom>
          <a:noFill/>
          <a:ln/>
        </p:spPr>
        <p:txBody>
          <a:bodyPr wrap="square" lIns="25400" tIns="25400" rIns="25400" bIns="25400" rtlCol="0" anchor="t">
            <a:normAutofit/>
          </a:bodyPr>
          <a:lstStyle/>
          <a:p>
            <a:pPr algn="ctr" indent="0" marL="0">
              <a:lnSpc>
                <a:spcPct val="125000"/>
              </a:lnSpc>
              <a:buNone/>
            </a:pPr>
            <a:r>
              <a:rPr lang="en-US" sz="563" b="1" dirty="0">
                <a:solidFill>
                  <a:srgbClr val="5A5449">
                    <a:alpha val="62000"/>
                  </a:srgbClr>
                </a:solidFill>
                <a:latin typeface="Courier New" pitchFamily="34" charset="0"/>
                <a:ea typeface="Courier New" pitchFamily="34" charset="-122"/>
                <a:cs typeface="Courier New" pitchFamily="34" charset="-120"/>
              </a:rPr>
              <a:t>3</a:t>
            </a:r>
            <a:endParaRPr lang="en-US" sz="563" dirty="0"/>
          </a:p>
        </p:txBody>
      </p:sp>
      <p:sp>
        <p:nvSpPr>
          <p:cNvPr id="65" name="Shape 63"/>
          <p:cNvSpPr/>
          <p:nvPr/>
        </p:nvSpPr>
        <p:spPr>
          <a:xfrm>
            <a:off x="9939338" y="4917430"/>
            <a:ext cx="3800475" cy="14288"/>
          </a:xfrm>
          <a:prstGeom prst="rect">
            <a:avLst/>
          </a:prstGeom>
          <a:solidFill>
            <a:srgbClr val="E2DED7"/>
          </a:solidFill>
          <a:ln/>
        </p:spPr>
      </p:sp>
      <p:sp>
        <p:nvSpPr>
          <p:cNvPr id="66" name="Text 64"/>
          <p:cNvSpPr/>
          <p:nvPr/>
        </p:nvSpPr>
        <p:spPr>
          <a:xfrm>
            <a:off x="9939338" y="5074593"/>
            <a:ext cx="3914489" cy="770037"/>
          </a:xfrm>
          <a:prstGeom prst="rect">
            <a:avLst/>
          </a:prstGeom>
          <a:noFill/>
          <a:ln/>
        </p:spPr>
        <p:txBody>
          <a:bodyPr wrap="square" lIns="25400" tIns="25400" rIns="25400" bIns="25400" rtlCol="0" anchor="t">
            <a:normAutofit/>
          </a:bodyPr>
          <a:lstStyle/>
          <a:p>
            <a:pPr algn="l" indent="0" marL="0">
              <a:lnSpc>
                <a:spcPct val="106750"/>
              </a:lnSpc>
              <a:buNone/>
            </a:pPr>
            <a:r>
              <a:rPr lang="en-US" sz="1575" dirty="0">
                <a:solidFill>
                  <a:srgbClr val="1B1B1B"/>
                </a:solidFill>
                <a:latin typeface="Arial" pitchFamily="34" charset="0"/>
                <a:ea typeface="Arial" pitchFamily="34" charset="-122"/>
                <a:cs typeface="Arial" pitchFamily="34" charset="-120"/>
              </a:rPr>
              <a:t>What would they be doing differently if this worked?</a:t>
            </a:r>
            <a:endParaRPr lang="en-US" sz="1575" dirty="0"/>
          </a:p>
        </p:txBody>
      </p:sp>
      <p:sp>
        <p:nvSpPr>
          <p:cNvPr id="67" name="Shape 65"/>
          <p:cNvSpPr/>
          <p:nvPr/>
        </p:nvSpPr>
        <p:spPr>
          <a:xfrm>
            <a:off x="9939338" y="5949404"/>
            <a:ext cx="3800475" cy="941784"/>
          </a:xfrm>
          <a:prstGeom prst="roundRect">
            <a:avLst>
              <a:gd name="adj" fmla="val 9102"/>
            </a:avLst>
          </a:prstGeom>
          <a:ln w="12700">
            <a:solidFill>
              <a:srgbClr val="B3AEA6"/>
            </a:solidFill>
            <a:prstDash val="dash"/>
          </a:ln>
        </p:spPr>
      </p:sp>
      <p:sp>
        <p:nvSpPr>
          <p:cNvPr id="68" name="Shape 66"/>
          <p:cNvSpPr/>
          <p:nvPr/>
        </p:nvSpPr>
        <p:spPr>
          <a:xfrm>
            <a:off x="11646694" y="6218486"/>
            <a:ext cx="42863" cy="114300"/>
          </a:xfrm>
          <a:prstGeom prst="roundRect">
            <a:avLst>
              <a:gd name="adj" fmla="val 44444"/>
            </a:avLst>
          </a:prstGeom>
          <a:solidFill>
            <a:srgbClr val="1B1B1B"/>
          </a:solidFill>
          <a:ln/>
        </p:spPr>
      </p:sp>
      <p:sp>
        <p:nvSpPr>
          <p:cNvPr id="69" name="Shape 67"/>
          <p:cNvSpPr/>
          <p:nvPr/>
        </p:nvSpPr>
        <p:spPr>
          <a:xfrm>
            <a:off x="11732419" y="6161336"/>
            <a:ext cx="42863" cy="228600"/>
          </a:xfrm>
          <a:prstGeom prst="roundRect">
            <a:avLst>
              <a:gd name="adj" fmla="val 44444"/>
            </a:avLst>
          </a:prstGeom>
          <a:solidFill>
            <a:srgbClr val="1B1B1B"/>
          </a:solidFill>
          <a:ln/>
        </p:spPr>
      </p:sp>
      <p:sp>
        <p:nvSpPr>
          <p:cNvPr id="70" name="Shape 68"/>
          <p:cNvSpPr/>
          <p:nvPr/>
        </p:nvSpPr>
        <p:spPr>
          <a:xfrm>
            <a:off x="11818144" y="6104186"/>
            <a:ext cx="42863" cy="342900"/>
          </a:xfrm>
          <a:prstGeom prst="roundRect">
            <a:avLst>
              <a:gd name="adj" fmla="val 44444"/>
            </a:avLst>
          </a:prstGeom>
          <a:solidFill>
            <a:srgbClr val="1B1B1B"/>
          </a:solidFill>
          <a:ln/>
        </p:spPr>
      </p:sp>
      <p:sp>
        <p:nvSpPr>
          <p:cNvPr id="71" name="Shape 69"/>
          <p:cNvSpPr/>
          <p:nvPr/>
        </p:nvSpPr>
        <p:spPr>
          <a:xfrm>
            <a:off x="11903869" y="6197054"/>
            <a:ext cx="42863" cy="157163"/>
          </a:xfrm>
          <a:prstGeom prst="roundRect">
            <a:avLst>
              <a:gd name="adj" fmla="val 44444"/>
            </a:avLst>
          </a:prstGeom>
          <a:solidFill>
            <a:srgbClr val="1B1B1B"/>
          </a:solidFill>
          <a:ln/>
        </p:spPr>
      </p:sp>
      <p:sp>
        <p:nvSpPr>
          <p:cNvPr id="72" name="Shape 70"/>
          <p:cNvSpPr/>
          <p:nvPr/>
        </p:nvSpPr>
        <p:spPr>
          <a:xfrm>
            <a:off x="11989594" y="6139904"/>
            <a:ext cx="42863" cy="271463"/>
          </a:xfrm>
          <a:prstGeom prst="roundRect">
            <a:avLst>
              <a:gd name="adj" fmla="val 44444"/>
            </a:avLst>
          </a:prstGeom>
          <a:solidFill>
            <a:srgbClr val="1B1B1B"/>
          </a:solidFill>
          <a:ln/>
        </p:spPr>
      </p:sp>
      <p:sp>
        <p:nvSpPr>
          <p:cNvPr id="73" name="Text 71"/>
          <p:cNvSpPr/>
          <p:nvPr/>
        </p:nvSpPr>
        <p:spPr>
          <a:xfrm>
            <a:off x="11130558" y="6525667"/>
            <a:ext cx="1494234"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listening · or type</a:t>
            </a:r>
            <a:endParaRPr lang="en-US" sz="713" dirty="0"/>
          </a:p>
        </p:txBody>
      </p:sp>
      <p:sp>
        <p:nvSpPr>
          <p:cNvPr id="74" name="Shape 72"/>
          <p:cNvSpPr/>
          <p:nvPr/>
        </p:nvSpPr>
        <p:spPr>
          <a:xfrm rot="-72000">
            <a:off x="10572750" y="7098357"/>
            <a:ext cx="2533651" cy="247650"/>
          </a:xfrm>
          <a:prstGeom prst="roundRect">
            <a:avLst>
              <a:gd name="adj" fmla="val 7692"/>
            </a:avLst>
          </a:prstGeom>
          <a:solidFill>
            <a:srgbClr val="FFF6BF"/>
          </a:solidFill>
          <a:ln w="6350">
            <a:solidFill>
              <a:srgbClr val="E3D489"/>
            </a:solidFill>
            <a:prstDash val="solid"/>
          </a:ln>
          <a:effectLst>
            <a:outerShdw sx="100000" sy="100000" kx="0" ky="0" algn="bl" rotWithShape="0" blurRad="101600" dist="13470" dir="2700000">
              <a:srgbClr val="000000">
                <a:alpha val="8000"/>
              </a:srgbClr>
            </a:outerShdw>
          </a:effectLst>
        </p:spPr>
      </p:sp>
      <p:sp>
        <p:nvSpPr>
          <p:cNvPr id="75" name="Text 73"/>
          <p:cNvSpPr/>
          <p:nvPr/>
        </p:nvSpPr>
        <p:spPr>
          <a:xfrm rot="-72000">
            <a:off x="10636250" y="7152332"/>
            <a:ext cx="2482851" cy="177800"/>
          </a:xfrm>
          <a:prstGeom prst="rect">
            <a:avLst/>
          </a:prstGeom>
          <a:noFill/>
          <a:ln/>
        </p:spPr>
        <p:txBody>
          <a:bodyPr wrap="square" lIns="25400" tIns="25400" rIns="25400" bIns="25400" rtlCol="0" anchor="t">
            <a:normAutofit/>
          </a:bodyPr>
          <a:lstStyle/>
          <a:p>
            <a:pPr algn="l" indent="0" marL="0">
              <a:lnSpc>
                <a:spcPct val="107143"/>
              </a:lnSpc>
              <a:buNone/>
            </a:pPr>
            <a:r>
              <a:rPr lang="en-US" sz="900" dirty="0">
                <a:solidFill>
                  <a:srgbClr val="2B2620"/>
                </a:solidFill>
                <a:latin typeface="Arial" pitchFamily="34" charset="0"/>
                <a:ea typeface="Arial" pitchFamily="34" charset="-122"/>
                <a:cs typeface="Arial" pitchFamily="34" charset="-120"/>
              </a:rPr>
              <a:t>district managers</a:t>
            </a:r>
            <a:endParaRPr lang="en-US" sz="900" dirty="0"/>
          </a:p>
        </p:txBody>
      </p:sp>
      <p:sp>
        <p:nvSpPr>
          <p:cNvPr id="76" name="Text 74"/>
          <p:cNvSpPr/>
          <p:nvPr/>
        </p:nvSpPr>
        <p:spPr>
          <a:xfrm>
            <a:off x="14335125" y="5167313"/>
            <a:ext cx="3443573" cy="847725"/>
          </a:xfrm>
          <a:prstGeom prst="rect">
            <a:avLst/>
          </a:prstGeom>
          <a:noFill/>
          <a:ln/>
        </p:spPr>
        <p:txBody>
          <a:bodyPr wrap="square" lIns="25400" tIns="25400" rIns="25400" bIns="25400" rtlCol="0" anchor="t">
            <a:normAutofit/>
          </a:bodyPr>
          <a:lstStyle/>
          <a:p>
            <a:pPr algn="l" indent="0" marL="0">
              <a:lnSpc>
                <a:spcPct val="108974"/>
              </a:lnSpc>
              <a:buNone/>
            </a:pPr>
            <a:r>
              <a:rPr lang="en-US" sz="2550" dirty="0">
                <a:solidFill>
                  <a:srgbClr val="1B1B1B"/>
                </a:solidFill>
                <a:latin typeface="Arial" pitchFamily="34" charset="0"/>
                <a:ea typeface="Arial" pitchFamily="34" charset="-122"/>
                <a:cs typeface="Arial" pitchFamily="34" charset="-120"/>
              </a:rPr>
              <a:t>the box the conversation lives inside</a:t>
            </a:r>
            <a:endParaRPr lang="en-US" sz="2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FECE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FECE6"/>
          </a:solidFill>
          <a:ln/>
        </p:spPr>
      </p:sp>
      <p:sp>
        <p:nvSpPr>
          <p:cNvPr id="3" name="Shape 1"/>
          <p:cNvSpPr/>
          <p:nvPr/>
        </p:nvSpPr>
        <p:spPr>
          <a:xfrm>
            <a:off x="609600" y="1104900"/>
            <a:ext cx="17068800" cy="19050"/>
          </a:xfrm>
          <a:prstGeom prst="rect">
            <a:avLst/>
          </a:prstGeom>
          <a:solidFill>
            <a:srgbClr val="1B1B1B"/>
          </a:solidFill>
          <a:ln/>
        </p:spPr>
      </p:sp>
      <p:sp>
        <p:nvSpPr>
          <p:cNvPr id="4" name="Shape 2"/>
          <p:cNvSpPr/>
          <p:nvPr/>
        </p:nvSpPr>
        <p:spPr>
          <a:xfrm>
            <a:off x="609600" y="590550"/>
            <a:ext cx="459135" cy="381000"/>
          </a:xfrm>
          <a:prstGeom prst="roundRect">
            <a:avLst>
              <a:gd name="adj" fmla="val 17500"/>
            </a:avLst>
          </a:prstGeom>
          <a:solidFill>
            <a:srgbClr val="1B1B1B"/>
          </a:solidFill>
          <a:ln/>
        </p:spPr>
      </p:sp>
      <p:sp>
        <p:nvSpPr>
          <p:cNvPr id="5" name="Text 3"/>
          <p:cNvSpPr/>
          <p:nvPr/>
        </p:nvSpPr>
        <p:spPr>
          <a:xfrm>
            <a:off x="723900" y="676275"/>
            <a:ext cx="306735" cy="247650"/>
          </a:xfrm>
          <a:prstGeom prst="rect">
            <a:avLst/>
          </a:prstGeom>
          <a:noFill/>
          <a:ln/>
        </p:spPr>
        <p:txBody>
          <a:bodyPr wrap="square" lIns="25400" tIns="25400" rIns="25400" bIns="25400" rtlCol="0" anchor="t">
            <a:normAutofit/>
          </a:bodyPr>
          <a:lstStyle/>
          <a:p>
            <a:pPr algn="l" indent="0" marL="0">
              <a:lnSpc>
                <a:spcPct val="88000"/>
              </a:lnSpc>
              <a:buNone/>
            </a:pPr>
            <a:r>
              <a:rPr lang="en-US" sz="1650" b="1" dirty="0">
                <a:solidFill>
                  <a:srgbClr val="FFFFFF"/>
                </a:solidFill>
                <a:latin typeface="Courier New" pitchFamily="34" charset="0"/>
                <a:ea typeface="Courier New" pitchFamily="34" charset="-122"/>
                <a:cs typeface="Courier New" pitchFamily="34" charset="-120"/>
              </a:rPr>
              <a:t>07</a:t>
            </a:r>
            <a:endParaRPr lang="en-US" sz="1650" dirty="0"/>
          </a:p>
        </p:txBody>
      </p:sp>
      <p:sp>
        <p:nvSpPr>
          <p:cNvPr id="6" name="Text 4"/>
          <p:cNvSpPr/>
          <p:nvPr/>
        </p:nvSpPr>
        <p:spPr>
          <a:xfrm>
            <a:off x="1221135" y="504825"/>
            <a:ext cx="6250827" cy="457200"/>
          </a:xfrm>
          <a:prstGeom prst="rect">
            <a:avLst/>
          </a:prstGeom>
          <a:noFill/>
          <a:ln/>
        </p:spPr>
        <p:txBody>
          <a:bodyPr wrap="square" lIns="0" tIns="0" rIns="0" bIns="0" rtlCol="0" anchor="t">
            <a:normAutofit/>
          </a:bodyPr>
          <a:lstStyle/>
          <a:p>
            <a:pPr algn="l" indent="0" marL="0">
              <a:lnSpc>
                <a:spcPct val="102222"/>
              </a:lnSpc>
              <a:buNone/>
            </a:pPr>
            <a:r>
              <a:rPr lang="en-US" sz="3000" b="1" dirty="0">
                <a:solidFill>
                  <a:srgbClr val="1B1B1B"/>
                </a:solidFill>
                <a:latin typeface="Helvetica" pitchFamily="34" charset="0"/>
                <a:ea typeface="Helvetica" pitchFamily="34" charset="-122"/>
                <a:cs typeface="Helvetica" pitchFamily="34" charset="-120"/>
              </a:rPr>
              <a:t>Problem ② — then the jump to ③</a:t>
            </a:r>
            <a:endParaRPr lang="en-US" sz="3000" dirty="0"/>
          </a:p>
        </p:txBody>
      </p:sp>
      <p:sp>
        <p:nvSpPr>
          <p:cNvPr id="7" name="Text 5"/>
          <p:cNvSpPr/>
          <p:nvPr/>
        </p:nvSpPr>
        <p:spPr>
          <a:xfrm>
            <a:off x="16688098" y="695325"/>
            <a:ext cx="1066502" cy="228600"/>
          </a:xfrm>
          <a:prstGeom prst="rect">
            <a:avLst/>
          </a:prstGeom>
          <a:noFill/>
          <a:ln/>
        </p:spPr>
        <p:txBody>
          <a:bodyPr wrap="none" lIns="25400" tIns="25400" rIns="25400" bIns="25400" rtlCol="0" anchor="t">
            <a:normAutofit/>
          </a:bodyPr>
          <a:lstStyle/>
          <a:p>
            <a:pPr algn="l" indent="0" marL="0">
              <a:lnSpc>
                <a:spcPct val="86957"/>
              </a:lnSpc>
              <a:buNone/>
            </a:pPr>
            <a:r>
              <a:rPr lang="en-US" sz="1500" b="1" spc="150" kern="0" dirty="0">
                <a:solidFill>
                  <a:srgbClr val="8A8479"/>
                </a:solidFill>
                <a:latin typeface="Courier New" pitchFamily="34" charset="0"/>
                <a:ea typeface="Courier New" pitchFamily="34" charset="-122"/>
                <a:cs typeface="Courier New" pitchFamily="34" charset="-120"/>
              </a:rPr>
              <a:t>COACHING</a:t>
            </a:r>
            <a:endParaRPr lang="en-US" sz="1500" dirty="0"/>
          </a:p>
        </p:txBody>
      </p:sp>
      <p:sp>
        <p:nvSpPr>
          <p:cNvPr id="8" name="Text 6"/>
          <p:cNvSpPr/>
          <p:nvPr/>
        </p:nvSpPr>
        <p:spPr>
          <a:xfrm>
            <a:off x="609600" y="3226891"/>
            <a:ext cx="9123998" cy="219075"/>
          </a:xfrm>
          <a:prstGeom prst="rect">
            <a:avLst/>
          </a:prstGeom>
          <a:noFill/>
          <a:ln/>
        </p:spPr>
        <p:txBody>
          <a:bodyPr wrap="square" lIns="25400" tIns="25400" rIns="25400" bIns="25400" rtlCol="0" anchor="t">
            <a:normAutofit/>
          </a:bodyPr>
          <a:lstStyle/>
          <a:p>
            <a:pPr algn="l" indent="0" marL="0">
              <a:buNone/>
            </a:pPr>
            <a:r>
              <a:rPr lang="en-US" sz="825" b="1" spc="66" kern="0" dirty="0">
                <a:solidFill>
                  <a:srgbClr val="1B1B1B">
                    <a:alpha val="50000"/>
                  </a:srgbClr>
                </a:solidFill>
                <a:latin typeface="Courier New" pitchFamily="34" charset="0"/>
                <a:ea typeface="Courier New" pitchFamily="34" charset="-122"/>
                <a:cs typeface="Courier New" pitchFamily="34" charset="-120"/>
              </a:rPr>
              <a:t>DESKTOP</a:t>
            </a:r>
            <a:endParaRPr lang="en-US" sz="825" dirty="0"/>
          </a:p>
        </p:txBody>
      </p:sp>
      <p:sp>
        <p:nvSpPr>
          <p:cNvPr id="9" name="Shape 7"/>
          <p:cNvSpPr/>
          <p:nvPr/>
        </p:nvSpPr>
        <p:spPr>
          <a:xfrm>
            <a:off x="609600" y="3522166"/>
            <a:ext cx="8858250" cy="4078784"/>
          </a:xfrm>
          <a:prstGeom prst="roundRect">
            <a:avLst>
              <a:gd name="adj" fmla="val 2802"/>
            </a:avLst>
          </a:prstGeom>
          <a:solidFill>
            <a:srgbClr val="FFFFFF"/>
          </a:solidFill>
          <a:ln w="19050">
            <a:solidFill>
              <a:srgbClr val="1B1B1B"/>
            </a:solidFill>
            <a:prstDash val="solid"/>
          </a:ln>
        </p:spPr>
      </p:sp>
      <p:sp>
        <p:nvSpPr>
          <p:cNvPr id="10" name="Shape 8"/>
          <p:cNvSpPr/>
          <p:nvPr/>
        </p:nvSpPr>
        <p:spPr>
          <a:xfrm>
            <a:off x="823913" y="3736479"/>
            <a:ext cx="4171950" cy="942975"/>
          </a:xfrm>
          <a:prstGeom prst="roundRect">
            <a:avLst>
              <a:gd name="adj" fmla="val 8081"/>
            </a:avLst>
          </a:prstGeom>
          <a:solidFill>
            <a:srgbClr val="FFFDF5"/>
          </a:solidFill>
          <a:ln w="19050">
            <a:solidFill>
              <a:srgbClr val="1B1B1B"/>
            </a:solidFill>
            <a:prstDash val="solid"/>
          </a:ln>
        </p:spPr>
      </p:sp>
      <p:sp>
        <p:nvSpPr>
          <p:cNvPr id="11" name="Shape 9"/>
          <p:cNvSpPr/>
          <p:nvPr/>
        </p:nvSpPr>
        <p:spPr>
          <a:xfrm>
            <a:off x="4586288" y="3636466"/>
            <a:ext cx="280988" cy="280988"/>
          </a:xfrm>
          <a:prstGeom prst="ellipse">
            <a:avLst/>
          </a:prstGeom>
          <a:solidFill>
            <a:srgbClr val="1B1B1B"/>
          </a:solidFill>
          <a:ln w="12700">
            <a:solidFill>
              <a:srgbClr val="1B1B1B"/>
            </a:solidFill>
            <a:prstDash val="solid"/>
          </a:ln>
        </p:spPr>
      </p:sp>
      <p:sp>
        <p:nvSpPr>
          <p:cNvPr id="12" name="Text 10"/>
          <p:cNvSpPr/>
          <p:nvPr/>
        </p:nvSpPr>
        <p:spPr>
          <a:xfrm>
            <a:off x="4560887" y="3649166"/>
            <a:ext cx="331788" cy="293688"/>
          </a:xfrm>
          <a:prstGeom prst="rect">
            <a:avLst/>
          </a:prstGeom>
          <a:noFill/>
          <a:ln/>
        </p:spPr>
        <p:txBody>
          <a:bodyPr wrap="square" lIns="25400" tIns="25400" rIns="25400" bIns="25400" rtlCol="0" anchor="t">
            <a:normAutofit/>
          </a:bodyPr>
          <a:lstStyle/>
          <a:p>
            <a:pPr algn="ctr" indent="0" marL="0">
              <a:lnSpc>
                <a:spcPct val="140000"/>
              </a:lnSpc>
              <a:buNone/>
            </a:pPr>
            <a:r>
              <a:rPr lang="en-US" sz="638" b="1" dirty="0">
                <a:solidFill>
                  <a:srgbClr val="FFFFFF"/>
                </a:solidFill>
                <a:latin typeface="Courier New" pitchFamily="34" charset="0"/>
                <a:ea typeface="Courier New" pitchFamily="34" charset="-122"/>
                <a:cs typeface="Courier New" pitchFamily="34" charset="-120"/>
              </a:rPr>
              <a:t>2</a:t>
            </a:r>
            <a:endParaRPr lang="en-US" sz="638" dirty="0"/>
          </a:p>
        </p:txBody>
      </p:sp>
      <p:sp>
        <p:nvSpPr>
          <p:cNvPr id="13" name="Text 11"/>
          <p:cNvSpPr/>
          <p:nvPr/>
        </p:nvSpPr>
        <p:spPr>
          <a:xfrm>
            <a:off x="952500" y="3865066"/>
            <a:ext cx="4032218" cy="180975"/>
          </a:xfrm>
          <a:prstGeom prst="rect">
            <a:avLst/>
          </a:prstGeom>
          <a:noFill/>
          <a:ln/>
        </p:spPr>
        <p:txBody>
          <a:bodyPr wrap="square" lIns="25400" tIns="25400" rIns="25400" bIns="25400" rtlCol="0" anchor="t">
            <a:normAutofit/>
          </a:bodyPr>
          <a:lstStyle/>
          <a:p>
            <a:pPr algn="l" indent="0" marL="0">
              <a:buNone/>
            </a:pPr>
            <a:r>
              <a:rPr lang="en-US" sz="638" b="1" spc="38" kern="0" dirty="0">
                <a:solidFill>
                  <a:srgbClr val="8A8479"/>
                </a:solidFill>
                <a:latin typeface="Courier New" pitchFamily="34" charset="0"/>
                <a:ea typeface="Courier New" pitchFamily="34" charset="-122"/>
                <a:cs typeface="Courier New" pitchFamily="34" charset="-120"/>
              </a:rPr>
              <a:t>DRIVER → PROBLEM · WE'RE HERE</a:t>
            </a:r>
            <a:endParaRPr lang="en-US" sz="638" dirty="0"/>
          </a:p>
        </p:txBody>
      </p:sp>
      <p:sp>
        <p:nvSpPr>
          <p:cNvPr id="14" name="Shape 12"/>
          <p:cNvSpPr/>
          <p:nvPr/>
        </p:nvSpPr>
        <p:spPr>
          <a:xfrm rot="-72000">
            <a:off x="1604962" y="4143673"/>
            <a:ext cx="2609851" cy="247650"/>
          </a:xfrm>
          <a:prstGeom prst="roundRect">
            <a:avLst>
              <a:gd name="adj" fmla="val 7692"/>
            </a:avLst>
          </a:prstGeom>
          <a:solidFill>
            <a:srgbClr val="FFF6BF"/>
          </a:solidFill>
          <a:ln w="6350">
            <a:solidFill>
              <a:srgbClr val="E3D489"/>
            </a:solidFill>
            <a:prstDash val="solid"/>
          </a:ln>
          <a:effectLst>
            <a:outerShdw sx="100000" sy="100000" kx="0" ky="0" algn="bl" rotWithShape="0" blurRad="101600" dist="13470" dir="2700000">
              <a:srgbClr val="000000">
                <a:alpha val="8000"/>
              </a:srgbClr>
            </a:outerShdw>
          </a:effectLst>
        </p:spPr>
      </p:sp>
      <p:sp>
        <p:nvSpPr>
          <p:cNvPr id="15" name="Text 13"/>
          <p:cNvSpPr/>
          <p:nvPr/>
        </p:nvSpPr>
        <p:spPr>
          <a:xfrm rot="-72000">
            <a:off x="1668462" y="4197648"/>
            <a:ext cx="2561146" cy="177800"/>
          </a:xfrm>
          <a:prstGeom prst="rect">
            <a:avLst/>
          </a:prstGeom>
          <a:noFill/>
          <a:ln/>
        </p:spPr>
        <p:txBody>
          <a:bodyPr wrap="square" lIns="25400" tIns="25400" rIns="25400" bIns="25400" rtlCol="0" anchor="t">
            <a:normAutofit/>
          </a:bodyPr>
          <a:lstStyle/>
          <a:p>
            <a:pPr algn="l" indent="0" marL="0">
              <a:lnSpc>
                <a:spcPct val="107143"/>
              </a:lnSpc>
              <a:buNone/>
            </a:pPr>
            <a:r>
              <a:rPr lang="en-US" sz="900" dirty="0">
                <a:solidFill>
                  <a:srgbClr val="2B2620"/>
                </a:solidFill>
                <a:latin typeface="Arial" pitchFamily="34" charset="0"/>
                <a:ea typeface="Arial" pitchFamily="34" charset="-122"/>
                <a:cs typeface="Arial" pitchFamily="34" charset="-120"/>
              </a:rPr>
              <a:t>Counts take 3 hrs and happen at night</a:t>
            </a:r>
            <a:endParaRPr lang="en-US" sz="900" dirty="0"/>
          </a:p>
        </p:txBody>
      </p:sp>
      <p:sp>
        <p:nvSpPr>
          <p:cNvPr id="16" name="Shape 14"/>
          <p:cNvSpPr/>
          <p:nvPr/>
        </p:nvSpPr>
        <p:spPr>
          <a:xfrm>
            <a:off x="5081588" y="3736479"/>
            <a:ext cx="4171950" cy="942975"/>
          </a:xfrm>
          <a:prstGeom prst="roundRect">
            <a:avLst>
              <a:gd name="adj" fmla="val 8081"/>
            </a:avLst>
          </a:prstGeom>
          <a:ln w="12700">
            <a:solidFill>
              <a:srgbClr val="C3BEB5">
                <a:alpha val="62000"/>
              </a:srgbClr>
            </a:solidFill>
            <a:prstDash val="solid"/>
          </a:ln>
        </p:spPr>
      </p:sp>
      <p:sp>
        <p:nvSpPr>
          <p:cNvPr id="17" name="Shape 15"/>
          <p:cNvSpPr/>
          <p:nvPr/>
        </p:nvSpPr>
        <p:spPr>
          <a:xfrm>
            <a:off x="8853488" y="3626941"/>
            <a:ext cx="280988" cy="280988"/>
          </a:xfrm>
          <a:prstGeom prst="ellipse">
            <a:avLst/>
          </a:prstGeom>
          <a:solidFill>
            <a:srgbClr val="EFECE6">
              <a:alpha val="62000"/>
            </a:srgbClr>
          </a:solidFill>
          <a:ln w="12700">
            <a:solidFill>
              <a:srgbClr val="8A8479">
                <a:alpha val="62000"/>
              </a:srgbClr>
            </a:solidFill>
            <a:prstDash val="solid"/>
          </a:ln>
        </p:spPr>
      </p:sp>
      <p:sp>
        <p:nvSpPr>
          <p:cNvPr id="18" name="Text 16"/>
          <p:cNvSpPr/>
          <p:nvPr/>
        </p:nvSpPr>
        <p:spPr>
          <a:xfrm>
            <a:off x="8828087" y="3639641"/>
            <a:ext cx="331788" cy="293688"/>
          </a:xfrm>
          <a:prstGeom prst="rect">
            <a:avLst/>
          </a:prstGeom>
          <a:noFill/>
          <a:ln/>
        </p:spPr>
        <p:txBody>
          <a:bodyPr wrap="square" lIns="25400" tIns="25400" rIns="25400" bIns="25400" rtlCol="0" anchor="t">
            <a:normAutofit/>
          </a:bodyPr>
          <a:lstStyle/>
          <a:p>
            <a:pPr algn="ctr" indent="0" marL="0">
              <a:lnSpc>
                <a:spcPct val="140000"/>
              </a:lnSpc>
              <a:buNone/>
            </a:pPr>
            <a:r>
              <a:rPr lang="en-US" sz="638" b="1" dirty="0">
                <a:solidFill>
                  <a:srgbClr val="5A5449">
                    <a:alpha val="62000"/>
                  </a:srgbClr>
                </a:solidFill>
                <a:latin typeface="Courier New" pitchFamily="34" charset="0"/>
                <a:ea typeface="Courier New" pitchFamily="34" charset="-122"/>
                <a:cs typeface="Courier New" pitchFamily="34" charset="-120"/>
              </a:rPr>
              <a:t>4</a:t>
            </a:r>
            <a:endParaRPr lang="en-US" sz="638" dirty="0"/>
          </a:p>
        </p:txBody>
      </p:sp>
      <p:sp>
        <p:nvSpPr>
          <p:cNvPr id="19" name="Text 17"/>
          <p:cNvSpPr/>
          <p:nvPr/>
        </p:nvSpPr>
        <p:spPr>
          <a:xfrm>
            <a:off x="5200650" y="3855541"/>
            <a:ext cx="4051840" cy="180975"/>
          </a:xfrm>
          <a:prstGeom prst="rect">
            <a:avLst/>
          </a:prstGeom>
          <a:noFill/>
          <a:ln/>
        </p:spPr>
        <p:txBody>
          <a:bodyPr wrap="square" lIns="25400" tIns="25400" rIns="25400" bIns="25400" rtlCol="0" anchor="t">
            <a:normAutofit/>
          </a:bodyPr>
          <a:lstStyle/>
          <a:p>
            <a:pPr algn="l" indent="0" marL="0">
              <a:buNone/>
            </a:pPr>
            <a:r>
              <a:rPr lang="en-US" sz="638" b="1" spc="38" kern="0" dirty="0">
                <a:solidFill>
                  <a:srgbClr val="8A8479">
                    <a:alpha val="62000"/>
                  </a:srgbClr>
                </a:solidFill>
                <a:latin typeface="Courier New" pitchFamily="34" charset="0"/>
                <a:ea typeface="Courier New" pitchFamily="34" charset="-122"/>
                <a:cs typeface="Courier New" pitchFamily="34" charset="-120"/>
              </a:rPr>
              <a:t>OUTCOME HYPOTHESIS</a:t>
            </a:r>
            <a:endParaRPr lang="en-US" sz="638" dirty="0"/>
          </a:p>
        </p:txBody>
      </p:sp>
      <p:sp>
        <p:nvSpPr>
          <p:cNvPr id="20" name="Text 18"/>
          <p:cNvSpPr/>
          <p:nvPr/>
        </p:nvSpPr>
        <p:spPr>
          <a:xfrm>
            <a:off x="5200650" y="4069854"/>
            <a:ext cx="4051840" cy="251668"/>
          </a:xfrm>
          <a:prstGeom prst="rect">
            <a:avLst/>
          </a:prstGeom>
          <a:noFill/>
          <a:ln/>
        </p:spPr>
        <p:txBody>
          <a:bodyPr wrap="square" lIns="25400" tIns="25400" rIns="25400" bIns="25400" rtlCol="0" anchor="t">
            <a:normAutofit/>
          </a:bodyPr>
          <a:lstStyle/>
          <a:p>
            <a:pPr algn="l" indent="0" marL="0">
              <a:lnSpc>
                <a:spcPct val="124583"/>
              </a:lnSpc>
              <a:buNone/>
            </a:pPr>
            <a:r>
              <a:rPr lang="en-US" sz="863" dirty="0">
                <a:solidFill>
                  <a:srgbClr val="87817A">
                    <a:alpha val="62000"/>
                  </a:srgbClr>
                </a:solidFill>
                <a:latin typeface="Arial" pitchFamily="34" charset="0"/>
                <a:ea typeface="Arial" pitchFamily="34" charset="-122"/>
                <a:cs typeface="Arial" pitchFamily="34" charset="-120"/>
              </a:rPr>
              <a:t>not yet — see below</a:t>
            </a:r>
            <a:endParaRPr lang="en-US" sz="863" dirty="0"/>
          </a:p>
        </p:txBody>
      </p:sp>
      <p:sp>
        <p:nvSpPr>
          <p:cNvPr id="21" name="Shape 19"/>
          <p:cNvSpPr/>
          <p:nvPr/>
        </p:nvSpPr>
        <p:spPr>
          <a:xfrm>
            <a:off x="823913" y="4765179"/>
            <a:ext cx="8429625" cy="587573"/>
          </a:xfrm>
          <a:prstGeom prst="roundRect">
            <a:avLst>
              <a:gd name="adj" fmla="val 12969"/>
            </a:avLst>
          </a:prstGeom>
          <a:solidFill>
            <a:srgbClr val="FAF8F4">
              <a:alpha val="62000"/>
            </a:srgbClr>
          </a:solidFill>
          <a:ln w="12700">
            <a:solidFill>
              <a:srgbClr val="1B1B1B">
                <a:alpha val="62000"/>
              </a:srgbClr>
            </a:solidFill>
            <a:prstDash val="solid"/>
          </a:ln>
        </p:spPr>
      </p:sp>
      <p:sp>
        <p:nvSpPr>
          <p:cNvPr id="22" name="Shape 20"/>
          <p:cNvSpPr/>
          <p:nvPr/>
        </p:nvSpPr>
        <p:spPr>
          <a:xfrm>
            <a:off x="8853488" y="4655641"/>
            <a:ext cx="280988" cy="280988"/>
          </a:xfrm>
          <a:prstGeom prst="ellipse">
            <a:avLst/>
          </a:prstGeom>
          <a:solidFill>
            <a:srgbClr val="EFECE6">
              <a:alpha val="62000"/>
            </a:srgbClr>
          </a:solidFill>
          <a:ln w="12700">
            <a:solidFill>
              <a:srgbClr val="8A8479">
                <a:alpha val="62000"/>
              </a:srgbClr>
            </a:solidFill>
            <a:prstDash val="solid"/>
          </a:ln>
        </p:spPr>
      </p:sp>
      <p:sp>
        <p:nvSpPr>
          <p:cNvPr id="23" name="Text 21"/>
          <p:cNvSpPr/>
          <p:nvPr/>
        </p:nvSpPr>
        <p:spPr>
          <a:xfrm>
            <a:off x="8828087" y="4668341"/>
            <a:ext cx="331788" cy="293688"/>
          </a:xfrm>
          <a:prstGeom prst="rect">
            <a:avLst/>
          </a:prstGeom>
          <a:noFill/>
          <a:ln/>
        </p:spPr>
        <p:txBody>
          <a:bodyPr wrap="square" lIns="25400" tIns="25400" rIns="25400" bIns="25400" rtlCol="0" anchor="t">
            <a:normAutofit/>
          </a:bodyPr>
          <a:lstStyle/>
          <a:p>
            <a:pPr algn="ctr" indent="0" marL="0">
              <a:lnSpc>
                <a:spcPct val="140000"/>
              </a:lnSpc>
              <a:buNone/>
            </a:pPr>
            <a:r>
              <a:rPr lang="en-US" sz="638" b="1" dirty="0">
                <a:solidFill>
                  <a:srgbClr val="5A5449">
                    <a:alpha val="62000"/>
                  </a:srgbClr>
                </a:solidFill>
                <a:latin typeface="Courier New" pitchFamily="34" charset="0"/>
                <a:ea typeface="Courier New" pitchFamily="34" charset="-122"/>
                <a:cs typeface="Courier New" pitchFamily="34" charset="-120"/>
              </a:rPr>
              <a:t>1</a:t>
            </a:r>
            <a:endParaRPr lang="en-US" sz="638" dirty="0"/>
          </a:p>
        </p:txBody>
      </p:sp>
      <p:sp>
        <p:nvSpPr>
          <p:cNvPr id="24" name="Shape 22"/>
          <p:cNvSpPr/>
          <p:nvPr/>
        </p:nvSpPr>
        <p:spPr>
          <a:xfrm>
            <a:off x="942975" y="4884241"/>
            <a:ext cx="1285875" cy="349448"/>
          </a:xfrm>
          <a:prstGeom prst="roundRect">
            <a:avLst>
              <a:gd name="adj" fmla="val 5451"/>
            </a:avLst>
          </a:prstGeom>
          <a:solidFill>
            <a:srgbClr val="FFF6BF">
              <a:alpha val="62000"/>
            </a:srgbClr>
          </a:solidFill>
          <a:ln w="6350">
            <a:solidFill>
              <a:srgbClr val="E3D489">
                <a:alpha val="62000"/>
              </a:srgbClr>
            </a:solidFill>
            <a:prstDash val="solid"/>
          </a:ln>
          <a:effectLst>
            <a:outerShdw sx="100000" sy="100000" kx="0" ky="0" algn="bl" rotWithShape="0" blurRad="101600" dist="13470" dir="2700000">
              <a:srgbClr val="000000">
                <a:alpha val="4960"/>
              </a:srgbClr>
            </a:outerShdw>
          </a:effectLst>
        </p:spPr>
      </p:sp>
      <p:sp>
        <p:nvSpPr>
          <p:cNvPr id="25" name="Text 23"/>
          <p:cNvSpPr/>
          <p:nvPr/>
        </p:nvSpPr>
        <p:spPr>
          <a:xfrm>
            <a:off x="1006475" y="4938216"/>
            <a:ext cx="1235075" cy="279598"/>
          </a:xfrm>
          <a:prstGeom prst="rect">
            <a:avLst/>
          </a:prstGeom>
          <a:noFill/>
          <a:ln/>
        </p:spPr>
        <p:txBody>
          <a:bodyPr wrap="square" lIns="25400" tIns="25400" rIns="25400" bIns="25400" rtlCol="0" anchor="t">
            <a:normAutofit/>
          </a:bodyPr>
          <a:lstStyle/>
          <a:p>
            <a:pPr algn="l" indent="0" marL="0">
              <a:lnSpc>
                <a:spcPct val="109375"/>
              </a:lnSpc>
              <a:buNone/>
            </a:pPr>
            <a:r>
              <a:rPr lang="en-US" sz="788" dirty="0">
                <a:solidFill>
                  <a:srgbClr val="2B2620">
                    <a:alpha val="62000"/>
                  </a:srgbClr>
                </a:solidFill>
                <a:latin typeface="Arial" pitchFamily="34" charset="0"/>
                <a:ea typeface="Arial" pitchFamily="34" charset="-122"/>
                <a:cs typeface="Arial" pitchFamily="34" charset="-120"/>
              </a:rPr>
              <a:t>district managers</a:t>
            </a:r>
            <a:endParaRPr lang="en-US" sz="788" dirty="0"/>
          </a:p>
        </p:txBody>
      </p:sp>
      <p:sp>
        <p:nvSpPr>
          <p:cNvPr id="26" name="Shape 24"/>
          <p:cNvSpPr/>
          <p:nvPr/>
        </p:nvSpPr>
        <p:spPr>
          <a:xfrm>
            <a:off x="2357438" y="4884241"/>
            <a:ext cx="2036118" cy="349448"/>
          </a:xfrm>
          <a:prstGeom prst="roundRect">
            <a:avLst>
              <a:gd name="adj" fmla="val 5451"/>
            </a:avLst>
          </a:prstGeom>
          <a:solidFill>
            <a:srgbClr val="FFF6BF">
              <a:alpha val="62000"/>
            </a:srgbClr>
          </a:solidFill>
          <a:ln w="6350">
            <a:solidFill>
              <a:srgbClr val="E3D489">
                <a:alpha val="62000"/>
              </a:srgbClr>
            </a:solidFill>
            <a:prstDash val="solid"/>
          </a:ln>
          <a:effectLst>
            <a:outerShdw sx="100000" sy="100000" kx="0" ky="0" algn="bl" rotWithShape="0" blurRad="101600" dist="13470" dir="2700000">
              <a:srgbClr val="000000">
                <a:alpha val="4960"/>
              </a:srgbClr>
            </a:outerShdw>
          </a:effectLst>
        </p:spPr>
      </p:sp>
      <p:sp>
        <p:nvSpPr>
          <p:cNvPr id="27" name="Text 25"/>
          <p:cNvSpPr/>
          <p:nvPr/>
        </p:nvSpPr>
        <p:spPr>
          <a:xfrm>
            <a:off x="2420938" y="4938216"/>
            <a:ext cx="1985318" cy="279598"/>
          </a:xfrm>
          <a:prstGeom prst="rect">
            <a:avLst/>
          </a:prstGeom>
          <a:noFill/>
          <a:ln/>
        </p:spPr>
        <p:txBody>
          <a:bodyPr wrap="square" lIns="25400" tIns="25400" rIns="25400" bIns="25400" rtlCol="0" anchor="t">
            <a:normAutofit/>
          </a:bodyPr>
          <a:lstStyle/>
          <a:p>
            <a:pPr algn="l" indent="0" marL="0">
              <a:lnSpc>
                <a:spcPct val="109375"/>
              </a:lnSpc>
              <a:buNone/>
            </a:pPr>
            <a:r>
              <a:rPr lang="en-US" sz="788" dirty="0">
                <a:solidFill>
                  <a:srgbClr val="2B2620">
                    <a:alpha val="62000"/>
                  </a:srgbClr>
                </a:solidFill>
                <a:latin typeface="Arial" pitchFamily="34" charset="0"/>
                <a:ea typeface="Arial" pitchFamily="34" charset="-122"/>
                <a:cs typeface="Arial" pitchFamily="34" charset="-120"/>
              </a:rPr>
              <a:t>count in daylight, in minutes</a:t>
            </a:r>
            <a:endParaRPr lang="en-US" sz="788" dirty="0"/>
          </a:p>
        </p:txBody>
      </p:sp>
      <p:sp>
        <p:nvSpPr>
          <p:cNvPr id="28" name="Shape 26"/>
          <p:cNvSpPr/>
          <p:nvPr/>
        </p:nvSpPr>
        <p:spPr>
          <a:xfrm>
            <a:off x="823913" y="5438477"/>
            <a:ext cx="4171950" cy="942975"/>
          </a:xfrm>
          <a:prstGeom prst="roundRect">
            <a:avLst>
              <a:gd name="adj" fmla="val 8081"/>
            </a:avLst>
          </a:prstGeom>
          <a:ln w="12700">
            <a:solidFill>
              <a:srgbClr val="C3BEB5">
                <a:alpha val="62000"/>
              </a:srgbClr>
            </a:solidFill>
            <a:prstDash val="solid"/>
          </a:ln>
        </p:spPr>
      </p:sp>
      <p:sp>
        <p:nvSpPr>
          <p:cNvPr id="29" name="Shape 27"/>
          <p:cNvSpPr/>
          <p:nvPr/>
        </p:nvSpPr>
        <p:spPr>
          <a:xfrm>
            <a:off x="4595813" y="5328940"/>
            <a:ext cx="280988" cy="280988"/>
          </a:xfrm>
          <a:prstGeom prst="ellipse">
            <a:avLst/>
          </a:prstGeom>
          <a:solidFill>
            <a:srgbClr val="EFECE6">
              <a:alpha val="62000"/>
            </a:srgbClr>
          </a:solidFill>
          <a:ln w="12700">
            <a:solidFill>
              <a:srgbClr val="8A8479">
                <a:alpha val="62000"/>
              </a:srgbClr>
            </a:solidFill>
            <a:prstDash val="solid"/>
          </a:ln>
        </p:spPr>
      </p:sp>
      <p:sp>
        <p:nvSpPr>
          <p:cNvPr id="30" name="Text 28"/>
          <p:cNvSpPr/>
          <p:nvPr/>
        </p:nvSpPr>
        <p:spPr>
          <a:xfrm>
            <a:off x="4570412" y="5341640"/>
            <a:ext cx="331788" cy="293688"/>
          </a:xfrm>
          <a:prstGeom prst="rect">
            <a:avLst/>
          </a:prstGeom>
          <a:noFill/>
          <a:ln/>
        </p:spPr>
        <p:txBody>
          <a:bodyPr wrap="square" lIns="25400" tIns="25400" rIns="25400" bIns="25400" rtlCol="0" anchor="t">
            <a:normAutofit/>
          </a:bodyPr>
          <a:lstStyle/>
          <a:p>
            <a:pPr algn="ctr" indent="0" marL="0">
              <a:lnSpc>
                <a:spcPct val="140000"/>
              </a:lnSpc>
              <a:buNone/>
            </a:pPr>
            <a:r>
              <a:rPr lang="en-US" sz="638" b="1" dirty="0">
                <a:solidFill>
                  <a:srgbClr val="5A5449">
                    <a:alpha val="62000"/>
                  </a:srgbClr>
                </a:solidFill>
                <a:latin typeface="Courier New" pitchFamily="34" charset="0"/>
                <a:ea typeface="Courier New" pitchFamily="34" charset="-122"/>
                <a:cs typeface="Courier New" pitchFamily="34" charset="-120"/>
              </a:rPr>
              <a:t>5</a:t>
            </a:r>
            <a:endParaRPr lang="en-US" sz="638" dirty="0"/>
          </a:p>
        </p:txBody>
      </p:sp>
      <p:sp>
        <p:nvSpPr>
          <p:cNvPr id="31" name="Text 29"/>
          <p:cNvSpPr/>
          <p:nvPr/>
        </p:nvSpPr>
        <p:spPr>
          <a:xfrm>
            <a:off x="942975" y="5557540"/>
            <a:ext cx="4051840" cy="251668"/>
          </a:xfrm>
          <a:prstGeom prst="rect">
            <a:avLst/>
          </a:prstGeom>
          <a:noFill/>
          <a:ln/>
        </p:spPr>
        <p:txBody>
          <a:bodyPr wrap="square" lIns="25400" tIns="25400" rIns="25400" bIns="25400" rtlCol="0" anchor="t">
            <a:normAutofit/>
          </a:bodyPr>
          <a:lstStyle/>
          <a:p>
            <a:pPr algn="l" indent="0" marL="0">
              <a:lnSpc>
                <a:spcPct val="124583"/>
              </a:lnSpc>
              <a:buNone/>
            </a:pPr>
            <a:r>
              <a:rPr lang="en-US" sz="863" dirty="0">
                <a:solidFill>
                  <a:srgbClr val="87817A">
                    <a:alpha val="62000"/>
                  </a:srgbClr>
                </a:solidFill>
                <a:latin typeface="Arial" pitchFamily="34" charset="0"/>
                <a:ea typeface="Arial" pitchFamily="34" charset="-122"/>
                <a:cs typeface="Arial" pitchFamily="34" charset="-120"/>
              </a:rPr>
              <a:t>what tells us in weeks?</a:t>
            </a:r>
            <a:endParaRPr lang="en-US" sz="863" dirty="0"/>
          </a:p>
        </p:txBody>
      </p:sp>
      <p:sp>
        <p:nvSpPr>
          <p:cNvPr id="32" name="Shape 30"/>
          <p:cNvSpPr/>
          <p:nvPr/>
        </p:nvSpPr>
        <p:spPr>
          <a:xfrm>
            <a:off x="5081588" y="5438477"/>
            <a:ext cx="4171950" cy="942975"/>
          </a:xfrm>
          <a:prstGeom prst="roundRect">
            <a:avLst>
              <a:gd name="adj" fmla="val 8081"/>
            </a:avLst>
          </a:prstGeom>
          <a:ln w="12700">
            <a:solidFill>
              <a:srgbClr val="C3BEB5">
                <a:alpha val="62000"/>
              </a:srgbClr>
            </a:solidFill>
            <a:prstDash val="solid"/>
          </a:ln>
        </p:spPr>
      </p:sp>
      <p:sp>
        <p:nvSpPr>
          <p:cNvPr id="33" name="Shape 31"/>
          <p:cNvSpPr/>
          <p:nvPr/>
        </p:nvSpPr>
        <p:spPr>
          <a:xfrm>
            <a:off x="8853488" y="5328940"/>
            <a:ext cx="280988" cy="280988"/>
          </a:xfrm>
          <a:prstGeom prst="ellipse">
            <a:avLst/>
          </a:prstGeom>
          <a:solidFill>
            <a:srgbClr val="EFECE6">
              <a:alpha val="62000"/>
            </a:srgbClr>
          </a:solidFill>
          <a:ln w="12700">
            <a:solidFill>
              <a:srgbClr val="8A8479">
                <a:alpha val="62000"/>
              </a:srgbClr>
            </a:solidFill>
            <a:prstDash val="solid"/>
          </a:ln>
        </p:spPr>
      </p:sp>
      <p:sp>
        <p:nvSpPr>
          <p:cNvPr id="34" name="Text 32"/>
          <p:cNvSpPr/>
          <p:nvPr/>
        </p:nvSpPr>
        <p:spPr>
          <a:xfrm>
            <a:off x="8828087" y="5341640"/>
            <a:ext cx="331788" cy="293688"/>
          </a:xfrm>
          <a:prstGeom prst="rect">
            <a:avLst/>
          </a:prstGeom>
          <a:noFill/>
          <a:ln/>
        </p:spPr>
        <p:txBody>
          <a:bodyPr wrap="square" lIns="25400" tIns="25400" rIns="25400" bIns="25400" rtlCol="0" anchor="t">
            <a:normAutofit/>
          </a:bodyPr>
          <a:lstStyle/>
          <a:p>
            <a:pPr algn="ctr" indent="0" marL="0">
              <a:lnSpc>
                <a:spcPct val="140000"/>
              </a:lnSpc>
              <a:buNone/>
            </a:pPr>
            <a:r>
              <a:rPr lang="en-US" sz="638" b="1" dirty="0">
                <a:solidFill>
                  <a:srgbClr val="5A5449">
                    <a:alpha val="62000"/>
                  </a:srgbClr>
                </a:solidFill>
                <a:latin typeface="Courier New" pitchFamily="34" charset="0"/>
                <a:ea typeface="Courier New" pitchFamily="34" charset="-122"/>
                <a:cs typeface="Courier New" pitchFamily="34" charset="-120"/>
              </a:rPr>
              <a:t>3</a:t>
            </a:r>
            <a:endParaRPr lang="en-US" sz="638" dirty="0"/>
          </a:p>
        </p:txBody>
      </p:sp>
      <p:sp>
        <p:nvSpPr>
          <p:cNvPr id="35" name="Text 33"/>
          <p:cNvSpPr/>
          <p:nvPr/>
        </p:nvSpPr>
        <p:spPr>
          <a:xfrm>
            <a:off x="5200650" y="5557540"/>
            <a:ext cx="4051840" cy="251668"/>
          </a:xfrm>
          <a:prstGeom prst="rect">
            <a:avLst/>
          </a:prstGeom>
          <a:noFill/>
          <a:ln/>
        </p:spPr>
        <p:txBody>
          <a:bodyPr wrap="square" lIns="25400" tIns="25400" rIns="25400" bIns="25400" rtlCol="0" anchor="t">
            <a:normAutofit/>
          </a:bodyPr>
          <a:lstStyle/>
          <a:p>
            <a:pPr algn="l" indent="0" marL="0">
              <a:lnSpc>
                <a:spcPct val="124583"/>
              </a:lnSpc>
              <a:buNone/>
            </a:pPr>
            <a:r>
              <a:rPr lang="en-US" sz="863" dirty="0">
                <a:solidFill>
                  <a:srgbClr val="87817A">
                    <a:alpha val="62000"/>
                  </a:srgbClr>
                </a:solidFill>
                <a:latin typeface="Arial" pitchFamily="34" charset="0"/>
                <a:ea typeface="Arial" pitchFamily="34" charset="-122"/>
                <a:cs typeface="Arial" pitchFamily="34" charset="-120"/>
              </a:rPr>
              <a:t>up next, before the bet</a:t>
            </a:r>
            <a:endParaRPr lang="en-US" sz="863" dirty="0"/>
          </a:p>
        </p:txBody>
      </p:sp>
      <p:sp>
        <p:nvSpPr>
          <p:cNvPr id="36" name="Shape 34"/>
          <p:cNvSpPr/>
          <p:nvPr/>
        </p:nvSpPr>
        <p:spPr>
          <a:xfrm>
            <a:off x="823913" y="6524327"/>
            <a:ext cx="8429625" cy="862310"/>
          </a:xfrm>
          <a:prstGeom prst="roundRect">
            <a:avLst>
              <a:gd name="adj" fmla="val 9941"/>
            </a:avLst>
          </a:prstGeom>
          <a:solidFill>
            <a:srgbClr val="FAF8F4"/>
          </a:solidFill>
          <a:ln w="12700">
            <a:solidFill>
              <a:srgbClr val="B3AEA6"/>
            </a:solidFill>
            <a:prstDash val="dash"/>
          </a:ln>
        </p:spPr>
      </p:sp>
      <p:sp>
        <p:nvSpPr>
          <p:cNvPr id="37" name="Text 35"/>
          <p:cNvSpPr/>
          <p:nvPr/>
        </p:nvSpPr>
        <p:spPr>
          <a:xfrm>
            <a:off x="985838" y="6686252"/>
            <a:ext cx="8348948" cy="576560"/>
          </a:xfrm>
          <a:prstGeom prst="rect">
            <a:avLst/>
          </a:prstGeom>
          <a:noFill/>
          <a:ln/>
        </p:spPr>
        <p:txBody>
          <a:bodyPr wrap="square" lIns="25400" tIns="25400" rIns="25400" bIns="25400" rtlCol="0" anchor="t">
            <a:normAutofit/>
          </a:bodyPr>
          <a:lstStyle/>
          <a:p>
            <a:pPr algn="l" indent="0" marL="0">
              <a:lnSpc>
                <a:spcPct val="117813"/>
              </a:lnSpc>
              <a:buNone/>
            </a:pPr>
            <a:r>
              <a:rPr lang="en-US" sz="1088" dirty="0">
                <a:solidFill>
                  <a:srgbClr val="1B1B1B"/>
                </a:solidFill>
                <a:latin typeface="Arial" pitchFamily="34" charset="0"/>
                <a:ea typeface="Arial" pitchFamily="34" charset="-122"/>
                <a:cs typeface="Arial" pitchFamily="34" charset="-120"/>
              </a:rPr>
              <a:t>Now — before we write the bet, tell me how you'd know it landed. I do it this way round on purpose: write the clever sentence first and we'll pick measures that flatter it.</a:t>
            </a:r>
            <a:endParaRPr lang="en-US" sz="1088" dirty="0"/>
          </a:p>
        </p:txBody>
      </p:sp>
      <p:sp>
        <p:nvSpPr>
          <p:cNvPr id="38" name="Text 36"/>
          <p:cNvSpPr/>
          <p:nvPr/>
        </p:nvSpPr>
        <p:spPr>
          <a:xfrm>
            <a:off x="9725025" y="3226891"/>
            <a:ext cx="4355973" cy="219075"/>
          </a:xfrm>
          <a:prstGeom prst="rect">
            <a:avLst/>
          </a:prstGeom>
          <a:noFill/>
          <a:ln/>
        </p:spPr>
        <p:txBody>
          <a:bodyPr wrap="square" lIns="25400" tIns="25400" rIns="25400" bIns="25400" rtlCol="0" anchor="t">
            <a:normAutofit/>
          </a:bodyPr>
          <a:lstStyle/>
          <a:p>
            <a:pPr algn="l" indent="0" marL="0">
              <a:buNone/>
            </a:pPr>
            <a:r>
              <a:rPr lang="en-US" sz="825" b="1" spc="66" kern="0" dirty="0">
                <a:solidFill>
                  <a:srgbClr val="1B1B1B">
                    <a:alpha val="50000"/>
                  </a:srgbClr>
                </a:solidFill>
                <a:latin typeface="Courier New" pitchFamily="34" charset="0"/>
                <a:ea typeface="Courier New" pitchFamily="34" charset="-122"/>
                <a:cs typeface="Courier New" pitchFamily="34" charset="-120"/>
              </a:rPr>
              <a:t>MOBILE</a:t>
            </a:r>
            <a:endParaRPr lang="en-US" sz="825" dirty="0"/>
          </a:p>
        </p:txBody>
      </p:sp>
      <p:sp>
        <p:nvSpPr>
          <p:cNvPr id="39" name="Shape 37"/>
          <p:cNvSpPr/>
          <p:nvPr/>
        </p:nvSpPr>
        <p:spPr>
          <a:xfrm>
            <a:off x="9725025" y="3522166"/>
            <a:ext cx="4229100" cy="4395192"/>
          </a:xfrm>
          <a:prstGeom prst="roundRect">
            <a:avLst>
              <a:gd name="adj" fmla="val 2703"/>
            </a:avLst>
          </a:prstGeom>
          <a:solidFill>
            <a:srgbClr val="FFFFFF"/>
          </a:solidFill>
          <a:ln w="19050">
            <a:solidFill>
              <a:srgbClr val="1B1B1B"/>
            </a:solidFill>
            <a:prstDash val="solid"/>
          </a:ln>
        </p:spPr>
      </p:sp>
      <p:sp>
        <p:nvSpPr>
          <p:cNvPr id="40" name="Text 38"/>
          <p:cNvSpPr/>
          <p:nvPr/>
        </p:nvSpPr>
        <p:spPr>
          <a:xfrm>
            <a:off x="9939338" y="3736479"/>
            <a:ext cx="3914489"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canvas ▾ problem statement</a:t>
            </a:r>
            <a:endParaRPr lang="en-US" sz="713" dirty="0"/>
          </a:p>
        </p:txBody>
      </p:sp>
      <p:sp>
        <p:nvSpPr>
          <p:cNvPr id="41" name="Shape 39"/>
          <p:cNvSpPr/>
          <p:nvPr/>
        </p:nvSpPr>
        <p:spPr>
          <a:xfrm rot="-72000">
            <a:off x="10572750" y="4147244"/>
            <a:ext cx="2533651" cy="247650"/>
          </a:xfrm>
          <a:prstGeom prst="roundRect">
            <a:avLst>
              <a:gd name="adj" fmla="val 7692"/>
            </a:avLst>
          </a:prstGeom>
          <a:solidFill>
            <a:srgbClr val="FFF6BF"/>
          </a:solidFill>
          <a:ln w="6350">
            <a:solidFill>
              <a:srgbClr val="E3D489"/>
            </a:solidFill>
            <a:prstDash val="solid"/>
          </a:ln>
          <a:effectLst>
            <a:outerShdw sx="100000" sy="100000" kx="0" ky="0" algn="bl" rotWithShape="0" blurRad="101600" dist="13470" dir="2700000">
              <a:srgbClr val="000000">
                <a:alpha val="8000"/>
              </a:srgbClr>
            </a:outerShdw>
          </a:effectLst>
        </p:spPr>
      </p:sp>
      <p:sp>
        <p:nvSpPr>
          <p:cNvPr id="42" name="Text 40"/>
          <p:cNvSpPr/>
          <p:nvPr/>
        </p:nvSpPr>
        <p:spPr>
          <a:xfrm rot="-72000">
            <a:off x="10636250" y="4201220"/>
            <a:ext cx="2482851" cy="177800"/>
          </a:xfrm>
          <a:prstGeom prst="rect">
            <a:avLst/>
          </a:prstGeom>
          <a:noFill/>
          <a:ln/>
        </p:spPr>
        <p:txBody>
          <a:bodyPr wrap="square" lIns="25400" tIns="25400" rIns="25400" bIns="25400" rtlCol="0" anchor="t">
            <a:normAutofit/>
          </a:bodyPr>
          <a:lstStyle/>
          <a:p>
            <a:pPr algn="l" indent="0" marL="0">
              <a:lnSpc>
                <a:spcPct val="107143"/>
              </a:lnSpc>
              <a:buNone/>
            </a:pPr>
            <a:r>
              <a:rPr lang="en-US" sz="900" dirty="0">
                <a:solidFill>
                  <a:srgbClr val="2B2620"/>
                </a:solidFill>
                <a:latin typeface="Arial" pitchFamily="34" charset="0"/>
                <a:ea typeface="Arial" pitchFamily="34" charset="-122"/>
                <a:cs typeface="Arial" pitchFamily="34" charset="-120"/>
              </a:rPr>
              <a:t>Counts take 3 hrs, at night</a:t>
            </a:r>
            <a:endParaRPr lang="en-US" sz="900" dirty="0"/>
          </a:p>
        </p:txBody>
      </p:sp>
      <p:sp>
        <p:nvSpPr>
          <p:cNvPr id="43" name="Shape 41"/>
          <p:cNvSpPr/>
          <p:nvPr/>
        </p:nvSpPr>
        <p:spPr>
          <a:xfrm>
            <a:off x="9939338" y="4602063"/>
            <a:ext cx="3800475" cy="14288"/>
          </a:xfrm>
          <a:prstGeom prst="rect">
            <a:avLst/>
          </a:prstGeom>
          <a:solidFill>
            <a:srgbClr val="E2DED7"/>
          </a:solidFill>
          <a:ln/>
        </p:spPr>
      </p:sp>
      <p:sp>
        <p:nvSpPr>
          <p:cNvPr id="44" name="Text 42"/>
          <p:cNvSpPr/>
          <p:nvPr/>
        </p:nvSpPr>
        <p:spPr>
          <a:xfrm>
            <a:off x="9939338" y="4759226"/>
            <a:ext cx="3914489" cy="1136005"/>
          </a:xfrm>
          <a:prstGeom prst="rect">
            <a:avLst/>
          </a:prstGeom>
          <a:noFill/>
          <a:ln/>
        </p:spPr>
        <p:txBody>
          <a:bodyPr wrap="square" lIns="25400" tIns="25400" rIns="25400" bIns="25400" rtlCol="0" anchor="t">
            <a:normAutofit/>
          </a:bodyPr>
          <a:lstStyle/>
          <a:p>
            <a:pPr algn="l" indent="0" marL="0">
              <a:lnSpc>
                <a:spcPct val="106750"/>
              </a:lnSpc>
              <a:buNone/>
            </a:pPr>
            <a:r>
              <a:rPr lang="en-US" sz="1575" dirty="0">
                <a:solidFill>
                  <a:srgbClr val="1B1B1B"/>
                </a:solidFill>
                <a:latin typeface="Arial" pitchFamily="34" charset="0"/>
                <a:ea typeface="Arial" pitchFamily="34" charset="-122"/>
                <a:cs typeface="Arial" pitchFamily="34" charset="-120"/>
              </a:rPr>
              <a:t>Before we write the bet — how would you know it landed?</a:t>
            </a:r>
            <a:endParaRPr lang="en-US" sz="1575" dirty="0"/>
          </a:p>
        </p:txBody>
      </p:sp>
      <p:sp>
        <p:nvSpPr>
          <p:cNvPr id="45" name="Shape 43"/>
          <p:cNvSpPr/>
          <p:nvPr/>
        </p:nvSpPr>
        <p:spPr>
          <a:xfrm>
            <a:off x="9939338" y="6000006"/>
            <a:ext cx="3800475" cy="1131540"/>
          </a:xfrm>
          <a:prstGeom prst="roundRect">
            <a:avLst>
              <a:gd name="adj" fmla="val 7576"/>
            </a:avLst>
          </a:prstGeom>
          <a:ln w="12700">
            <a:solidFill>
              <a:srgbClr val="B3AEA6"/>
            </a:solidFill>
            <a:prstDash val="dash"/>
          </a:ln>
        </p:spPr>
      </p:sp>
      <p:sp>
        <p:nvSpPr>
          <p:cNvPr id="46" name="Text 44"/>
          <p:cNvSpPr/>
          <p:nvPr/>
        </p:nvSpPr>
        <p:spPr>
          <a:xfrm>
            <a:off x="10101263" y="6161931"/>
            <a:ext cx="3580924" cy="845790"/>
          </a:xfrm>
          <a:prstGeom prst="rect">
            <a:avLst/>
          </a:prstGeom>
          <a:noFill/>
          <a:ln/>
        </p:spPr>
        <p:txBody>
          <a:bodyPr wrap="square" lIns="25400" tIns="25400" rIns="25400" bIns="25400" rtlCol="0" anchor="t">
            <a:normAutofit/>
          </a:bodyPr>
          <a:lstStyle/>
          <a:p>
            <a:pPr algn="l" indent="0" marL="0">
              <a:lnSpc>
                <a:spcPct val="117813"/>
              </a:lnSpc>
              <a:buNone/>
            </a:pPr>
            <a:r>
              <a:rPr lang="en-US" sz="1088" dirty="0">
                <a:solidFill>
                  <a:srgbClr val="1B1B1B"/>
                </a:solidFill>
                <a:latin typeface="Arial" pitchFamily="34" charset="0"/>
                <a:ea typeface="Arial" pitchFamily="34" charset="-122"/>
                <a:cs typeface="Arial" pitchFamily="34" charset="-120"/>
              </a:rPr>
              <a:t>Other way round on purpose. Write the sentence first and we'll pick measures that flatter it.</a:t>
            </a:r>
            <a:endParaRPr lang="en-US" sz="1088" dirty="0"/>
          </a:p>
        </p:txBody>
      </p:sp>
      <p:sp>
        <p:nvSpPr>
          <p:cNvPr id="47" name="Text 45"/>
          <p:cNvSpPr/>
          <p:nvPr/>
        </p:nvSpPr>
        <p:spPr>
          <a:xfrm>
            <a:off x="9939338" y="7386935"/>
            <a:ext cx="1568797"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jumping to ③ lagging</a:t>
            </a:r>
            <a:endParaRPr lang="en-US" sz="713" dirty="0"/>
          </a:p>
        </p:txBody>
      </p:sp>
      <p:sp>
        <p:nvSpPr>
          <p:cNvPr id="48" name="Shape 46"/>
          <p:cNvSpPr/>
          <p:nvPr/>
        </p:nvSpPr>
        <p:spPr>
          <a:xfrm>
            <a:off x="11546235" y="7274421"/>
            <a:ext cx="1112044" cy="428625"/>
          </a:xfrm>
          <a:prstGeom prst="roundRect">
            <a:avLst>
              <a:gd name="adj" fmla="val 44444"/>
            </a:avLst>
          </a:prstGeom>
          <a:solidFill>
            <a:srgbClr val="FAF8F4"/>
          </a:solidFill>
          <a:ln w="12700">
            <a:solidFill>
              <a:srgbClr val="9A968E"/>
            </a:solidFill>
            <a:prstDash val="dash"/>
          </a:ln>
        </p:spPr>
      </p:sp>
      <p:sp>
        <p:nvSpPr>
          <p:cNvPr id="49" name="Text 47"/>
          <p:cNvSpPr/>
          <p:nvPr/>
        </p:nvSpPr>
        <p:spPr>
          <a:xfrm>
            <a:off x="11654185" y="7325221"/>
            <a:ext cx="972344" cy="365125"/>
          </a:xfrm>
          <a:prstGeom prst="rect">
            <a:avLst/>
          </a:prstGeom>
          <a:noFill/>
          <a:ln/>
        </p:spPr>
        <p:txBody>
          <a:bodyPr wrap="square" lIns="25400" tIns="25400" rIns="25400" bIns="25400" rtlCol="0" anchor="t">
            <a:normAutofit/>
          </a:bodyPr>
          <a:lstStyle/>
          <a:p>
            <a:pPr algn="l" indent="0" marL="0">
              <a:buNone/>
            </a:pPr>
            <a:r>
              <a:rPr lang="en-US" sz="1200" dirty="0">
                <a:solidFill>
                  <a:srgbClr val="4A463F"/>
                </a:solidFill>
                <a:latin typeface="Arial" pitchFamily="34" charset="0"/>
                <a:ea typeface="Arial" pitchFamily="34" charset="-122"/>
                <a:cs typeface="Arial" pitchFamily="34" charset="-120"/>
              </a:rPr>
              <a:t>why? ▸</a:t>
            </a:r>
            <a:endParaRPr lang="en-US" sz="1200" dirty="0"/>
          </a:p>
        </p:txBody>
      </p:sp>
      <p:sp>
        <p:nvSpPr>
          <p:cNvPr id="50" name="Text 48"/>
          <p:cNvSpPr/>
          <p:nvPr/>
        </p:nvSpPr>
        <p:spPr>
          <a:xfrm>
            <a:off x="14335125" y="4580186"/>
            <a:ext cx="3443573" cy="847725"/>
          </a:xfrm>
          <a:prstGeom prst="rect">
            <a:avLst/>
          </a:prstGeom>
          <a:noFill/>
          <a:ln/>
        </p:spPr>
        <p:txBody>
          <a:bodyPr wrap="square" lIns="25400" tIns="25400" rIns="25400" bIns="25400" rtlCol="0" anchor="t">
            <a:normAutofit/>
          </a:bodyPr>
          <a:lstStyle/>
          <a:p>
            <a:pPr algn="l" indent="0" marL="0">
              <a:lnSpc>
                <a:spcPct val="108974"/>
              </a:lnSpc>
              <a:buNone/>
            </a:pPr>
            <a:r>
              <a:rPr lang="en-US" sz="2550" dirty="0">
                <a:solidFill>
                  <a:srgbClr val="1B1B1B"/>
                </a:solidFill>
                <a:latin typeface="Arial" pitchFamily="34" charset="0"/>
                <a:ea typeface="Arial" pitchFamily="34" charset="-122"/>
                <a:cs typeface="Arial" pitchFamily="34" charset="-120"/>
              </a:rPr>
              <a:t>the coach says why it's skipping the hypothesis</a:t>
            </a:r>
            <a:endParaRPr lang="en-US" sz="2550" dirty="0"/>
          </a:p>
        </p:txBody>
      </p:sp>
      <p:sp>
        <p:nvSpPr>
          <p:cNvPr id="51" name="Text 49"/>
          <p:cNvSpPr/>
          <p:nvPr/>
        </p:nvSpPr>
        <p:spPr>
          <a:xfrm>
            <a:off x="14335125" y="5561261"/>
            <a:ext cx="3443573" cy="1040904"/>
          </a:xfrm>
          <a:prstGeom prst="rect">
            <a:avLst/>
          </a:prstGeom>
          <a:noFill/>
          <a:ln/>
        </p:spPr>
        <p:txBody>
          <a:bodyPr wrap="square" lIns="25400" tIns="25400" rIns="25400" bIns="25400" rtlCol="0" anchor="t">
            <a:normAutofit/>
          </a:bodyPr>
          <a:lstStyle/>
          <a:p>
            <a:pPr algn="l" indent="0" marL="0">
              <a:lnSpc>
                <a:spcPct val="113226"/>
              </a:lnSpc>
              <a:buNone/>
            </a:pPr>
            <a:r>
              <a:rPr lang="en-US" sz="1950" dirty="0">
                <a:solidFill>
                  <a:srgbClr val="1F6BB8"/>
                </a:solidFill>
                <a:latin typeface="Arial" pitchFamily="34" charset="0"/>
                <a:ea typeface="Arial" pitchFamily="34" charset="-122"/>
                <a:cs typeface="Arial" pitchFamily="34" charset="-120"/>
              </a:rPr>
              <a:t>The jump is narrated in one sentence, in the flow of talk — no diagram, no “step 3 of 5”.</a:t>
            </a:r>
            <a:endParaRPr lang="en-US" sz="1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FECE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FECE6"/>
          </a:solidFill>
          <a:ln/>
        </p:spPr>
      </p:sp>
      <p:sp>
        <p:nvSpPr>
          <p:cNvPr id="3" name="Shape 1"/>
          <p:cNvSpPr/>
          <p:nvPr/>
        </p:nvSpPr>
        <p:spPr>
          <a:xfrm>
            <a:off x="609600" y="1104900"/>
            <a:ext cx="17068800" cy="19050"/>
          </a:xfrm>
          <a:prstGeom prst="rect">
            <a:avLst/>
          </a:prstGeom>
          <a:solidFill>
            <a:srgbClr val="1B1B1B"/>
          </a:solidFill>
          <a:ln/>
        </p:spPr>
      </p:sp>
      <p:sp>
        <p:nvSpPr>
          <p:cNvPr id="4" name="Shape 2"/>
          <p:cNvSpPr/>
          <p:nvPr/>
        </p:nvSpPr>
        <p:spPr>
          <a:xfrm>
            <a:off x="609600" y="590550"/>
            <a:ext cx="459135" cy="381000"/>
          </a:xfrm>
          <a:prstGeom prst="roundRect">
            <a:avLst>
              <a:gd name="adj" fmla="val 17500"/>
            </a:avLst>
          </a:prstGeom>
          <a:solidFill>
            <a:srgbClr val="1B1B1B"/>
          </a:solidFill>
          <a:ln/>
        </p:spPr>
      </p:sp>
      <p:sp>
        <p:nvSpPr>
          <p:cNvPr id="5" name="Text 3"/>
          <p:cNvSpPr/>
          <p:nvPr/>
        </p:nvSpPr>
        <p:spPr>
          <a:xfrm>
            <a:off x="723900" y="676275"/>
            <a:ext cx="306735" cy="247650"/>
          </a:xfrm>
          <a:prstGeom prst="rect">
            <a:avLst/>
          </a:prstGeom>
          <a:noFill/>
          <a:ln/>
        </p:spPr>
        <p:txBody>
          <a:bodyPr wrap="square" lIns="25400" tIns="25400" rIns="25400" bIns="25400" rtlCol="0" anchor="t">
            <a:normAutofit/>
          </a:bodyPr>
          <a:lstStyle/>
          <a:p>
            <a:pPr algn="l" indent="0" marL="0">
              <a:lnSpc>
                <a:spcPct val="88000"/>
              </a:lnSpc>
              <a:buNone/>
            </a:pPr>
            <a:r>
              <a:rPr lang="en-US" sz="1650" b="1" dirty="0">
                <a:solidFill>
                  <a:srgbClr val="FFFFFF"/>
                </a:solidFill>
                <a:latin typeface="Courier New" pitchFamily="34" charset="0"/>
                <a:ea typeface="Courier New" pitchFamily="34" charset="-122"/>
                <a:cs typeface="Courier New" pitchFamily="34" charset="-120"/>
              </a:rPr>
              <a:t>08</a:t>
            </a:r>
            <a:endParaRPr lang="en-US" sz="1650" dirty="0"/>
          </a:p>
        </p:txBody>
      </p:sp>
      <p:sp>
        <p:nvSpPr>
          <p:cNvPr id="6" name="Text 4"/>
          <p:cNvSpPr/>
          <p:nvPr/>
        </p:nvSpPr>
        <p:spPr>
          <a:xfrm>
            <a:off x="1221135" y="504825"/>
            <a:ext cx="6154406" cy="457200"/>
          </a:xfrm>
          <a:prstGeom prst="rect">
            <a:avLst/>
          </a:prstGeom>
          <a:noFill/>
          <a:ln/>
        </p:spPr>
        <p:txBody>
          <a:bodyPr wrap="square" lIns="0" tIns="0" rIns="0" bIns="0" rtlCol="0" anchor="t">
            <a:normAutofit/>
          </a:bodyPr>
          <a:lstStyle/>
          <a:p>
            <a:pPr algn="l" indent="0" marL="0">
              <a:lnSpc>
                <a:spcPct val="102222"/>
              </a:lnSpc>
              <a:buNone/>
            </a:pPr>
            <a:r>
              <a:rPr lang="en-US" sz="3000" b="1" dirty="0">
                <a:solidFill>
                  <a:srgbClr val="1B1B1B"/>
                </a:solidFill>
                <a:latin typeface="Helvetica" pitchFamily="34" charset="0"/>
                <a:ea typeface="Helvetica" pitchFamily="34" charset="-122"/>
                <a:cs typeface="Helvetica" pitchFamily="34" charset="-120"/>
              </a:rPr>
              <a:t>“I don't know” — the box inflates</a:t>
            </a:r>
            <a:endParaRPr lang="en-US" sz="3000" dirty="0"/>
          </a:p>
        </p:txBody>
      </p:sp>
      <p:sp>
        <p:nvSpPr>
          <p:cNvPr id="7" name="Text 5"/>
          <p:cNvSpPr/>
          <p:nvPr/>
        </p:nvSpPr>
        <p:spPr>
          <a:xfrm>
            <a:off x="16688098" y="695325"/>
            <a:ext cx="1066502" cy="228600"/>
          </a:xfrm>
          <a:prstGeom prst="rect">
            <a:avLst/>
          </a:prstGeom>
          <a:noFill/>
          <a:ln/>
        </p:spPr>
        <p:txBody>
          <a:bodyPr wrap="none" lIns="25400" tIns="25400" rIns="25400" bIns="25400" rtlCol="0" anchor="t">
            <a:normAutofit/>
          </a:bodyPr>
          <a:lstStyle/>
          <a:p>
            <a:pPr algn="l" indent="0" marL="0">
              <a:lnSpc>
                <a:spcPct val="86957"/>
              </a:lnSpc>
              <a:buNone/>
            </a:pPr>
            <a:r>
              <a:rPr lang="en-US" sz="1500" b="1" spc="150" kern="0" dirty="0">
                <a:solidFill>
                  <a:srgbClr val="8A8479"/>
                </a:solidFill>
                <a:latin typeface="Courier New" pitchFamily="34" charset="0"/>
                <a:ea typeface="Courier New" pitchFamily="34" charset="-122"/>
                <a:cs typeface="Courier New" pitchFamily="34" charset="-120"/>
              </a:rPr>
              <a:t>COACHING</a:t>
            </a:r>
            <a:endParaRPr lang="en-US" sz="1500" dirty="0"/>
          </a:p>
        </p:txBody>
      </p:sp>
      <p:sp>
        <p:nvSpPr>
          <p:cNvPr id="8" name="Text 6"/>
          <p:cNvSpPr/>
          <p:nvPr/>
        </p:nvSpPr>
        <p:spPr>
          <a:xfrm>
            <a:off x="609600" y="2631430"/>
            <a:ext cx="9123998" cy="219075"/>
          </a:xfrm>
          <a:prstGeom prst="rect">
            <a:avLst/>
          </a:prstGeom>
          <a:noFill/>
          <a:ln/>
        </p:spPr>
        <p:txBody>
          <a:bodyPr wrap="square" lIns="25400" tIns="25400" rIns="25400" bIns="25400" rtlCol="0" anchor="t">
            <a:normAutofit/>
          </a:bodyPr>
          <a:lstStyle/>
          <a:p>
            <a:pPr algn="l" indent="0" marL="0">
              <a:buNone/>
            </a:pPr>
            <a:r>
              <a:rPr lang="en-US" sz="825" b="1" spc="66" kern="0" dirty="0">
                <a:solidFill>
                  <a:srgbClr val="1B1B1B">
                    <a:alpha val="50000"/>
                  </a:srgbClr>
                </a:solidFill>
                <a:latin typeface="Courier New" pitchFamily="34" charset="0"/>
                <a:ea typeface="Courier New" pitchFamily="34" charset="-122"/>
                <a:cs typeface="Courier New" pitchFamily="34" charset="-120"/>
              </a:rPr>
              <a:t>DESKTOP</a:t>
            </a:r>
            <a:endParaRPr lang="en-US" sz="825" dirty="0"/>
          </a:p>
        </p:txBody>
      </p:sp>
      <p:sp>
        <p:nvSpPr>
          <p:cNvPr id="9" name="Shape 7"/>
          <p:cNvSpPr/>
          <p:nvPr/>
        </p:nvSpPr>
        <p:spPr>
          <a:xfrm>
            <a:off x="609600" y="2926705"/>
            <a:ext cx="8858250" cy="5586115"/>
          </a:xfrm>
          <a:prstGeom prst="roundRect">
            <a:avLst>
              <a:gd name="adj" fmla="val 2046"/>
            </a:avLst>
          </a:prstGeom>
          <a:solidFill>
            <a:srgbClr val="FFFFFF"/>
          </a:solidFill>
          <a:ln w="19050">
            <a:solidFill>
              <a:srgbClr val="1B1B1B"/>
            </a:solidFill>
            <a:prstDash val="solid"/>
          </a:ln>
        </p:spPr>
      </p:sp>
      <p:sp>
        <p:nvSpPr>
          <p:cNvPr id="10" name="Shape 8"/>
          <p:cNvSpPr/>
          <p:nvPr/>
        </p:nvSpPr>
        <p:spPr>
          <a:xfrm>
            <a:off x="823913" y="3141018"/>
            <a:ext cx="4171950" cy="942975"/>
          </a:xfrm>
          <a:prstGeom prst="roundRect">
            <a:avLst>
              <a:gd name="adj" fmla="val 8081"/>
            </a:avLst>
          </a:prstGeom>
          <a:ln w="12700">
            <a:solidFill>
              <a:srgbClr val="C3BEB5">
                <a:alpha val="62000"/>
              </a:srgbClr>
            </a:solidFill>
            <a:prstDash val="solid"/>
          </a:ln>
        </p:spPr>
      </p:sp>
      <p:sp>
        <p:nvSpPr>
          <p:cNvPr id="11" name="Shape 9"/>
          <p:cNvSpPr/>
          <p:nvPr/>
        </p:nvSpPr>
        <p:spPr>
          <a:xfrm>
            <a:off x="4595813" y="3031480"/>
            <a:ext cx="280988" cy="280988"/>
          </a:xfrm>
          <a:prstGeom prst="ellipse">
            <a:avLst/>
          </a:prstGeom>
          <a:solidFill>
            <a:srgbClr val="EFECE6">
              <a:alpha val="62000"/>
            </a:srgbClr>
          </a:solidFill>
          <a:ln w="12700">
            <a:solidFill>
              <a:srgbClr val="8A8479">
                <a:alpha val="62000"/>
              </a:srgbClr>
            </a:solidFill>
            <a:prstDash val="solid"/>
          </a:ln>
        </p:spPr>
      </p:sp>
      <p:sp>
        <p:nvSpPr>
          <p:cNvPr id="12" name="Text 10"/>
          <p:cNvSpPr/>
          <p:nvPr/>
        </p:nvSpPr>
        <p:spPr>
          <a:xfrm>
            <a:off x="4570412" y="3044180"/>
            <a:ext cx="331788" cy="293688"/>
          </a:xfrm>
          <a:prstGeom prst="rect">
            <a:avLst/>
          </a:prstGeom>
          <a:noFill/>
          <a:ln/>
        </p:spPr>
        <p:txBody>
          <a:bodyPr wrap="square" lIns="25400" tIns="25400" rIns="25400" bIns="25400" rtlCol="0" anchor="t">
            <a:normAutofit/>
          </a:bodyPr>
          <a:lstStyle/>
          <a:p>
            <a:pPr algn="ctr" indent="0" marL="0">
              <a:lnSpc>
                <a:spcPct val="140000"/>
              </a:lnSpc>
              <a:buNone/>
            </a:pPr>
            <a:r>
              <a:rPr lang="en-US" sz="638" b="1" dirty="0">
                <a:solidFill>
                  <a:srgbClr val="5A5449">
                    <a:alpha val="62000"/>
                  </a:srgbClr>
                </a:solidFill>
                <a:latin typeface="Courier New" pitchFamily="34" charset="0"/>
                <a:ea typeface="Courier New" pitchFamily="34" charset="-122"/>
                <a:cs typeface="Courier New" pitchFamily="34" charset="-120"/>
              </a:rPr>
              <a:t>2</a:t>
            </a:r>
            <a:endParaRPr lang="en-US" sz="638" dirty="0"/>
          </a:p>
        </p:txBody>
      </p:sp>
      <p:sp>
        <p:nvSpPr>
          <p:cNvPr id="13" name="Shape 11"/>
          <p:cNvSpPr/>
          <p:nvPr/>
        </p:nvSpPr>
        <p:spPr>
          <a:xfrm>
            <a:off x="942975" y="3260080"/>
            <a:ext cx="3933825" cy="349448"/>
          </a:xfrm>
          <a:prstGeom prst="roundRect">
            <a:avLst>
              <a:gd name="adj" fmla="val 5451"/>
            </a:avLst>
          </a:prstGeom>
          <a:solidFill>
            <a:srgbClr val="FFF6BF">
              <a:alpha val="62000"/>
            </a:srgbClr>
          </a:solidFill>
          <a:ln w="6350">
            <a:solidFill>
              <a:srgbClr val="E3D489">
                <a:alpha val="62000"/>
              </a:srgbClr>
            </a:solidFill>
            <a:prstDash val="solid"/>
          </a:ln>
          <a:effectLst>
            <a:outerShdw sx="100000" sy="100000" kx="0" ky="0" algn="bl" rotWithShape="0" blurRad="101600" dist="13470" dir="2700000">
              <a:srgbClr val="000000">
                <a:alpha val="4960"/>
              </a:srgbClr>
            </a:outerShdw>
          </a:effectLst>
        </p:spPr>
      </p:sp>
      <p:sp>
        <p:nvSpPr>
          <p:cNvPr id="14" name="Text 12"/>
          <p:cNvSpPr/>
          <p:nvPr/>
        </p:nvSpPr>
        <p:spPr>
          <a:xfrm>
            <a:off x="1006475" y="3314055"/>
            <a:ext cx="3924840" cy="279598"/>
          </a:xfrm>
          <a:prstGeom prst="rect">
            <a:avLst/>
          </a:prstGeom>
          <a:noFill/>
          <a:ln/>
        </p:spPr>
        <p:txBody>
          <a:bodyPr wrap="square" lIns="25400" tIns="25400" rIns="25400" bIns="25400" rtlCol="0" anchor="t">
            <a:normAutofit/>
          </a:bodyPr>
          <a:lstStyle/>
          <a:p>
            <a:pPr algn="l" indent="0" marL="0">
              <a:lnSpc>
                <a:spcPct val="109375"/>
              </a:lnSpc>
              <a:buNone/>
            </a:pPr>
            <a:r>
              <a:rPr lang="en-US" sz="788" dirty="0">
                <a:solidFill>
                  <a:srgbClr val="2B2620">
                    <a:alpha val="62000"/>
                  </a:srgbClr>
                </a:solidFill>
                <a:latin typeface="Arial" pitchFamily="34" charset="0"/>
                <a:ea typeface="Arial" pitchFamily="34" charset="-122"/>
                <a:cs typeface="Arial" pitchFamily="34" charset="-120"/>
              </a:rPr>
              <a:t>3 hr night counts</a:t>
            </a:r>
            <a:endParaRPr lang="en-US" sz="788" dirty="0"/>
          </a:p>
        </p:txBody>
      </p:sp>
      <p:sp>
        <p:nvSpPr>
          <p:cNvPr id="15" name="Shape 13"/>
          <p:cNvSpPr/>
          <p:nvPr/>
        </p:nvSpPr>
        <p:spPr>
          <a:xfrm>
            <a:off x="5081588" y="3141018"/>
            <a:ext cx="4171950" cy="942975"/>
          </a:xfrm>
          <a:prstGeom prst="roundRect">
            <a:avLst>
              <a:gd name="adj" fmla="val 8081"/>
            </a:avLst>
          </a:prstGeom>
          <a:ln w="12700">
            <a:solidFill>
              <a:srgbClr val="C3BEB5">
                <a:alpha val="62000"/>
              </a:srgbClr>
            </a:solidFill>
            <a:prstDash val="solid"/>
          </a:ln>
        </p:spPr>
      </p:sp>
      <p:sp>
        <p:nvSpPr>
          <p:cNvPr id="16" name="Shape 14"/>
          <p:cNvSpPr/>
          <p:nvPr/>
        </p:nvSpPr>
        <p:spPr>
          <a:xfrm>
            <a:off x="8853488" y="3031480"/>
            <a:ext cx="280988" cy="280988"/>
          </a:xfrm>
          <a:prstGeom prst="ellipse">
            <a:avLst/>
          </a:prstGeom>
          <a:solidFill>
            <a:srgbClr val="EFECE6">
              <a:alpha val="62000"/>
            </a:srgbClr>
          </a:solidFill>
          <a:ln w="12700">
            <a:solidFill>
              <a:srgbClr val="8A8479">
                <a:alpha val="62000"/>
              </a:srgbClr>
            </a:solidFill>
            <a:prstDash val="solid"/>
          </a:ln>
        </p:spPr>
      </p:sp>
      <p:sp>
        <p:nvSpPr>
          <p:cNvPr id="17" name="Text 15"/>
          <p:cNvSpPr/>
          <p:nvPr/>
        </p:nvSpPr>
        <p:spPr>
          <a:xfrm>
            <a:off x="8828087" y="3044180"/>
            <a:ext cx="331788" cy="293688"/>
          </a:xfrm>
          <a:prstGeom prst="rect">
            <a:avLst/>
          </a:prstGeom>
          <a:noFill/>
          <a:ln/>
        </p:spPr>
        <p:txBody>
          <a:bodyPr wrap="square" lIns="25400" tIns="25400" rIns="25400" bIns="25400" rtlCol="0" anchor="t">
            <a:normAutofit/>
          </a:bodyPr>
          <a:lstStyle/>
          <a:p>
            <a:pPr algn="ctr" indent="0" marL="0">
              <a:lnSpc>
                <a:spcPct val="140000"/>
              </a:lnSpc>
              <a:buNone/>
            </a:pPr>
            <a:r>
              <a:rPr lang="en-US" sz="638" b="1" dirty="0">
                <a:solidFill>
                  <a:srgbClr val="5A5449">
                    <a:alpha val="62000"/>
                  </a:srgbClr>
                </a:solidFill>
                <a:latin typeface="Courier New" pitchFamily="34" charset="0"/>
                <a:ea typeface="Courier New" pitchFamily="34" charset="-122"/>
                <a:cs typeface="Courier New" pitchFamily="34" charset="-120"/>
              </a:rPr>
              <a:t>4</a:t>
            </a:r>
            <a:endParaRPr lang="en-US" sz="638" dirty="0"/>
          </a:p>
        </p:txBody>
      </p:sp>
      <p:sp>
        <p:nvSpPr>
          <p:cNvPr id="18" name="Text 16"/>
          <p:cNvSpPr/>
          <p:nvPr/>
        </p:nvSpPr>
        <p:spPr>
          <a:xfrm>
            <a:off x="5200650" y="3260080"/>
            <a:ext cx="4051840" cy="251668"/>
          </a:xfrm>
          <a:prstGeom prst="rect">
            <a:avLst/>
          </a:prstGeom>
          <a:noFill/>
          <a:ln/>
        </p:spPr>
        <p:txBody>
          <a:bodyPr wrap="square" lIns="25400" tIns="25400" rIns="25400" bIns="25400" rtlCol="0" anchor="t">
            <a:normAutofit/>
          </a:bodyPr>
          <a:lstStyle/>
          <a:p>
            <a:pPr algn="l" indent="0" marL="0">
              <a:lnSpc>
                <a:spcPct val="124583"/>
              </a:lnSpc>
              <a:buNone/>
            </a:pPr>
            <a:r>
              <a:rPr lang="en-US" sz="863" dirty="0">
                <a:solidFill>
                  <a:srgbClr val="87817A">
                    <a:alpha val="62000"/>
                  </a:srgbClr>
                </a:solidFill>
                <a:latin typeface="Arial" pitchFamily="34" charset="0"/>
                <a:ea typeface="Arial" pitchFamily="34" charset="-122"/>
                <a:cs typeface="Arial" pitchFamily="34" charset="-120"/>
              </a:rPr>
              <a:t>still to come</a:t>
            </a:r>
            <a:endParaRPr lang="en-US" sz="863" dirty="0"/>
          </a:p>
        </p:txBody>
      </p:sp>
      <p:sp>
        <p:nvSpPr>
          <p:cNvPr id="19" name="Shape 17"/>
          <p:cNvSpPr/>
          <p:nvPr/>
        </p:nvSpPr>
        <p:spPr>
          <a:xfrm>
            <a:off x="823913" y="4169718"/>
            <a:ext cx="8429625" cy="587573"/>
          </a:xfrm>
          <a:prstGeom prst="roundRect">
            <a:avLst>
              <a:gd name="adj" fmla="val 12969"/>
            </a:avLst>
          </a:prstGeom>
          <a:solidFill>
            <a:srgbClr val="FAF8F4">
              <a:alpha val="62000"/>
            </a:srgbClr>
          </a:solidFill>
          <a:ln w="12700">
            <a:solidFill>
              <a:srgbClr val="1B1B1B">
                <a:alpha val="62000"/>
              </a:srgbClr>
            </a:solidFill>
            <a:prstDash val="solid"/>
          </a:ln>
        </p:spPr>
      </p:sp>
      <p:sp>
        <p:nvSpPr>
          <p:cNvPr id="20" name="Shape 18"/>
          <p:cNvSpPr/>
          <p:nvPr/>
        </p:nvSpPr>
        <p:spPr>
          <a:xfrm>
            <a:off x="8853488" y="4060180"/>
            <a:ext cx="280988" cy="280988"/>
          </a:xfrm>
          <a:prstGeom prst="ellipse">
            <a:avLst/>
          </a:prstGeom>
          <a:solidFill>
            <a:srgbClr val="EFECE6">
              <a:alpha val="62000"/>
            </a:srgbClr>
          </a:solidFill>
          <a:ln w="12700">
            <a:solidFill>
              <a:srgbClr val="8A8479">
                <a:alpha val="62000"/>
              </a:srgbClr>
            </a:solidFill>
            <a:prstDash val="solid"/>
          </a:ln>
        </p:spPr>
      </p:sp>
      <p:sp>
        <p:nvSpPr>
          <p:cNvPr id="21" name="Text 19"/>
          <p:cNvSpPr/>
          <p:nvPr/>
        </p:nvSpPr>
        <p:spPr>
          <a:xfrm>
            <a:off x="8828087" y="4072880"/>
            <a:ext cx="331788" cy="293688"/>
          </a:xfrm>
          <a:prstGeom prst="rect">
            <a:avLst/>
          </a:prstGeom>
          <a:noFill/>
          <a:ln/>
        </p:spPr>
        <p:txBody>
          <a:bodyPr wrap="square" lIns="25400" tIns="25400" rIns="25400" bIns="25400" rtlCol="0" anchor="t">
            <a:normAutofit/>
          </a:bodyPr>
          <a:lstStyle/>
          <a:p>
            <a:pPr algn="ctr" indent="0" marL="0">
              <a:lnSpc>
                <a:spcPct val="140000"/>
              </a:lnSpc>
              <a:buNone/>
            </a:pPr>
            <a:r>
              <a:rPr lang="en-US" sz="638" b="1" dirty="0">
                <a:solidFill>
                  <a:srgbClr val="5A5449">
                    <a:alpha val="62000"/>
                  </a:srgbClr>
                </a:solidFill>
                <a:latin typeface="Courier New" pitchFamily="34" charset="0"/>
                <a:ea typeface="Courier New" pitchFamily="34" charset="-122"/>
                <a:cs typeface="Courier New" pitchFamily="34" charset="-120"/>
              </a:rPr>
              <a:t>1</a:t>
            </a:r>
            <a:endParaRPr lang="en-US" sz="638" dirty="0"/>
          </a:p>
        </p:txBody>
      </p:sp>
      <p:sp>
        <p:nvSpPr>
          <p:cNvPr id="22" name="Shape 20"/>
          <p:cNvSpPr/>
          <p:nvPr/>
        </p:nvSpPr>
        <p:spPr>
          <a:xfrm>
            <a:off x="942975" y="4288780"/>
            <a:ext cx="8191500" cy="349448"/>
          </a:xfrm>
          <a:prstGeom prst="roundRect">
            <a:avLst>
              <a:gd name="adj" fmla="val 5451"/>
            </a:avLst>
          </a:prstGeom>
          <a:solidFill>
            <a:srgbClr val="FFF6BF">
              <a:alpha val="62000"/>
            </a:srgbClr>
          </a:solidFill>
          <a:ln w="6350">
            <a:solidFill>
              <a:srgbClr val="E3D489">
                <a:alpha val="62000"/>
              </a:srgbClr>
            </a:solidFill>
            <a:prstDash val="solid"/>
          </a:ln>
          <a:effectLst>
            <a:outerShdw sx="100000" sy="100000" kx="0" ky="0" algn="bl" rotWithShape="0" blurRad="101600" dist="13470" dir="2700000">
              <a:srgbClr val="000000">
                <a:alpha val="4960"/>
              </a:srgbClr>
            </a:outerShdw>
          </a:effectLst>
        </p:spPr>
      </p:sp>
      <p:sp>
        <p:nvSpPr>
          <p:cNvPr id="23" name="Text 21"/>
          <p:cNvSpPr/>
          <p:nvPr/>
        </p:nvSpPr>
        <p:spPr>
          <a:xfrm>
            <a:off x="1006475" y="4342755"/>
            <a:ext cx="8310245" cy="279598"/>
          </a:xfrm>
          <a:prstGeom prst="rect">
            <a:avLst/>
          </a:prstGeom>
          <a:noFill/>
          <a:ln/>
        </p:spPr>
        <p:txBody>
          <a:bodyPr wrap="square" lIns="25400" tIns="25400" rIns="25400" bIns="25400" rtlCol="0" anchor="t">
            <a:normAutofit/>
          </a:bodyPr>
          <a:lstStyle/>
          <a:p>
            <a:pPr algn="l" indent="0" marL="0">
              <a:lnSpc>
                <a:spcPct val="109375"/>
              </a:lnSpc>
              <a:buNone/>
            </a:pPr>
            <a:r>
              <a:rPr lang="en-US" sz="788" dirty="0">
                <a:solidFill>
                  <a:srgbClr val="2B2620">
                    <a:alpha val="62000"/>
                  </a:srgbClr>
                </a:solidFill>
                <a:latin typeface="Arial" pitchFamily="34" charset="0"/>
                <a:ea typeface="Arial" pitchFamily="34" charset="-122"/>
                <a:cs typeface="Arial" pitchFamily="34" charset="-120"/>
              </a:rPr>
              <a:t>district managers · count in daylight, in minutes</a:t>
            </a:r>
            <a:endParaRPr lang="en-US" sz="788" dirty="0"/>
          </a:p>
        </p:txBody>
      </p:sp>
      <p:sp>
        <p:nvSpPr>
          <p:cNvPr id="24" name="Shape 22"/>
          <p:cNvSpPr/>
          <p:nvPr/>
        </p:nvSpPr>
        <p:spPr>
          <a:xfrm>
            <a:off x="823913" y="4843016"/>
            <a:ext cx="4171950" cy="3109020"/>
          </a:xfrm>
          <a:prstGeom prst="roundRect">
            <a:avLst>
              <a:gd name="adj" fmla="val 2451"/>
            </a:avLst>
          </a:prstGeom>
          <a:ln w="12700">
            <a:solidFill>
              <a:srgbClr val="C3BEB5">
                <a:alpha val="62000"/>
              </a:srgbClr>
            </a:solidFill>
            <a:prstDash val="solid"/>
          </a:ln>
        </p:spPr>
      </p:sp>
      <p:sp>
        <p:nvSpPr>
          <p:cNvPr id="25" name="Shape 23"/>
          <p:cNvSpPr/>
          <p:nvPr/>
        </p:nvSpPr>
        <p:spPr>
          <a:xfrm>
            <a:off x="4595813" y="4733479"/>
            <a:ext cx="280988" cy="280988"/>
          </a:xfrm>
          <a:prstGeom prst="ellipse">
            <a:avLst/>
          </a:prstGeom>
          <a:solidFill>
            <a:srgbClr val="EFECE6">
              <a:alpha val="62000"/>
            </a:srgbClr>
          </a:solidFill>
          <a:ln w="12700">
            <a:solidFill>
              <a:srgbClr val="8A8479">
                <a:alpha val="62000"/>
              </a:srgbClr>
            </a:solidFill>
            <a:prstDash val="solid"/>
          </a:ln>
        </p:spPr>
      </p:sp>
      <p:sp>
        <p:nvSpPr>
          <p:cNvPr id="26" name="Text 24"/>
          <p:cNvSpPr/>
          <p:nvPr/>
        </p:nvSpPr>
        <p:spPr>
          <a:xfrm>
            <a:off x="4570412" y="4746178"/>
            <a:ext cx="331788" cy="293688"/>
          </a:xfrm>
          <a:prstGeom prst="rect">
            <a:avLst/>
          </a:prstGeom>
          <a:noFill/>
          <a:ln/>
        </p:spPr>
        <p:txBody>
          <a:bodyPr wrap="square" lIns="25400" tIns="25400" rIns="25400" bIns="25400" rtlCol="0" anchor="t">
            <a:normAutofit/>
          </a:bodyPr>
          <a:lstStyle/>
          <a:p>
            <a:pPr algn="ctr" indent="0" marL="0">
              <a:lnSpc>
                <a:spcPct val="140000"/>
              </a:lnSpc>
              <a:buNone/>
            </a:pPr>
            <a:r>
              <a:rPr lang="en-US" sz="638" b="1" dirty="0">
                <a:solidFill>
                  <a:srgbClr val="5A5449">
                    <a:alpha val="62000"/>
                  </a:srgbClr>
                </a:solidFill>
                <a:latin typeface="Courier New" pitchFamily="34" charset="0"/>
                <a:ea typeface="Courier New" pitchFamily="34" charset="-122"/>
                <a:cs typeface="Courier New" pitchFamily="34" charset="-120"/>
              </a:rPr>
              <a:t>5</a:t>
            </a:r>
            <a:endParaRPr lang="en-US" sz="638" dirty="0"/>
          </a:p>
        </p:txBody>
      </p:sp>
      <p:sp>
        <p:nvSpPr>
          <p:cNvPr id="27" name="Text 25"/>
          <p:cNvSpPr/>
          <p:nvPr/>
        </p:nvSpPr>
        <p:spPr>
          <a:xfrm>
            <a:off x="942975" y="4962079"/>
            <a:ext cx="4051840" cy="251668"/>
          </a:xfrm>
          <a:prstGeom prst="rect">
            <a:avLst/>
          </a:prstGeom>
          <a:noFill/>
          <a:ln/>
        </p:spPr>
        <p:txBody>
          <a:bodyPr wrap="square" lIns="25400" tIns="25400" rIns="25400" bIns="25400" rtlCol="0" anchor="t">
            <a:normAutofit/>
          </a:bodyPr>
          <a:lstStyle/>
          <a:p>
            <a:pPr algn="l" indent="0" marL="0">
              <a:lnSpc>
                <a:spcPct val="124583"/>
              </a:lnSpc>
              <a:buNone/>
            </a:pPr>
            <a:r>
              <a:rPr lang="en-US" sz="863" dirty="0">
                <a:solidFill>
                  <a:srgbClr val="87817A">
                    <a:alpha val="62000"/>
                  </a:srgbClr>
                </a:solidFill>
                <a:latin typeface="Arial" pitchFamily="34" charset="0"/>
                <a:ea typeface="Arial" pitchFamily="34" charset="-122"/>
                <a:cs typeface="Arial" pitchFamily="34" charset="-120"/>
              </a:rPr>
              <a:t>what tells us in weeks?</a:t>
            </a:r>
            <a:endParaRPr lang="en-US" sz="863" dirty="0"/>
          </a:p>
        </p:txBody>
      </p:sp>
      <p:sp>
        <p:nvSpPr>
          <p:cNvPr id="28" name="Shape 26"/>
          <p:cNvSpPr/>
          <p:nvPr/>
        </p:nvSpPr>
        <p:spPr>
          <a:xfrm>
            <a:off x="5081588" y="4843016"/>
            <a:ext cx="4171950" cy="3109020"/>
          </a:xfrm>
          <a:prstGeom prst="roundRect">
            <a:avLst>
              <a:gd name="adj" fmla="val 2451"/>
            </a:avLst>
          </a:prstGeom>
          <a:solidFill>
            <a:srgbClr val="FFFDF5"/>
          </a:solidFill>
          <a:ln w="19050">
            <a:solidFill>
              <a:srgbClr val="1B1B1B"/>
            </a:solidFill>
            <a:prstDash val="solid"/>
          </a:ln>
        </p:spPr>
      </p:sp>
      <p:sp>
        <p:nvSpPr>
          <p:cNvPr id="29" name="Shape 27"/>
          <p:cNvSpPr/>
          <p:nvPr/>
        </p:nvSpPr>
        <p:spPr>
          <a:xfrm>
            <a:off x="8843963" y="4743004"/>
            <a:ext cx="280988" cy="280988"/>
          </a:xfrm>
          <a:prstGeom prst="ellipse">
            <a:avLst/>
          </a:prstGeom>
          <a:solidFill>
            <a:srgbClr val="1B1B1B"/>
          </a:solidFill>
          <a:ln w="12700">
            <a:solidFill>
              <a:srgbClr val="1B1B1B"/>
            </a:solidFill>
            <a:prstDash val="solid"/>
          </a:ln>
        </p:spPr>
      </p:sp>
      <p:sp>
        <p:nvSpPr>
          <p:cNvPr id="30" name="Text 28"/>
          <p:cNvSpPr/>
          <p:nvPr/>
        </p:nvSpPr>
        <p:spPr>
          <a:xfrm>
            <a:off x="8818562" y="4755703"/>
            <a:ext cx="331788" cy="293688"/>
          </a:xfrm>
          <a:prstGeom prst="rect">
            <a:avLst/>
          </a:prstGeom>
          <a:noFill/>
          <a:ln/>
        </p:spPr>
        <p:txBody>
          <a:bodyPr wrap="square" lIns="25400" tIns="25400" rIns="25400" bIns="25400" rtlCol="0" anchor="t">
            <a:normAutofit/>
          </a:bodyPr>
          <a:lstStyle/>
          <a:p>
            <a:pPr algn="ctr" indent="0" marL="0">
              <a:lnSpc>
                <a:spcPct val="140000"/>
              </a:lnSpc>
              <a:buNone/>
            </a:pPr>
            <a:r>
              <a:rPr lang="en-US" sz="638" b="1" dirty="0">
                <a:solidFill>
                  <a:srgbClr val="FFFFFF"/>
                </a:solidFill>
                <a:latin typeface="Courier New" pitchFamily="34" charset="0"/>
                <a:ea typeface="Courier New" pitchFamily="34" charset="-122"/>
                <a:cs typeface="Courier New" pitchFamily="34" charset="-120"/>
              </a:rPr>
              <a:t>3</a:t>
            </a:r>
            <a:endParaRPr lang="en-US" sz="638" dirty="0"/>
          </a:p>
        </p:txBody>
      </p:sp>
      <p:sp>
        <p:nvSpPr>
          <p:cNvPr id="31" name="Text 29"/>
          <p:cNvSpPr/>
          <p:nvPr/>
        </p:nvSpPr>
        <p:spPr>
          <a:xfrm>
            <a:off x="5210175" y="4971604"/>
            <a:ext cx="4032218" cy="180975"/>
          </a:xfrm>
          <a:prstGeom prst="rect">
            <a:avLst/>
          </a:prstGeom>
          <a:noFill/>
          <a:ln/>
        </p:spPr>
        <p:txBody>
          <a:bodyPr wrap="square" lIns="25400" tIns="25400" rIns="25400" bIns="25400" rtlCol="0" anchor="t">
            <a:normAutofit/>
          </a:bodyPr>
          <a:lstStyle/>
          <a:p>
            <a:pPr algn="l" indent="0" marL="0">
              <a:buNone/>
            </a:pPr>
            <a:r>
              <a:rPr lang="en-US" sz="638" b="1" spc="38" kern="0" dirty="0">
                <a:solidFill>
                  <a:srgbClr val="8A8479"/>
                </a:solidFill>
                <a:latin typeface="Courier New" pitchFamily="34" charset="0"/>
                <a:ea typeface="Courier New" pitchFamily="34" charset="-122"/>
                <a:cs typeface="Courier New" pitchFamily="34" charset="-120"/>
              </a:rPr>
              <a:t>LAGGING INDICATORS</a:t>
            </a:r>
            <a:endParaRPr lang="en-US" sz="638" dirty="0"/>
          </a:p>
        </p:txBody>
      </p:sp>
      <p:sp>
        <p:nvSpPr>
          <p:cNvPr id="32" name="Text 30"/>
          <p:cNvSpPr/>
          <p:nvPr/>
        </p:nvSpPr>
        <p:spPr>
          <a:xfrm>
            <a:off x="5210175" y="5185916"/>
            <a:ext cx="4032218" cy="307330"/>
          </a:xfrm>
          <a:prstGeom prst="rect">
            <a:avLst/>
          </a:prstGeom>
          <a:noFill/>
          <a:ln/>
        </p:spPr>
        <p:txBody>
          <a:bodyPr wrap="square" lIns="25400" tIns="25400" rIns="25400" bIns="25400" rtlCol="0" anchor="t">
            <a:normAutofit/>
          </a:bodyPr>
          <a:lstStyle/>
          <a:p>
            <a:pPr algn="l" indent="0" marL="0">
              <a:lnSpc>
                <a:spcPct val="117813"/>
              </a:lnSpc>
              <a:buNone/>
            </a:pPr>
            <a:r>
              <a:rPr lang="en-US" sz="1088" dirty="0">
                <a:solidFill>
                  <a:srgbClr val="1B1B1B">
                    <a:alpha val="60000"/>
                  </a:srgbClr>
                </a:solidFill>
                <a:latin typeface="Arial" pitchFamily="34" charset="0"/>
                <a:ea typeface="Arial" pitchFamily="34" charset="-122"/>
                <a:cs typeface="Arial" pitchFamily="34" charset="-120"/>
              </a:rPr>
              <a:t>“I don't know what our baseline is.”</a:t>
            </a:r>
            <a:endParaRPr lang="en-US" sz="1088" dirty="0"/>
          </a:p>
        </p:txBody>
      </p:sp>
      <p:sp>
        <p:nvSpPr>
          <p:cNvPr id="33" name="Text 31"/>
          <p:cNvSpPr/>
          <p:nvPr/>
        </p:nvSpPr>
        <p:spPr>
          <a:xfrm>
            <a:off x="5210175" y="5526584"/>
            <a:ext cx="4032218" cy="770037"/>
          </a:xfrm>
          <a:prstGeom prst="rect">
            <a:avLst/>
          </a:prstGeom>
          <a:noFill/>
          <a:ln/>
        </p:spPr>
        <p:txBody>
          <a:bodyPr wrap="square" lIns="25400" tIns="25400" rIns="25400" bIns="25400" rtlCol="0" anchor="t">
            <a:normAutofit/>
          </a:bodyPr>
          <a:lstStyle/>
          <a:p>
            <a:pPr algn="l" indent="0" marL="0">
              <a:lnSpc>
                <a:spcPct val="106750"/>
              </a:lnSpc>
              <a:buNone/>
            </a:pPr>
            <a:r>
              <a:rPr lang="en-US" sz="1575" dirty="0">
                <a:solidFill>
                  <a:srgbClr val="1B1B1B"/>
                </a:solidFill>
                <a:latin typeface="Arial" pitchFamily="34" charset="0"/>
                <a:ea typeface="Arial" pitchFamily="34" charset="-122"/>
                <a:cs typeface="Arial" pitchFamily="34" charset="-120"/>
              </a:rPr>
              <a:t>Good. Genuinely. Let's stay here.</a:t>
            </a:r>
            <a:endParaRPr lang="en-US" sz="1575" dirty="0"/>
          </a:p>
        </p:txBody>
      </p:sp>
      <p:sp>
        <p:nvSpPr>
          <p:cNvPr id="34" name="Shape 32"/>
          <p:cNvSpPr/>
          <p:nvPr/>
        </p:nvSpPr>
        <p:spPr>
          <a:xfrm>
            <a:off x="5210175" y="6329958"/>
            <a:ext cx="3914775" cy="1045815"/>
          </a:xfrm>
          <a:prstGeom prst="roundRect">
            <a:avLst>
              <a:gd name="adj" fmla="val 8197"/>
            </a:avLst>
          </a:prstGeom>
          <a:ln w="12700">
            <a:solidFill>
              <a:srgbClr val="B3AEA6"/>
            </a:solidFill>
            <a:prstDash val="dash"/>
          </a:ln>
        </p:spPr>
      </p:sp>
      <p:sp>
        <p:nvSpPr>
          <p:cNvPr id="35" name="Text 33"/>
          <p:cNvSpPr/>
          <p:nvPr/>
        </p:nvSpPr>
        <p:spPr>
          <a:xfrm>
            <a:off x="5329238" y="6449020"/>
            <a:ext cx="3786950" cy="845790"/>
          </a:xfrm>
          <a:prstGeom prst="rect">
            <a:avLst/>
          </a:prstGeom>
          <a:noFill/>
          <a:ln/>
        </p:spPr>
        <p:txBody>
          <a:bodyPr wrap="square" lIns="25400" tIns="25400" rIns="25400" bIns="25400" rtlCol="0" anchor="t">
            <a:normAutofit/>
          </a:bodyPr>
          <a:lstStyle/>
          <a:p>
            <a:pPr algn="l" indent="0" marL="0">
              <a:lnSpc>
                <a:spcPct val="117813"/>
              </a:lnSpc>
              <a:buNone/>
            </a:pPr>
            <a:r>
              <a:rPr lang="en-US" sz="1088" dirty="0">
                <a:solidFill>
                  <a:srgbClr val="1B1B1B"/>
                </a:solidFill>
                <a:latin typeface="Arial" pitchFamily="34" charset="0"/>
                <a:ea typeface="Arial" pitchFamily="34" charset="-122"/>
                <a:cs typeface="Arial" pitchFamily="34" charset="-120"/>
              </a:rPr>
              <a:t>Who would know? And has anyone ever been able to tell whether this got better?</a:t>
            </a:r>
            <a:endParaRPr lang="en-US" sz="1088" dirty="0"/>
          </a:p>
        </p:txBody>
      </p:sp>
      <p:sp>
        <p:nvSpPr>
          <p:cNvPr id="36" name="Shape 34"/>
          <p:cNvSpPr/>
          <p:nvPr/>
        </p:nvSpPr>
        <p:spPr>
          <a:xfrm rot="60000">
            <a:off x="5862637" y="7511504"/>
            <a:ext cx="2609851" cy="247650"/>
          </a:xfrm>
          <a:prstGeom prst="roundRect">
            <a:avLst>
              <a:gd name="adj" fmla="val 7692"/>
            </a:avLst>
          </a:prstGeom>
          <a:solidFill>
            <a:srgbClr val="E2ECF6"/>
          </a:solidFill>
          <a:ln w="6350">
            <a:solidFill>
              <a:srgbClr val="B9CFE4"/>
            </a:solidFill>
            <a:prstDash val="solid"/>
          </a:ln>
          <a:effectLst>
            <a:outerShdw sx="100000" sy="100000" kx="0" ky="0" algn="bl" rotWithShape="0" blurRad="101600" dist="13470" dir="2700000">
              <a:srgbClr val="000000">
                <a:alpha val="8000"/>
              </a:srgbClr>
            </a:outerShdw>
          </a:effectLst>
        </p:spPr>
      </p:sp>
      <p:sp>
        <p:nvSpPr>
          <p:cNvPr id="37" name="Text 35"/>
          <p:cNvSpPr/>
          <p:nvPr/>
        </p:nvSpPr>
        <p:spPr>
          <a:xfrm rot="60000">
            <a:off x="5926137" y="7565479"/>
            <a:ext cx="2561146" cy="177800"/>
          </a:xfrm>
          <a:prstGeom prst="rect">
            <a:avLst/>
          </a:prstGeom>
          <a:noFill/>
          <a:ln/>
        </p:spPr>
        <p:txBody>
          <a:bodyPr wrap="square" lIns="25400" tIns="25400" rIns="25400" bIns="25400" rtlCol="0" anchor="t">
            <a:normAutofit/>
          </a:bodyPr>
          <a:lstStyle/>
          <a:p>
            <a:pPr algn="l" indent="0" marL="0">
              <a:lnSpc>
                <a:spcPct val="107143"/>
              </a:lnSpc>
              <a:buNone/>
            </a:pPr>
            <a:r>
              <a:rPr lang="en-US" sz="900" dirty="0">
                <a:solidFill>
                  <a:srgbClr val="2B2620"/>
                </a:solidFill>
                <a:latin typeface="Arial" pitchFamily="34" charset="0"/>
                <a:ea typeface="Arial" pitchFamily="34" charset="-122"/>
                <a:cs typeface="Arial" pitchFamily="34" charset="-120"/>
              </a:rPr>
              <a:t>We don't know our baseline — ask Priya's team</a:t>
            </a:r>
            <a:endParaRPr lang="en-US" sz="900" dirty="0"/>
          </a:p>
        </p:txBody>
      </p:sp>
      <p:sp>
        <p:nvSpPr>
          <p:cNvPr id="38" name="Text 36"/>
          <p:cNvSpPr/>
          <p:nvPr/>
        </p:nvSpPr>
        <p:spPr>
          <a:xfrm>
            <a:off x="823913" y="8094911"/>
            <a:ext cx="8682514"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the box grows to hold the digging · it doesn't get ticked and it can't be skipped</a:t>
            </a:r>
            <a:endParaRPr lang="en-US" sz="713" dirty="0"/>
          </a:p>
        </p:txBody>
      </p:sp>
      <p:sp>
        <p:nvSpPr>
          <p:cNvPr id="39" name="Text 37"/>
          <p:cNvSpPr/>
          <p:nvPr/>
        </p:nvSpPr>
        <p:spPr>
          <a:xfrm>
            <a:off x="9725025" y="2631430"/>
            <a:ext cx="4355973" cy="219075"/>
          </a:xfrm>
          <a:prstGeom prst="rect">
            <a:avLst/>
          </a:prstGeom>
          <a:noFill/>
          <a:ln/>
        </p:spPr>
        <p:txBody>
          <a:bodyPr wrap="square" lIns="25400" tIns="25400" rIns="25400" bIns="25400" rtlCol="0" anchor="t">
            <a:normAutofit/>
          </a:bodyPr>
          <a:lstStyle/>
          <a:p>
            <a:pPr algn="l" indent="0" marL="0">
              <a:buNone/>
            </a:pPr>
            <a:r>
              <a:rPr lang="en-US" sz="825" b="1" spc="66" kern="0" dirty="0">
                <a:solidFill>
                  <a:srgbClr val="1B1B1B">
                    <a:alpha val="50000"/>
                  </a:srgbClr>
                </a:solidFill>
                <a:latin typeface="Courier New" pitchFamily="34" charset="0"/>
                <a:ea typeface="Courier New" pitchFamily="34" charset="-122"/>
                <a:cs typeface="Courier New" pitchFamily="34" charset="-120"/>
              </a:rPr>
              <a:t>MOBILE</a:t>
            </a:r>
            <a:endParaRPr lang="en-US" sz="825" dirty="0"/>
          </a:p>
        </p:txBody>
      </p:sp>
      <p:sp>
        <p:nvSpPr>
          <p:cNvPr id="40" name="Shape 38"/>
          <p:cNvSpPr/>
          <p:nvPr/>
        </p:nvSpPr>
        <p:spPr>
          <a:xfrm>
            <a:off x="9725025" y="2926705"/>
            <a:ext cx="4229100" cy="4419898"/>
          </a:xfrm>
          <a:prstGeom prst="roundRect">
            <a:avLst>
              <a:gd name="adj" fmla="val 2703"/>
            </a:avLst>
          </a:prstGeom>
          <a:solidFill>
            <a:srgbClr val="FFFFFF"/>
          </a:solidFill>
          <a:ln w="19050">
            <a:solidFill>
              <a:srgbClr val="1B1B1B"/>
            </a:solidFill>
            <a:prstDash val="solid"/>
          </a:ln>
        </p:spPr>
      </p:sp>
      <p:sp>
        <p:nvSpPr>
          <p:cNvPr id="41" name="Text 39"/>
          <p:cNvSpPr/>
          <p:nvPr/>
        </p:nvSpPr>
        <p:spPr>
          <a:xfrm>
            <a:off x="9939338" y="3141018"/>
            <a:ext cx="3914489"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canvas ▾ lagging indicators</a:t>
            </a:r>
            <a:endParaRPr lang="en-US" sz="713" dirty="0"/>
          </a:p>
        </p:txBody>
      </p:sp>
      <p:sp>
        <p:nvSpPr>
          <p:cNvPr id="42" name="Shape 40"/>
          <p:cNvSpPr/>
          <p:nvPr/>
        </p:nvSpPr>
        <p:spPr>
          <a:xfrm>
            <a:off x="9939338" y="3487489"/>
            <a:ext cx="3800475" cy="14288"/>
          </a:xfrm>
          <a:prstGeom prst="rect">
            <a:avLst/>
          </a:prstGeom>
          <a:solidFill>
            <a:srgbClr val="E2DED7"/>
          </a:solidFill>
          <a:ln/>
        </p:spPr>
      </p:sp>
      <p:sp>
        <p:nvSpPr>
          <p:cNvPr id="43" name="Text 41"/>
          <p:cNvSpPr/>
          <p:nvPr/>
        </p:nvSpPr>
        <p:spPr>
          <a:xfrm>
            <a:off x="9939338" y="3644652"/>
            <a:ext cx="3914489" cy="307330"/>
          </a:xfrm>
          <a:prstGeom prst="rect">
            <a:avLst/>
          </a:prstGeom>
          <a:noFill/>
          <a:ln/>
        </p:spPr>
        <p:txBody>
          <a:bodyPr wrap="square" lIns="25400" tIns="25400" rIns="25400" bIns="25400" rtlCol="0" anchor="t">
            <a:normAutofit/>
          </a:bodyPr>
          <a:lstStyle/>
          <a:p>
            <a:pPr algn="l" indent="0" marL="0">
              <a:lnSpc>
                <a:spcPct val="117813"/>
              </a:lnSpc>
              <a:buNone/>
            </a:pPr>
            <a:r>
              <a:rPr lang="en-US" sz="1088" dirty="0">
                <a:solidFill>
                  <a:srgbClr val="1B1B1B">
                    <a:alpha val="60000"/>
                  </a:srgbClr>
                </a:solidFill>
                <a:latin typeface="Arial" pitchFamily="34" charset="0"/>
                <a:ea typeface="Arial" pitchFamily="34" charset="-122"/>
                <a:cs typeface="Arial" pitchFamily="34" charset="-120"/>
              </a:rPr>
              <a:t>“I don't know what our baseline is.”</a:t>
            </a:r>
            <a:endParaRPr lang="en-US" sz="1088" dirty="0"/>
          </a:p>
        </p:txBody>
      </p:sp>
      <p:sp>
        <p:nvSpPr>
          <p:cNvPr id="44" name="Text 42"/>
          <p:cNvSpPr/>
          <p:nvPr/>
        </p:nvSpPr>
        <p:spPr>
          <a:xfrm>
            <a:off x="9939338" y="4056757"/>
            <a:ext cx="3914489" cy="770037"/>
          </a:xfrm>
          <a:prstGeom prst="rect">
            <a:avLst/>
          </a:prstGeom>
          <a:noFill/>
          <a:ln/>
        </p:spPr>
        <p:txBody>
          <a:bodyPr wrap="square" lIns="25400" tIns="25400" rIns="25400" bIns="25400" rtlCol="0" anchor="t">
            <a:normAutofit/>
          </a:bodyPr>
          <a:lstStyle/>
          <a:p>
            <a:pPr algn="l" indent="0" marL="0">
              <a:lnSpc>
                <a:spcPct val="106750"/>
              </a:lnSpc>
              <a:buNone/>
            </a:pPr>
            <a:r>
              <a:rPr lang="en-US" sz="1575" dirty="0">
                <a:solidFill>
                  <a:srgbClr val="1B1B1B"/>
                </a:solidFill>
                <a:latin typeface="Arial" pitchFamily="34" charset="0"/>
                <a:ea typeface="Arial" pitchFamily="34" charset="-122"/>
                <a:cs typeface="Arial" pitchFamily="34" charset="-120"/>
              </a:rPr>
              <a:t>Good. Genuinely. Let's stay here a second.</a:t>
            </a:r>
            <a:endParaRPr lang="en-US" sz="1575" dirty="0"/>
          </a:p>
        </p:txBody>
      </p:sp>
      <p:sp>
        <p:nvSpPr>
          <p:cNvPr id="45" name="Shape 43"/>
          <p:cNvSpPr/>
          <p:nvPr/>
        </p:nvSpPr>
        <p:spPr>
          <a:xfrm>
            <a:off x="9939338" y="4931569"/>
            <a:ext cx="3800475" cy="1131540"/>
          </a:xfrm>
          <a:prstGeom prst="roundRect">
            <a:avLst>
              <a:gd name="adj" fmla="val 7576"/>
            </a:avLst>
          </a:prstGeom>
          <a:ln w="12700">
            <a:solidFill>
              <a:srgbClr val="B3AEA6"/>
            </a:solidFill>
            <a:prstDash val="dash"/>
          </a:ln>
        </p:spPr>
      </p:sp>
      <p:sp>
        <p:nvSpPr>
          <p:cNvPr id="46" name="Text 44"/>
          <p:cNvSpPr/>
          <p:nvPr/>
        </p:nvSpPr>
        <p:spPr>
          <a:xfrm>
            <a:off x="10101263" y="5093494"/>
            <a:ext cx="3580924" cy="845790"/>
          </a:xfrm>
          <a:prstGeom prst="rect">
            <a:avLst/>
          </a:prstGeom>
          <a:noFill/>
          <a:ln/>
        </p:spPr>
        <p:txBody>
          <a:bodyPr wrap="square" lIns="25400" tIns="25400" rIns="25400" bIns="25400" rtlCol="0" anchor="t">
            <a:normAutofit/>
          </a:bodyPr>
          <a:lstStyle/>
          <a:p>
            <a:pPr algn="l" indent="0" marL="0">
              <a:lnSpc>
                <a:spcPct val="117813"/>
              </a:lnSpc>
              <a:buNone/>
            </a:pPr>
            <a:r>
              <a:rPr lang="en-US" sz="1088" dirty="0">
                <a:solidFill>
                  <a:srgbClr val="1B1B1B"/>
                </a:solidFill>
                <a:latin typeface="Arial" pitchFamily="34" charset="0"/>
                <a:ea typeface="Arial" pitchFamily="34" charset="-122"/>
                <a:cs typeface="Arial" pitchFamily="34" charset="-120"/>
              </a:rPr>
              <a:t>Who would know? And has anyone ever been able to tell whether this got better?</a:t>
            </a:r>
            <a:endParaRPr lang="en-US" sz="1088" dirty="0"/>
          </a:p>
        </p:txBody>
      </p:sp>
      <p:sp>
        <p:nvSpPr>
          <p:cNvPr id="47" name="Shape 45"/>
          <p:cNvSpPr/>
          <p:nvPr/>
        </p:nvSpPr>
        <p:spPr>
          <a:xfrm rot="60000">
            <a:off x="10572750" y="6270278"/>
            <a:ext cx="2533651" cy="247650"/>
          </a:xfrm>
          <a:prstGeom prst="roundRect">
            <a:avLst>
              <a:gd name="adj" fmla="val 7692"/>
            </a:avLst>
          </a:prstGeom>
          <a:solidFill>
            <a:srgbClr val="E2ECF6"/>
          </a:solidFill>
          <a:ln w="6350">
            <a:solidFill>
              <a:srgbClr val="B9CFE4"/>
            </a:solidFill>
            <a:prstDash val="solid"/>
          </a:ln>
          <a:effectLst>
            <a:outerShdw sx="100000" sy="100000" kx="0" ky="0" algn="bl" rotWithShape="0" blurRad="101600" dist="13470" dir="2700000">
              <a:srgbClr val="000000">
                <a:alpha val="8000"/>
              </a:srgbClr>
            </a:outerShdw>
          </a:effectLst>
        </p:spPr>
      </p:sp>
      <p:sp>
        <p:nvSpPr>
          <p:cNvPr id="48" name="Text 46"/>
          <p:cNvSpPr/>
          <p:nvPr/>
        </p:nvSpPr>
        <p:spPr>
          <a:xfrm rot="60000">
            <a:off x="10636250" y="6324253"/>
            <a:ext cx="2482851" cy="177800"/>
          </a:xfrm>
          <a:prstGeom prst="rect">
            <a:avLst/>
          </a:prstGeom>
          <a:noFill/>
          <a:ln/>
        </p:spPr>
        <p:txBody>
          <a:bodyPr wrap="square" lIns="25400" tIns="25400" rIns="25400" bIns="25400" rtlCol="0" anchor="t">
            <a:normAutofit/>
          </a:bodyPr>
          <a:lstStyle/>
          <a:p>
            <a:pPr algn="l" indent="0" marL="0">
              <a:lnSpc>
                <a:spcPct val="107143"/>
              </a:lnSpc>
              <a:buNone/>
            </a:pPr>
            <a:r>
              <a:rPr lang="en-US" sz="900" dirty="0">
                <a:solidFill>
                  <a:srgbClr val="2B2620"/>
                </a:solidFill>
                <a:latin typeface="Arial" pitchFamily="34" charset="0"/>
                <a:ea typeface="Arial" pitchFamily="34" charset="-122"/>
                <a:cs typeface="Arial" pitchFamily="34" charset="-120"/>
              </a:rPr>
              <a:t>We don't know our baseline — ask Priya's team</a:t>
            </a:r>
            <a:endParaRPr lang="en-US" sz="900" dirty="0"/>
          </a:p>
        </p:txBody>
      </p:sp>
      <p:sp>
        <p:nvSpPr>
          <p:cNvPr id="49" name="Text 47"/>
          <p:cNvSpPr/>
          <p:nvPr/>
        </p:nvSpPr>
        <p:spPr>
          <a:xfrm>
            <a:off x="9939338" y="6725096"/>
            <a:ext cx="3914489" cy="445294"/>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blue = an open question you take back to your team. a legitimate output.</a:t>
            </a:r>
            <a:endParaRPr lang="en-US" sz="713" dirty="0"/>
          </a:p>
        </p:txBody>
      </p:sp>
      <p:sp>
        <p:nvSpPr>
          <p:cNvPr id="50" name="Text 48"/>
          <p:cNvSpPr/>
          <p:nvPr/>
        </p:nvSpPr>
        <p:spPr>
          <a:xfrm>
            <a:off x="14335125" y="4033986"/>
            <a:ext cx="3443573" cy="1252538"/>
          </a:xfrm>
          <a:prstGeom prst="rect">
            <a:avLst/>
          </a:prstGeom>
          <a:noFill/>
          <a:ln/>
        </p:spPr>
        <p:txBody>
          <a:bodyPr wrap="square" lIns="25400" tIns="25400" rIns="25400" bIns="25400" rtlCol="0" anchor="t">
            <a:normAutofit/>
          </a:bodyPr>
          <a:lstStyle/>
          <a:p>
            <a:pPr algn="l" indent="0" marL="0">
              <a:lnSpc>
                <a:spcPct val="108974"/>
              </a:lnSpc>
              <a:buNone/>
            </a:pPr>
            <a:r>
              <a:rPr lang="en-US" sz="2550" dirty="0">
                <a:solidFill>
                  <a:srgbClr val="1B1B1B"/>
                </a:solidFill>
                <a:latin typeface="Arial" pitchFamily="34" charset="0"/>
                <a:ea typeface="Arial" pitchFamily="34" charset="-122"/>
                <a:cs typeface="Arial" pitchFamily="34" charset="-120"/>
              </a:rPr>
              <a:t>the most interesting answer, not a blank to skip</a:t>
            </a:r>
            <a:endParaRPr lang="en-US" sz="2550" dirty="0"/>
          </a:p>
        </p:txBody>
      </p:sp>
      <p:sp>
        <p:nvSpPr>
          <p:cNvPr id="51" name="Text 49"/>
          <p:cNvSpPr/>
          <p:nvPr/>
        </p:nvSpPr>
        <p:spPr>
          <a:xfrm>
            <a:off x="14335125" y="5419874"/>
            <a:ext cx="3443573" cy="1728490"/>
          </a:xfrm>
          <a:prstGeom prst="rect">
            <a:avLst/>
          </a:prstGeom>
          <a:noFill/>
          <a:ln/>
        </p:spPr>
        <p:txBody>
          <a:bodyPr wrap="square" lIns="25400" tIns="25400" rIns="25400" bIns="25400" rtlCol="0" anchor="t">
            <a:normAutofit/>
          </a:bodyPr>
          <a:lstStyle/>
          <a:p>
            <a:pPr algn="l" indent="0" marL="0">
              <a:lnSpc>
                <a:spcPct val="113226"/>
              </a:lnSpc>
              <a:buNone/>
            </a:pPr>
            <a:r>
              <a:rPr lang="en-US" sz="1950" dirty="0">
                <a:solidFill>
                  <a:srgbClr val="1F6BB8"/>
                </a:solidFill>
                <a:latin typeface="Arial" pitchFamily="34" charset="0"/>
                <a:ea typeface="Arial" pitchFamily="34" charset="-122"/>
                <a:cs typeface="Arial" pitchFamily="34" charset="-120"/>
              </a:rPr>
              <a:t>Standing still has to </a:t>
            </a:r>
            <a:pPr algn="l" indent="0" marL="0">
              <a:lnSpc>
                <a:spcPct val="113226"/>
              </a:lnSpc>
              <a:buNone/>
            </a:pPr>
            <a:r>
              <a:rPr lang="en-US" sz="1950" i="1" dirty="0">
                <a:solidFill>
                  <a:srgbClr val="1F6BB8"/>
                </a:solidFill>
                <a:latin typeface="Arial" pitchFamily="34" charset="0"/>
                <a:ea typeface="Arial" pitchFamily="34" charset="-122"/>
                <a:cs typeface="Arial" pitchFamily="34" charset="-120"/>
              </a:rPr>
              <a:t>look </a:t>
            </a:r>
            <a:pPr algn="l" indent="0" marL="0">
              <a:lnSpc>
                <a:spcPct val="113226"/>
              </a:lnSpc>
              <a:buNone/>
            </a:pPr>
            <a:r>
              <a:rPr lang="en-US" sz="1950" dirty="0">
                <a:solidFill>
                  <a:srgbClr val="1F6BB8"/>
                </a:solidFill>
                <a:latin typeface="Arial" pitchFamily="34" charset="0"/>
                <a:ea typeface="Arial" pitchFamily="34" charset="-122"/>
                <a:cs typeface="Arial" pitchFamily="34" charset="-120"/>
              </a:rPr>
              <a:t>like progress: the box growing is the only visual cue that the conversation is going deeper rather than stalling.</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FECE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FECE6"/>
          </a:solidFill>
          <a:ln/>
        </p:spPr>
      </p:sp>
      <p:sp>
        <p:nvSpPr>
          <p:cNvPr id="3" name="Shape 1"/>
          <p:cNvSpPr/>
          <p:nvPr/>
        </p:nvSpPr>
        <p:spPr>
          <a:xfrm>
            <a:off x="609600" y="1104900"/>
            <a:ext cx="17068800" cy="19050"/>
          </a:xfrm>
          <a:prstGeom prst="rect">
            <a:avLst/>
          </a:prstGeom>
          <a:solidFill>
            <a:srgbClr val="1B1B1B"/>
          </a:solidFill>
          <a:ln/>
        </p:spPr>
      </p:sp>
      <p:sp>
        <p:nvSpPr>
          <p:cNvPr id="4" name="Shape 2"/>
          <p:cNvSpPr/>
          <p:nvPr/>
        </p:nvSpPr>
        <p:spPr>
          <a:xfrm>
            <a:off x="609600" y="590550"/>
            <a:ext cx="459135" cy="381000"/>
          </a:xfrm>
          <a:prstGeom prst="roundRect">
            <a:avLst>
              <a:gd name="adj" fmla="val 17500"/>
            </a:avLst>
          </a:prstGeom>
          <a:solidFill>
            <a:srgbClr val="1B1B1B"/>
          </a:solidFill>
          <a:ln/>
        </p:spPr>
      </p:sp>
      <p:sp>
        <p:nvSpPr>
          <p:cNvPr id="5" name="Text 3"/>
          <p:cNvSpPr/>
          <p:nvPr/>
        </p:nvSpPr>
        <p:spPr>
          <a:xfrm>
            <a:off x="723900" y="676275"/>
            <a:ext cx="306735" cy="247650"/>
          </a:xfrm>
          <a:prstGeom prst="rect">
            <a:avLst/>
          </a:prstGeom>
          <a:noFill/>
          <a:ln/>
        </p:spPr>
        <p:txBody>
          <a:bodyPr wrap="square" lIns="25400" tIns="25400" rIns="25400" bIns="25400" rtlCol="0" anchor="t">
            <a:normAutofit/>
          </a:bodyPr>
          <a:lstStyle/>
          <a:p>
            <a:pPr algn="l" indent="0" marL="0">
              <a:lnSpc>
                <a:spcPct val="88000"/>
              </a:lnSpc>
              <a:buNone/>
            </a:pPr>
            <a:r>
              <a:rPr lang="en-US" sz="1650" b="1" dirty="0">
                <a:solidFill>
                  <a:srgbClr val="FFFFFF"/>
                </a:solidFill>
                <a:latin typeface="Courier New" pitchFamily="34" charset="0"/>
                <a:ea typeface="Courier New" pitchFamily="34" charset="-122"/>
                <a:cs typeface="Courier New" pitchFamily="34" charset="-120"/>
              </a:rPr>
              <a:t>09</a:t>
            </a:r>
            <a:endParaRPr lang="en-US" sz="1650" dirty="0"/>
          </a:p>
        </p:txBody>
      </p:sp>
      <p:sp>
        <p:nvSpPr>
          <p:cNvPr id="6" name="Text 4"/>
          <p:cNvSpPr/>
          <p:nvPr/>
        </p:nvSpPr>
        <p:spPr>
          <a:xfrm>
            <a:off x="1221135" y="504825"/>
            <a:ext cx="4259705" cy="457200"/>
          </a:xfrm>
          <a:prstGeom prst="rect">
            <a:avLst/>
          </a:prstGeom>
          <a:noFill/>
          <a:ln/>
        </p:spPr>
        <p:txBody>
          <a:bodyPr wrap="square" lIns="0" tIns="0" rIns="0" bIns="0" rtlCol="0" anchor="t">
            <a:normAutofit/>
          </a:bodyPr>
          <a:lstStyle/>
          <a:p>
            <a:pPr algn="l" indent="0" marL="0">
              <a:lnSpc>
                <a:spcPct val="102222"/>
              </a:lnSpc>
              <a:buNone/>
            </a:pPr>
            <a:r>
              <a:rPr lang="en-US" sz="3000" b="1" dirty="0">
                <a:solidFill>
                  <a:srgbClr val="1B1B1B"/>
                </a:solidFill>
                <a:latin typeface="Helvetica" pitchFamily="34" charset="0"/>
                <a:ea typeface="Helvetica" pitchFamily="34" charset="-122"/>
                <a:cs typeface="Helvetica" pitchFamily="34" charset="-120"/>
              </a:rPr>
              <a:t>Going backwards to ①</a:t>
            </a:r>
            <a:endParaRPr lang="en-US" sz="3000" dirty="0"/>
          </a:p>
        </p:txBody>
      </p:sp>
      <p:sp>
        <p:nvSpPr>
          <p:cNvPr id="7" name="Text 5"/>
          <p:cNvSpPr/>
          <p:nvPr/>
        </p:nvSpPr>
        <p:spPr>
          <a:xfrm>
            <a:off x="16688098" y="695325"/>
            <a:ext cx="1066502" cy="228600"/>
          </a:xfrm>
          <a:prstGeom prst="rect">
            <a:avLst/>
          </a:prstGeom>
          <a:noFill/>
          <a:ln/>
        </p:spPr>
        <p:txBody>
          <a:bodyPr wrap="none" lIns="25400" tIns="25400" rIns="25400" bIns="25400" rtlCol="0" anchor="t">
            <a:normAutofit/>
          </a:bodyPr>
          <a:lstStyle/>
          <a:p>
            <a:pPr algn="l" indent="0" marL="0">
              <a:lnSpc>
                <a:spcPct val="86957"/>
              </a:lnSpc>
              <a:buNone/>
            </a:pPr>
            <a:r>
              <a:rPr lang="en-US" sz="1500" b="1" spc="150" kern="0" dirty="0">
                <a:solidFill>
                  <a:srgbClr val="8A8479"/>
                </a:solidFill>
                <a:latin typeface="Courier New" pitchFamily="34" charset="0"/>
                <a:ea typeface="Courier New" pitchFamily="34" charset="-122"/>
                <a:cs typeface="Courier New" pitchFamily="34" charset="-120"/>
              </a:rPr>
              <a:t>COACHING</a:t>
            </a:r>
            <a:endParaRPr lang="en-US" sz="1500" dirty="0"/>
          </a:p>
        </p:txBody>
      </p:sp>
      <p:sp>
        <p:nvSpPr>
          <p:cNvPr id="8" name="Text 6"/>
          <p:cNvSpPr/>
          <p:nvPr/>
        </p:nvSpPr>
        <p:spPr>
          <a:xfrm>
            <a:off x="609600" y="2924324"/>
            <a:ext cx="9123998" cy="219075"/>
          </a:xfrm>
          <a:prstGeom prst="rect">
            <a:avLst/>
          </a:prstGeom>
          <a:noFill/>
          <a:ln/>
        </p:spPr>
        <p:txBody>
          <a:bodyPr wrap="square" lIns="25400" tIns="25400" rIns="25400" bIns="25400" rtlCol="0" anchor="t">
            <a:normAutofit/>
          </a:bodyPr>
          <a:lstStyle/>
          <a:p>
            <a:pPr algn="l" indent="0" marL="0">
              <a:buNone/>
            </a:pPr>
            <a:r>
              <a:rPr lang="en-US" sz="825" b="1" spc="66" kern="0" dirty="0">
                <a:solidFill>
                  <a:srgbClr val="1B1B1B">
                    <a:alpha val="50000"/>
                  </a:srgbClr>
                </a:solidFill>
                <a:latin typeface="Courier New" pitchFamily="34" charset="0"/>
                <a:ea typeface="Courier New" pitchFamily="34" charset="-122"/>
                <a:cs typeface="Courier New" pitchFamily="34" charset="-120"/>
              </a:rPr>
              <a:t>DESKTOP</a:t>
            </a:r>
            <a:endParaRPr lang="en-US" sz="825" dirty="0"/>
          </a:p>
        </p:txBody>
      </p:sp>
      <p:sp>
        <p:nvSpPr>
          <p:cNvPr id="9" name="Shape 7"/>
          <p:cNvSpPr/>
          <p:nvPr/>
        </p:nvSpPr>
        <p:spPr>
          <a:xfrm>
            <a:off x="609600" y="3219599"/>
            <a:ext cx="8858250" cy="5000179"/>
          </a:xfrm>
          <a:prstGeom prst="roundRect">
            <a:avLst>
              <a:gd name="adj" fmla="val 2286"/>
            </a:avLst>
          </a:prstGeom>
          <a:solidFill>
            <a:srgbClr val="FFFFFF"/>
          </a:solidFill>
          <a:ln w="19050">
            <a:solidFill>
              <a:srgbClr val="1B1B1B"/>
            </a:solidFill>
            <a:prstDash val="solid"/>
          </a:ln>
        </p:spPr>
      </p:sp>
      <p:sp>
        <p:nvSpPr>
          <p:cNvPr id="10" name="Text 8"/>
          <p:cNvSpPr/>
          <p:nvPr/>
        </p:nvSpPr>
        <p:spPr>
          <a:xfrm>
            <a:off x="823913" y="3433911"/>
            <a:ext cx="8682514" cy="404068"/>
          </a:xfrm>
          <a:prstGeom prst="rect">
            <a:avLst/>
          </a:prstGeom>
          <a:noFill/>
          <a:ln/>
        </p:spPr>
        <p:txBody>
          <a:bodyPr wrap="square" lIns="25400" tIns="25400" rIns="25400" bIns="25400" rtlCol="0" anchor="t">
            <a:normAutofit/>
          </a:bodyPr>
          <a:lstStyle/>
          <a:p>
            <a:pPr algn="l" indent="0" marL="0">
              <a:lnSpc>
                <a:spcPct val="106750"/>
              </a:lnSpc>
              <a:buNone/>
            </a:pPr>
            <a:r>
              <a:rPr lang="en-US" sz="1575" dirty="0">
                <a:solidFill>
                  <a:srgbClr val="1B1B1B"/>
                </a:solidFill>
                <a:latin typeface="Arial" pitchFamily="34" charset="0"/>
                <a:ea typeface="Arial" pitchFamily="34" charset="-122"/>
                <a:cs typeface="Arial" pitchFamily="34" charset="-120"/>
              </a:rPr>
              <a:t>Can I take you back a step? I don't think the problem is here.</a:t>
            </a:r>
            <a:endParaRPr lang="en-US" sz="1575" dirty="0"/>
          </a:p>
        </p:txBody>
      </p:sp>
      <p:sp>
        <p:nvSpPr>
          <p:cNvPr id="11" name="Shape 9"/>
          <p:cNvSpPr/>
          <p:nvPr/>
        </p:nvSpPr>
        <p:spPr>
          <a:xfrm>
            <a:off x="823913" y="3942755"/>
            <a:ext cx="8429625" cy="862310"/>
          </a:xfrm>
          <a:prstGeom prst="roundRect">
            <a:avLst>
              <a:gd name="adj" fmla="val 9941"/>
            </a:avLst>
          </a:prstGeom>
          <a:solidFill>
            <a:srgbClr val="FAF8F4"/>
          </a:solidFill>
          <a:ln w="12700">
            <a:solidFill>
              <a:srgbClr val="B3AEA6"/>
            </a:solidFill>
            <a:prstDash val="dash"/>
          </a:ln>
        </p:spPr>
      </p:sp>
      <p:sp>
        <p:nvSpPr>
          <p:cNvPr id="12" name="Text 10"/>
          <p:cNvSpPr/>
          <p:nvPr/>
        </p:nvSpPr>
        <p:spPr>
          <a:xfrm>
            <a:off x="985838" y="4104680"/>
            <a:ext cx="8348948" cy="576560"/>
          </a:xfrm>
          <a:prstGeom prst="rect">
            <a:avLst/>
          </a:prstGeom>
          <a:noFill/>
          <a:ln/>
        </p:spPr>
        <p:txBody>
          <a:bodyPr wrap="square" lIns="25400" tIns="25400" rIns="25400" bIns="25400" rtlCol="0" anchor="t">
            <a:normAutofit/>
          </a:bodyPr>
          <a:lstStyle/>
          <a:p>
            <a:pPr algn="l" indent="0" marL="0">
              <a:lnSpc>
                <a:spcPct val="117813"/>
              </a:lnSpc>
              <a:buNone/>
            </a:pPr>
            <a:r>
              <a:rPr lang="en-US" sz="1088" dirty="0">
                <a:solidFill>
                  <a:srgbClr val="1B1B1B"/>
                </a:solidFill>
                <a:latin typeface="Arial" pitchFamily="34" charset="0"/>
                <a:ea typeface="Arial" pitchFamily="34" charset="-122"/>
                <a:cs typeface="Arial" pitchFamily="34" charset="-120"/>
              </a:rPr>
              <a:t>Your lagging measure is vague because “count faster” is vague. Let's sharpen the behaviour and this box will write itself. Nothing you've said is wrong — we're just fixing it upstream.</a:t>
            </a:r>
            <a:endParaRPr lang="en-US" sz="1088" dirty="0"/>
          </a:p>
        </p:txBody>
      </p:sp>
      <p:sp>
        <p:nvSpPr>
          <p:cNvPr id="13" name="Shape 11"/>
          <p:cNvSpPr/>
          <p:nvPr/>
        </p:nvSpPr>
        <p:spPr>
          <a:xfrm>
            <a:off x="823913" y="4947940"/>
            <a:ext cx="4171950" cy="942975"/>
          </a:xfrm>
          <a:prstGeom prst="roundRect">
            <a:avLst>
              <a:gd name="adj" fmla="val 8081"/>
            </a:avLst>
          </a:prstGeom>
          <a:ln w="12700">
            <a:solidFill>
              <a:srgbClr val="C3BEB5">
                <a:alpha val="62000"/>
              </a:srgbClr>
            </a:solidFill>
            <a:prstDash val="solid"/>
          </a:ln>
        </p:spPr>
      </p:sp>
      <p:sp>
        <p:nvSpPr>
          <p:cNvPr id="14" name="Shape 12"/>
          <p:cNvSpPr/>
          <p:nvPr/>
        </p:nvSpPr>
        <p:spPr>
          <a:xfrm>
            <a:off x="4595813" y="4838402"/>
            <a:ext cx="280988" cy="280988"/>
          </a:xfrm>
          <a:prstGeom prst="ellipse">
            <a:avLst/>
          </a:prstGeom>
          <a:solidFill>
            <a:srgbClr val="EFECE6">
              <a:alpha val="62000"/>
            </a:srgbClr>
          </a:solidFill>
          <a:ln w="12700">
            <a:solidFill>
              <a:srgbClr val="8A8479">
                <a:alpha val="62000"/>
              </a:srgbClr>
            </a:solidFill>
            <a:prstDash val="solid"/>
          </a:ln>
        </p:spPr>
      </p:sp>
      <p:sp>
        <p:nvSpPr>
          <p:cNvPr id="15" name="Text 13"/>
          <p:cNvSpPr/>
          <p:nvPr/>
        </p:nvSpPr>
        <p:spPr>
          <a:xfrm>
            <a:off x="4570412" y="4851102"/>
            <a:ext cx="331788" cy="293688"/>
          </a:xfrm>
          <a:prstGeom prst="rect">
            <a:avLst/>
          </a:prstGeom>
          <a:noFill/>
          <a:ln/>
        </p:spPr>
        <p:txBody>
          <a:bodyPr wrap="square" lIns="25400" tIns="25400" rIns="25400" bIns="25400" rtlCol="0" anchor="t">
            <a:normAutofit/>
          </a:bodyPr>
          <a:lstStyle/>
          <a:p>
            <a:pPr algn="ctr" indent="0" marL="0">
              <a:lnSpc>
                <a:spcPct val="140000"/>
              </a:lnSpc>
              <a:buNone/>
            </a:pPr>
            <a:r>
              <a:rPr lang="en-US" sz="638" b="1" dirty="0">
                <a:solidFill>
                  <a:srgbClr val="5A5449">
                    <a:alpha val="62000"/>
                  </a:srgbClr>
                </a:solidFill>
                <a:latin typeface="Courier New" pitchFamily="34" charset="0"/>
                <a:ea typeface="Courier New" pitchFamily="34" charset="-122"/>
                <a:cs typeface="Courier New" pitchFamily="34" charset="-120"/>
              </a:rPr>
              <a:t>2</a:t>
            </a:r>
            <a:endParaRPr lang="en-US" sz="638" dirty="0"/>
          </a:p>
        </p:txBody>
      </p:sp>
      <p:sp>
        <p:nvSpPr>
          <p:cNvPr id="16" name="Shape 14"/>
          <p:cNvSpPr/>
          <p:nvPr/>
        </p:nvSpPr>
        <p:spPr>
          <a:xfrm>
            <a:off x="942975" y="5067002"/>
            <a:ext cx="3933825" cy="349448"/>
          </a:xfrm>
          <a:prstGeom prst="roundRect">
            <a:avLst>
              <a:gd name="adj" fmla="val 5451"/>
            </a:avLst>
          </a:prstGeom>
          <a:solidFill>
            <a:srgbClr val="FFF6BF">
              <a:alpha val="62000"/>
            </a:srgbClr>
          </a:solidFill>
          <a:ln w="6350">
            <a:solidFill>
              <a:srgbClr val="E3D489">
                <a:alpha val="62000"/>
              </a:srgbClr>
            </a:solidFill>
            <a:prstDash val="solid"/>
          </a:ln>
          <a:effectLst>
            <a:outerShdw sx="100000" sy="100000" kx="0" ky="0" algn="bl" rotWithShape="0" blurRad="101600" dist="13470" dir="2700000">
              <a:srgbClr val="000000">
                <a:alpha val="4960"/>
              </a:srgbClr>
            </a:outerShdw>
          </a:effectLst>
        </p:spPr>
      </p:sp>
      <p:sp>
        <p:nvSpPr>
          <p:cNvPr id="17" name="Text 15"/>
          <p:cNvSpPr/>
          <p:nvPr/>
        </p:nvSpPr>
        <p:spPr>
          <a:xfrm>
            <a:off x="1006475" y="5120977"/>
            <a:ext cx="3924840" cy="279598"/>
          </a:xfrm>
          <a:prstGeom prst="rect">
            <a:avLst/>
          </a:prstGeom>
          <a:noFill/>
          <a:ln/>
        </p:spPr>
        <p:txBody>
          <a:bodyPr wrap="square" lIns="25400" tIns="25400" rIns="25400" bIns="25400" rtlCol="0" anchor="t">
            <a:normAutofit/>
          </a:bodyPr>
          <a:lstStyle/>
          <a:p>
            <a:pPr algn="l" indent="0" marL="0">
              <a:lnSpc>
                <a:spcPct val="109375"/>
              </a:lnSpc>
              <a:buNone/>
            </a:pPr>
            <a:r>
              <a:rPr lang="en-US" sz="788" dirty="0">
                <a:solidFill>
                  <a:srgbClr val="2B2620">
                    <a:alpha val="62000"/>
                  </a:srgbClr>
                </a:solidFill>
                <a:latin typeface="Arial" pitchFamily="34" charset="0"/>
                <a:ea typeface="Arial" pitchFamily="34" charset="-122"/>
                <a:cs typeface="Arial" pitchFamily="34" charset="-120"/>
              </a:rPr>
              <a:t>3 hr night counts</a:t>
            </a:r>
            <a:endParaRPr lang="en-US" sz="788" dirty="0"/>
          </a:p>
        </p:txBody>
      </p:sp>
      <p:sp>
        <p:nvSpPr>
          <p:cNvPr id="18" name="Shape 16"/>
          <p:cNvSpPr/>
          <p:nvPr/>
        </p:nvSpPr>
        <p:spPr>
          <a:xfrm>
            <a:off x="5081588" y="4947940"/>
            <a:ext cx="4171950" cy="942975"/>
          </a:xfrm>
          <a:prstGeom prst="roundRect">
            <a:avLst>
              <a:gd name="adj" fmla="val 8081"/>
            </a:avLst>
          </a:prstGeom>
          <a:ln w="12700">
            <a:solidFill>
              <a:srgbClr val="C3BEB5">
                <a:alpha val="62000"/>
              </a:srgbClr>
            </a:solidFill>
            <a:prstDash val="solid"/>
          </a:ln>
        </p:spPr>
      </p:sp>
      <p:sp>
        <p:nvSpPr>
          <p:cNvPr id="19" name="Shape 17"/>
          <p:cNvSpPr/>
          <p:nvPr/>
        </p:nvSpPr>
        <p:spPr>
          <a:xfrm>
            <a:off x="8853488" y="4838402"/>
            <a:ext cx="280988" cy="280988"/>
          </a:xfrm>
          <a:prstGeom prst="ellipse">
            <a:avLst/>
          </a:prstGeom>
          <a:solidFill>
            <a:srgbClr val="EFECE6">
              <a:alpha val="62000"/>
            </a:srgbClr>
          </a:solidFill>
          <a:ln w="12700">
            <a:solidFill>
              <a:srgbClr val="8A8479">
                <a:alpha val="62000"/>
              </a:srgbClr>
            </a:solidFill>
            <a:prstDash val="solid"/>
          </a:ln>
        </p:spPr>
      </p:sp>
      <p:sp>
        <p:nvSpPr>
          <p:cNvPr id="20" name="Text 18"/>
          <p:cNvSpPr/>
          <p:nvPr/>
        </p:nvSpPr>
        <p:spPr>
          <a:xfrm>
            <a:off x="8828087" y="4851102"/>
            <a:ext cx="331788" cy="293688"/>
          </a:xfrm>
          <a:prstGeom prst="rect">
            <a:avLst/>
          </a:prstGeom>
          <a:noFill/>
          <a:ln/>
        </p:spPr>
        <p:txBody>
          <a:bodyPr wrap="square" lIns="25400" tIns="25400" rIns="25400" bIns="25400" rtlCol="0" anchor="t">
            <a:normAutofit/>
          </a:bodyPr>
          <a:lstStyle/>
          <a:p>
            <a:pPr algn="ctr" indent="0" marL="0">
              <a:lnSpc>
                <a:spcPct val="140000"/>
              </a:lnSpc>
              <a:buNone/>
            </a:pPr>
            <a:r>
              <a:rPr lang="en-US" sz="638" b="1" dirty="0">
                <a:solidFill>
                  <a:srgbClr val="5A5449">
                    <a:alpha val="62000"/>
                  </a:srgbClr>
                </a:solidFill>
                <a:latin typeface="Courier New" pitchFamily="34" charset="0"/>
                <a:ea typeface="Courier New" pitchFamily="34" charset="-122"/>
                <a:cs typeface="Courier New" pitchFamily="34" charset="-120"/>
              </a:rPr>
              <a:t>4</a:t>
            </a:r>
            <a:endParaRPr lang="en-US" sz="638" dirty="0"/>
          </a:p>
        </p:txBody>
      </p:sp>
      <p:sp>
        <p:nvSpPr>
          <p:cNvPr id="21" name="Text 19"/>
          <p:cNvSpPr/>
          <p:nvPr/>
        </p:nvSpPr>
        <p:spPr>
          <a:xfrm>
            <a:off x="5200650" y="5067002"/>
            <a:ext cx="4051840" cy="251668"/>
          </a:xfrm>
          <a:prstGeom prst="rect">
            <a:avLst/>
          </a:prstGeom>
          <a:noFill/>
          <a:ln/>
        </p:spPr>
        <p:txBody>
          <a:bodyPr wrap="square" lIns="25400" tIns="25400" rIns="25400" bIns="25400" rtlCol="0" anchor="t">
            <a:normAutofit/>
          </a:bodyPr>
          <a:lstStyle/>
          <a:p>
            <a:pPr algn="l" indent="0" marL="0">
              <a:lnSpc>
                <a:spcPct val="124583"/>
              </a:lnSpc>
              <a:buNone/>
            </a:pPr>
            <a:r>
              <a:rPr lang="en-US" sz="863" dirty="0">
                <a:solidFill>
                  <a:srgbClr val="87817A">
                    <a:alpha val="62000"/>
                  </a:srgbClr>
                </a:solidFill>
                <a:latin typeface="Arial" pitchFamily="34" charset="0"/>
                <a:ea typeface="Arial" pitchFamily="34" charset="-122"/>
                <a:cs typeface="Arial" pitchFamily="34" charset="-120"/>
              </a:rPr>
              <a:t>still to come</a:t>
            </a:r>
            <a:endParaRPr lang="en-US" sz="863" dirty="0"/>
          </a:p>
        </p:txBody>
      </p:sp>
      <p:sp>
        <p:nvSpPr>
          <p:cNvPr id="22" name="Shape 20"/>
          <p:cNvSpPr/>
          <p:nvPr/>
        </p:nvSpPr>
        <p:spPr>
          <a:xfrm>
            <a:off x="823913" y="5976640"/>
            <a:ext cx="8429625" cy="1000125"/>
          </a:xfrm>
          <a:prstGeom prst="roundRect">
            <a:avLst>
              <a:gd name="adj" fmla="val 7619"/>
            </a:avLst>
          </a:prstGeom>
          <a:solidFill>
            <a:srgbClr val="FFFDF5"/>
          </a:solidFill>
          <a:ln w="19050">
            <a:solidFill>
              <a:srgbClr val="1B1B1B"/>
            </a:solidFill>
            <a:prstDash val="solid"/>
          </a:ln>
        </p:spPr>
      </p:sp>
      <p:sp>
        <p:nvSpPr>
          <p:cNvPr id="23" name="Shape 21"/>
          <p:cNvSpPr/>
          <p:nvPr/>
        </p:nvSpPr>
        <p:spPr>
          <a:xfrm>
            <a:off x="8843963" y="5876627"/>
            <a:ext cx="280988" cy="280988"/>
          </a:xfrm>
          <a:prstGeom prst="ellipse">
            <a:avLst/>
          </a:prstGeom>
          <a:solidFill>
            <a:srgbClr val="1B1B1B"/>
          </a:solidFill>
          <a:ln w="12700">
            <a:solidFill>
              <a:srgbClr val="1B1B1B"/>
            </a:solidFill>
            <a:prstDash val="solid"/>
          </a:ln>
        </p:spPr>
      </p:sp>
      <p:sp>
        <p:nvSpPr>
          <p:cNvPr id="24" name="Text 22"/>
          <p:cNvSpPr/>
          <p:nvPr/>
        </p:nvSpPr>
        <p:spPr>
          <a:xfrm>
            <a:off x="8818562" y="5889327"/>
            <a:ext cx="331788" cy="293688"/>
          </a:xfrm>
          <a:prstGeom prst="rect">
            <a:avLst/>
          </a:prstGeom>
          <a:noFill/>
          <a:ln/>
        </p:spPr>
        <p:txBody>
          <a:bodyPr wrap="square" lIns="25400" tIns="25400" rIns="25400" bIns="25400" rtlCol="0" anchor="t">
            <a:normAutofit/>
          </a:bodyPr>
          <a:lstStyle/>
          <a:p>
            <a:pPr algn="ctr" indent="0" marL="0">
              <a:lnSpc>
                <a:spcPct val="140000"/>
              </a:lnSpc>
              <a:buNone/>
            </a:pPr>
            <a:r>
              <a:rPr lang="en-US" sz="638" b="1" dirty="0">
                <a:solidFill>
                  <a:srgbClr val="FFFFFF"/>
                </a:solidFill>
                <a:latin typeface="Courier New" pitchFamily="34" charset="0"/>
                <a:ea typeface="Courier New" pitchFamily="34" charset="-122"/>
                <a:cs typeface="Courier New" pitchFamily="34" charset="-120"/>
              </a:rPr>
              <a:t>1</a:t>
            </a:r>
            <a:endParaRPr lang="en-US" sz="638" dirty="0"/>
          </a:p>
        </p:txBody>
      </p:sp>
      <p:sp>
        <p:nvSpPr>
          <p:cNvPr id="25" name="Text 23"/>
          <p:cNvSpPr/>
          <p:nvPr/>
        </p:nvSpPr>
        <p:spPr>
          <a:xfrm>
            <a:off x="952500" y="6105227"/>
            <a:ext cx="8417624" cy="180975"/>
          </a:xfrm>
          <a:prstGeom prst="rect">
            <a:avLst/>
          </a:prstGeom>
          <a:noFill/>
          <a:ln/>
        </p:spPr>
        <p:txBody>
          <a:bodyPr wrap="square" lIns="25400" tIns="25400" rIns="25400" bIns="25400" rtlCol="0" anchor="t">
            <a:normAutofit/>
          </a:bodyPr>
          <a:lstStyle/>
          <a:p>
            <a:pPr algn="l" indent="0" marL="0">
              <a:buNone/>
            </a:pPr>
            <a:r>
              <a:rPr lang="en-US" sz="638" b="1" spc="38" kern="0" dirty="0">
                <a:solidFill>
                  <a:srgbClr val="8A8479"/>
                </a:solidFill>
                <a:latin typeface="Courier New" pitchFamily="34" charset="0"/>
                <a:ea typeface="Courier New" pitchFamily="34" charset="-122"/>
                <a:cs typeface="Courier New" pitchFamily="34" charset="-120"/>
              </a:rPr>
              <a:t>BACK HERE FOR A MOMENT</a:t>
            </a:r>
            <a:endParaRPr lang="en-US" sz="638" dirty="0"/>
          </a:p>
        </p:txBody>
      </p:sp>
      <p:sp>
        <p:nvSpPr>
          <p:cNvPr id="26" name="Shape 24"/>
          <p:cNvSpPr/>
          <p:nvPr/>
        </p:nvSpPr>
        <p:spPr>
          <a:xfrm rot="-72000">
            <a:off x="1131168" y="6383834"/>
            <a:ext cx="714375" cy="247650"/>
          </a:xfrm>
          <a:prstGeom prst="roundRect">
            <a:avLst>
              <a:gd name="adj" fmla="val 7692"/>
            </a:avLst>
          </a:prstGeom>
          <a:solidFill>
            <a:srgbClr val="FFF6BF">
              <a:alpha val="55000"/>
            </a:srgbClr>
          </a:solidFill>
          <a:ln w="6350">
            <a:solidFill>
              <a:srgbClr val="E3D489">
                <a:alpha val="55000"/>
              </a:srgbClr>
            </a:solidFill>
            <a:prstDash val="solid"/>
          </a:ln>
          <a:effectLst>
            <a:outerShdw sx="100000" sy="100000" kx="0" ky="0" algn="bl" rotWithShape="0" blurRad="101600" dist="13470" dir="2700000">
              <a:srgbClr val="000000">
                <a:alpha val="4400"/>
              </a:srgbClr>
            </a:outerShdw>
          </a:effectLst>
        </p:spPr>
      </p:sp>
      <p:sp>
        <p:nvSpPr>
          <p:cNvPr id="27" name="Text 25"/>
          <p:cNvSpPr/>
          <p:nvPr/>
        </p:nvSpPr>
        <p:spPr>
          <a:xfrm rot="-72000">
            <a:off x="1194668" y="6437809"/>
            <a:ext cx="663575" cy="177800"/>
          </a:xfrm>
          <a:prstGeom prst="rect">
            <a:avLst/>
          </a:prstGeom>
          <a:noFill/>
          <a:ln/>
        </p:spPr>
        <p:txBody>
          <a:bodyPr wrap="square" lIns="25400" tIns="25400" rIns="25400" bIns="25400" rtlCol="0" anchor="t">
            <a:normAutofit/>
          </a:bodyPr>
          <a:lstStyle/>
          <a:p>
            <a:pPr algn="l" indent="0" marL="0">
              <a:lnSpc>
                <a:spcPct val="107143"/>
              </a:lnSpc>
              <a:buNone/>
            </a:pPr>
            <a:r>
              <a:rPr lang="en-US" sz="900" strike="sngStrike" dirty="0">
                <a:solidFill>
                  <a:srgbClr val="2B2620">
                    <a:alpha val="55000"/>
                  </a:srgbClr>
                </a:solidFill>
                <a:latin typeface="Arial" pitchFamily="34" charset="0"/>
                <a:ea typeface="Arial" pitchFamily="34" charset="-122"/>
                <a:cs typeface="Arial" pitchFamily="34" charset="-120"/>
              </a:rPr>
              <a:t>count faster</a:t>
            </a:r>
            <a:endParaRPr lang="en-US" sz="900" dirty="0"/>
          </a:p>
        </p:txBody>
      </p:sp>
      <p:sp>
        <p:nvSpPr>
          <p:cNvPr id="28" name="Text 26"/>
          <p:cNvSpPr/>
          <p:nvPr/>
        </p:nvSpPr>
        <p:spPr>
          <a:xfrm>
            <a:off x="2138511" y="6405860"/>
            <a:ext cx="3382103"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 what does “faster” look like on a Tuesday?</a:t>
            </a:r>
            <a:endParaRPr lang="en-US" sz="713" dirty="0"/>
          </a:p>
        </p:txBody>
      </p:sp>
      <p:sp>
        <p:nvSpPr>
          <p:cNvPr id="29" name="Shape 27"/>
          <p:cNvSpPr/>
          <p:nvPr/>
        </p:nvSpPr>
        <p:spPr>
          <a:xfrm>
            <a:off x="823913" y="7062490"/>
            <a:ext cx="4171950" cy="942975"/>
          </a:xfrm>
          <a:prstGeom prst="roundRect">
            <a:avLst>
              <a:gd name="adj" fmla="val 8081"/>
            </a:avLst>
          </a:prstGeom>
          <a:ln w="12700">
            <a:solidFill>
              <a:srgbClr val="C3BEB5">
                <a:alpha val="62000"/>
              </a:srgbClr>
            </a:solidFill>
            <a:prstDash val="solid"/>
          </a:ln>
        </p:spPr>
      </p:sp>
      <p:sp>
        <p:nvSpPr>
          <p:cNvPr id="30" name="Shape 28"/>
          <p:cNvSpPr/>
          <p:nvPr/>
        </p:nvSpPr>
        <p:spPr>
          <a:xfrm>
            <a:off x="4595813" y="6952952"/>
            <a:ext cx="280988" cy="280988"/>
          </a:xfrm>
          <a:prstGeom prst="ellipse">
            <a:avLst/>
          </a:prstGeom>
          <a:solidFill>
            <a:srgbClr val="EFECE6">
              <a:alpha val="62000"/>
            </a:srgbClr>
          </a:solidFill>
          <a:ln w="12700">
            <a:solidFill>
              <a:srgbClr val="8A8479">
                <a:alpha val="62000"/>
              </a:srgbClr>
            </a:solidFill>
            <a:prstDash val="solid"/>
          </a:ln>
        </p:spPr>
      </p:sp>
      <p:sp>
        <p:nvSpPr>
          <p:cNvPr id="31" name="Text 29"/>
          <p:cNvSpPr/>
          <p:nvPr/>
        </p:nvSpPr>
        <p:spPr>
          <a:xfrm>
            <a:off x="4570412" y="6965652"/>
            <a:ext cx="331788" cy="293688"/>
          </a:xfrm>
          <a:prstGeom prst="rect">
            <a:avLst/>
          </a:prstGeom>
          <a:noFill/>
          <a:ln/>
        </p:spPr>
        <p:txBody>
          <a:bodyPr wrap="square" lIns="25400" tIns="25400" rIns="25400" bIns="25400" rtlCol="0" anchor="t">
            <a:normAutofit/>
          </a:bodyPr>
          <a:lstStyle/>
          <a:p>
            <a:pPr algn="ctr" indent="0" marL="0">
              <a:lnSpc>
                <a:spcPct val="140000"/>
              </a:lnSpc>
              <a:buNone/>
            </a:pPr>
            <a:r>
              <a:rPr lang="en-US" sz="638" b="1" dirty="0">
                <a:solidFill>
                  <a:srgbClr val="5A5449">
                    <a:alpha val="62000"/>
                  </a:srgbClr>
                </a:solidFill>
                <a:latin typeface="Courier New" pitchFamily="34" charset="0"/>
                <a:ea typeface="Courier New" pitchFamily="34" charset="-122"/>
                <a:cs typeface="Courier New" pitchFamily="34" charset="-120"/>
              </a:rPr>
              <a:t>5</a:t>
            </a:r>
            <a:endParaRPr lang="en-US" sz="638" dirty="0"/>
          </a:p>
        </p:txBody>
      </p:sp>
      <p:sp>
        <p:nvSpPr>
          <p:cNvPr id="32" name="Text 30"/>
          <p:cNvSpPr/>
          <p:nvPr/>
        </p:nvSpPr>
        <p:spPr>
          <a:xfrm>
            <a:off x="942975" y="7181552"/>
            <a:ext cx="4051840" cy="251668"/>
          </a:xfrm>
          <a:prstGeom prst="rect">
            <a:avLst/>
          </a:prstGeom>
          <a:noFill/>
          <a:ln/>
        </p:spPr>
        <p:txBody>
          <a:bodyPr wrap="square" lIns="25400" tIns="25400" rIns="25400" bIns="25400" rtlCol="0" anchor="t">
            <a:normAutofit/>
          </a:bodyPr>
          <a:lstStyle/>
          <a:p>
            <a:pPr algn="l" indent="0" marL="0">
              <a:lnSpc>
                <a:spcPct val="124583"/>
              </a:lnSpc>
              <a:buNone/>
            </a:pPr>
            <a:r>
              <a:rPr lang="en-US" sz="863" dirty="0">
                <a:solidFill>
                  <a:srgbClr val="87817A">
                    <a:alpha val="62000"/>
                  </a:srgbClr>
                </a:solidFill>
                <a:latin typeface="Arial" pitchFamily="34" charset="0"/>
                <a:ea typeface="Arial" pitchFamily="34" charset="-122"/>
                <a:cs typeface="Arial" pitchFamily="34" charset="-120"/>
              </a:rPr>
              <a:t>what tells us in weeks?</a:t>
            </a:r>
            <a:endParaRPr lang="en-US" sz="863" dirty="0"/>
          </a:p>
        </p:txBody>
      </p:sp>
      <p:sp>
        <p:nvSpPr>
          <p:cNvPr id="33" name="Shape 31"/>
          <p:cNvSpPr/>
          <p:nvPr/>
        </p:nvSpPr>
        <p:spPr>
          <a:xfrm>
            <a:off x="5081588" y="7062490"/>
            <a:ext cx="4171950" cy="942975"/>
          </a:xfrm>
          <a:prstGeom prst="roundRect">
            <a:avLst>
              <a:gd name="adj" fmla="val 8081"/>
            </a:avLst>
          </a:prstGeom>
          <a:ln w="12700">
            <a:solidFill>
              <a:srgbClr val="C3BEB5"/>
            </a:solidFill>
            <a:prstDash val="dash"/>
          </a:ln>
        </p:spPr>
      </p:sp>
      <p:sp>
        <p:nvSpPr>
          <p:cNvPr id="34" name="Shape 32"/>
          <p:cNvSpPr/>
          <p:nvPr/>
        </p:nvSpPr>
        <p:spPr>
          <a:xfrm>
            <a:off x="8853488" y="6952952"/>
            <a:ext cx="280988" cy="280988"/>
          </a:xfrm>
          <a:prstGeom prst="ellipse">
            <a:avLst/>
          </a:prstGeom>
          <a:solidFill>
            <a:srgbClr val="EFECE6"/>
          </a:solidFill>
          <a:ln w="12700">
            <a:solidFill>
              <a:srgbClr val="8A8479"/>
            </a:solidFill>
            <a:prstDash val="solid"/>
          </a:ln>
        </p:spPr>
      </p:sp>
      <p:sp>
        <p:nvSpPr>
          <p:cNvPr id="35" name="Text 33"/>
          <p:cNvSpPr/>
          <p:nvPr/>
        </p:nvSpPr>
        <p:spPr>
          <a:xfrm>
            <a:off x="8828087" y="6965652"/>
            <a:ext cx="331788" cy="293688"/>
          </a:xfrm>
          <a:prstGeom prst="rect">
            <a:avLst/>
          </a:prstGeom>
          <a:noFill/>
          <a:ln/>
        </p:spPr>
        <p:txBody>
          <a:bodyPr wrap="square" lIns="25400" tIns="25400" rIns="25400" bIns="25400" rtlCol="0" anchor="t">
            <a:normAutofit/>
          </a:bodyPr>
          <a:lstStyle/>
          <a:p>
            <a:pPr algn="ctr" indent="0" marL="0">
              <a:lnSpc>
                <a:spcPct val="140000"/>
              </a:lnSpc>
              <a:buNone/>
            </a:pPr>
            <a:r>
              <a:rPr lang="en-US" sz="638" b="1" dirty="0">
                <a:solidFill>
                  <a:srgbClr val="5A5449"/>
                </a:solidFill>
                <a:latin typeface="Courier New" pitchFamily="34" charset="0"/>
                <a:ea typeface="Courier New" pitchFamily="34" charset="-122"/>
                <a:cs typeface="Courier New" pitchFamily="34" charset="-120"/>
              </a:rPr>
              <a:t>3</a:t>
            </a:r>
            <a:endParaRPr lang="en-US" sz="638" dirty="0"/>
          </a:p>
        </p:txBody>
      </p:sp>
      <p:sp>
        <p:nvSpPr>
          <p:cNvPr id="36" name="Text 34"/>
          <p:cNvSpPr/>
          <p:nvPr/>
        </p:nvSpPr>
        <p:spPr>
          <a:xfrm>
            <a:off x="5200650" y="7181552"/>
            <a:ext cx="4051840" cy="180975"/>
          </a:xfrm>
          <a:prstGeom prst="rect">
            <a:avLst/>
          </a:prstGeom>
          <a:noFill/>
          <a:ln/>
        </p:spPr>
        <p:txBody>
          <a:bodyPr wrap="square" lIns="25400" tIns="25400" rIns="25400" bIns="25400" rtlCol="0" anchor="t">
            <a:normAutofit/>
          </a:bodyPr>
          <a:lstStyle/>
          <a:p>
            <a:pPr algn="l" indent="0" marL="0">
              <a:buNone/>
            </a:pPr>
            <a:r>
              <a:rPr lang="en-US" sz="638" b="1" spc="38" kern="0" dirty="0">
                <a:solidFill>
                  <a:srgbClr val="8A8479"/>
                </a:solidFill>
                <a:latin typeface="Courier New" pitchFamily="34" charset="0"/>
                <a:ea typeface="Courier New" pitchFamily="34" charset="-122"/>
                <a:cs typeface="Courier New" pitchFamily="34" charset="-120"/>
              </a:rPr>
              <a:t>LAGGING · PARKED</a:t>
            </a:r>
            <a:endParaRPr lang="en-US" sz="638" dirty="0"/>
          </a:p>
        </p:txBody>
      </p:sp>
      <p:sp>
        <p:nvSpPr>
          <p:cNvPr id="37" name="Text 35"/>
          <p:cNvSpPr/>
          <p:nvPr/>
        </p:nvSpPr>
        <p:spPr>
          <a:xfrm>
            <a:off x="5200650" y="7395865"/>
            <a:ext cx="4051840"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we'll come back — your words are safe</a:t>
            </a:r>
            <a:endParaRPr lang="en-US" sz="713" dirty="0"/>
          </a:p>
        </p:txBody>
      </p:sp>
      <p:sp>
        <p:nvSpPr>
          <p:cNvPr id="38" name="Text 36"/>
          <p:cNvSpPr/>
          <p:nvPr/>
        </p:nvSpPr>
        <p:spPr>
          <a:xfrm>
            <a:off x="9725025" y="2924324"/>
            <a:ext cx="4355973" cy="219075"/>
          </a:xfrm>
          <a:prstGeom prst="rect">
            <a:avLst/>
          </a:prstGeom>
          <a:noFill/>
          <a:ln/>
        </p:spPr>
        <p:txBody>
          <a:bodyPr wrap="square" lIns="25400" tIns="25400" rIns="25400" bIns="25400" rtlCol="0" anchor="t">
            <a:normAutofit/>
          </a:bodyPr>
          <a:lstStyle/>
          <a:p>
            <a:pPr algn="l" indent="0" marL="0">
              <a:buNone/>
            </a:pPr>
            <a:r>
              <a:rPr lang="en-US" sz="825" b="1" spc="66" kern="0" dirty="0">
                <a:solidFill>
                  <a:srgbClr val="1B1B1B">
                    <a:alpha val="50000"/>
                  </a:srgbClr>
                </a:solidFill>
                <a:latin typeface="Courier New" pitchFamily="34" charset="0"/>
                <a:ea typeface="Courier New" pitchFamily="34" charset="-122"/>
                <a:cs typeface="Courier New" pitchFamily="34" charset="-120"/>
              </a:rPr>
              <a:t>MOBILE</a:t>
            </a:r>
            <a:endParaRPr lang="en-US" sz="825" dirty="0"/>
          </a:p>
        </p:txBody>
      </p:sp>
      <p:sp>
        <p:nvSpPr>
          <p:cNvPr id="39" name="Shape 37"/>
          <p:cNvSpPr/>
          <p:nvPr/>
        </p:nvSpPr>
        <p:spPr>
          <a:xfrm>
            <a:off x="9725025" y="3219599"/>
            <a:ext cx="4229100" cy="4155281"/>
          </a:xfrm>
          <a:prstGeom prst="roundRect">
            <a:avLst>
              <a:gd name="adj" fmla="val 2751"/>
            </a:avLst>
          </a:prstGeom>
          <a:solidFill>
            <a:srgbClr val="FFFFFF"/>
          </a:solidFill>
          <a:ln w="19050">
            <a:solidFill>
              <a:srgbClr val="1B1B1B"/>
            </a:solidFill>
            <a:prstDash val="solid"/>
          </a:ln>
        </p:spPr>
      </p:sp>
      <p:sp>
        <p:nvSpPr>
          <p:cNvPr id="40" name="Text 38"/>
          <p:cNvSpPr/>
          <p:nvPr/>
        </p:nvSpPr>
        <p:spPr>
          <a:xfrm>
            <a:off x="9939338" y="3433911"/>
            <a:ext cx="3914489" cy="404068"/>
          </a:xfrm>
          <a:prstGeom prst="rect">
            <a:avLst/>
          </a:prstGeom>
          <a:noFill/>
          <a:ln/>
        </p:spPr>
        <p:txBody>
          <a:bodyPr wrap="square" lIns="25400" tIns="25400" rIns="25400" bIns="25400" rtlCol="0" anchor="t">
            <a:normAutofit/>
          </a:bodyPr>
          <a:lstStyle/>
          <a:p>
            <a:pPr algn="l" indent="0" marL="0">
              <a:lnSpc>
                <a:spcPct val="106750"/>
              </a:lnSpc>
              <a:buNone/>
            </a:pPr>
            <a:r>
              <a:rPr lang="en-US" sz="1575" dirty="0">
                <a:solidFill>
                  <a:srgbClr val="1B1B1B"/>
                </a:solidFill>
                <a:latin typeface="Arial" pitchFamily="34" charset="0"/>
                <a:ea typeface="Arial" pitchFamily="34" charset="-122"/>
                <a:cs typeface="Arial" pitchFamily="34" charset="-120"/>
              </a:rPr>
              <a:t>Can I take you back a step?</a:t>
            </a:r>
            <a:endParaRPr lang="en-US" sz="1575" dirty="0"/>
          </a:p>
        </p:txBody>
      </p:sp>
      <p:sp>
        <p:nvSpPr>
          <p:cNvPr id="41" name="Shape 39"/>
          <p:cNvSpPr/>
          <p:nvPr/>
        </p:nvSpPr>
        <p:spPr>
          <a:xfrm>
            <a:off x="9939338" y="3942755"/>
            <a:ext cx="3800475" cy="1131540"/>
          </a:xfrm>
          <a:prstGeom prst="roundRect">
            <a:avLst>
              <a:gd name="adj" fmla="val 7576"/>
            </a:avLst>
          </a:prstGeom>
          <a:ln w="12700">
            <a:solidFill>
              <a:srgbClr val="B3AEA6"/>
            </a:solidFill>
            <a:prstDash val="dash"/>
          </a:ln>
        </p:spPr>
      </p:sp>
      <p:sp>
        <p:nvSpPr>
          <p:cNvPr id="42" name="Text 40"/>
          <p:cNvSpPr/>
          <p:nvPr/>
        </p:nvSpPr>
        <p:spPr>
          <a:xfrm>
            <a:off x="10101263" y="4104680"/>
            <a:ext cx="3580924" cy="845790"/>
          </a:xfrm>
          <a:prstGeom prst="rect">
            <a:avLst/>
          </a:prstGeom>
          <a:noFill/>
          <a:ln/>
        </p:spPr>
        <p:txBody>
          <a:bodyPr wrap="square" lIns="25400" tIns="25400" rIns="25400" bIns="25400" rtlCol="0" anchor="t">
            <a:normAutofit/>
          </a:bodyPr>
          <a:lstStyle/>
          <a:p>
            <a:pPr algn="l" indent="0" marL="0">
              <a:lnSpc>
                <a:spcPct val="117813"/>
              </a:lnSpc>
              <a:buNone/>
            </a:pPr>
            <a:r>
              <a:rPr lang="en-US" sz="1088" dirty="0">
                <a:solidFill>
                  <a:srgbClr val="1B1B1B"/>
                </a:solidFill>
                <a:latin typeface="Arial" pitchFamily="34" charset="0"/>
                <a:ea typeface="Arial" pitchFamily="34" charset="-122"/>
                <a:cs typeface="Arial" pitchFamily="34" charset="-120"/>
              </a:rPr>
              <a:t>Your lagging measure is vague because “count faster” is vague. Nothing's wrong — we're fixing it upstream.</a:t>
            </a:r>
            <a:endParaRPr lang="en-US" sz="1088" dirty="0"/>
          </a:p>
        </p:txBody>
      </p:sp>
      <p:sp>
        <p:nvSpPr>
          <p:cNvPr id="43" name="Shape 41"/>
          <p:cNvSpPr/>
          <p:nvPr/>
        </p:nvSpPr>
        <p:spPr>
          <a:xfrm rot="-72000">
            <a:off x="10101039" y="5277594"/>
            <a:ext cx="638175" cy="228600"/>
          </a:xfrm>
          <a:prstGeom prst="roundRect">
            <a:avLst>
              <a:gd name="adj" fmla="val 8333"/>
            </a:avLst>
          </a:prstGeom>
          <a:solidFill>
            <a:srgbClr val="FFF6BF">
              <a:alpha val="55000"/>
            </a:srgbClr>
          </a:solidFill>
          <a:ln w="6350">
            <a:solidFill>
              <a:srgbClr val="E3D489">
                <a:alpha val="55000"/>
              </a:srgbClr>
            </a:solidFill>
            <a:prstDash val="solid"/>
          </a:ln>
          <a:effectLst>
            <a:outerShdw sx="100000" sy="100000" kx="0" ky="0" algn="bl" rotWithShape="0" blurRad="101600" dist="13470" dir="2700000">
              <a:srgbClr val="000000">
                <a:alpha val="4400"/>
              </a:srgbClr>
            </a:outerShdw>
          </a:effectLst>
        </p:spPr>
      </p:sp>
      <p:sp>
        <p:nvSpPr>
          <p:cNvPr id="44" name="Text 42"/>
          <p:cNvSpPr/>
          <p:nvPr/>
        </p:nvSpPr>
        <p:spPr>
          <a:xfrm rot="-72000">
            <a:off x="10164539" y="5331569"/>
            <a:ext cx="587375" cy="158750"/>
          </a:xfrm>
          <a:prstGeom prst="rect">
            <a:avLst/>
          </a:prstGeom>
          <a:noFill/>
          <a:ln/>
        </p:spPr>
        <p:txBody>
          <a:bodyPr wrap="square" lIns="25400" tIns="25400" rIns="25400" bIns="25400" rtlCol="0" anchor="t">
            <a:normAutofit/>
          </a:bodyPr>
          <a:lstStyle/>
          <a:p>
            <a:pPr algn="l" indent="0" marL="0">
              <a:lnSpc>
                <a:spcPct val="109375"/>
              </a:lnSpc>
              <a:buNone/>
            </a:pPr>
            <a:r>
              <a:rPr lang="en-US" sz="788" strike="sngStrike" dirty="0">
                <a:solidFill>
                  <a:srgbClr val="2B2620">
                    <a:alpha val="55000"/>
                  </a:srgbClr>
                </a:solidFill>
                <a:latin typeface="Arial" pitchFamily="34" charset="0"/>
                <a:ea typeface="Arial" pitchFamily="34" charset="-122"/>
                <a:cs typeface="Arial" pitchFamily="34" charset="-120"/>
              </a:rPr>
              <a:t>count faster</a:t>
            </a:r>
            <a:endParaRPr lang="en-US" sz="788" dirty="0"/>
          </a:p>
        </p:txBody>
      </p:sp>
      <p:sp>
        <p:nvSpPr>
          <p:cNvPr id="45" name="Text 43"/>
          <p:cNvSpPr/>
          <p:nvPr/>
        </p:nvSpPr>
        <p:spPr>
          <a:xfrm>
            <a:off x="11015216" y="5290096"/>
            <a:ext cx="928688"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 rewriting</a:t>
            </a:r>
            <a:endParaRPr lang="en-US" sz="713" dirty="0"/>
          </a:p>
        </p:txBody>
      </p:sp>
      <p:sp>
        <p:nvSpPr>
          <p:cNvPr id="46" name="Text 44"/>
          <p:cNvSpPr/>
          <p:nvPr/>
        </p:nvSpPr>
        <p:spPr>
          <a:xfrm>
            <a:off x="9939338" y="5817245"/>
            <a:ext cx="1419523"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③ lagging · parked</a:t>
            </a:r>
            <a:endParaRPr lang="en-US" sz="713" dirty="0"/>
          </a:p>
        </p:txBody>
      </p:sp>
      <p:sp>
        <p:nvSpPr>
          <p:cNvPr id="47" name="Shape 45"/>
          <p:cNvSpPr/>
          <p:nvPr/>
        </p:nvSpPr>
        <p:spPr>
          <a:xfrm>
            <a:off x="12386816" y="5709493"/>
            <a:ext cx="1352996" cy="419100"/>
          </a:xfrm>
          <a:prstGeom prst="roundRect">
            <a:avLst>
              <a:gd name="adj" fmla="val 45455"/>
            </a:avLst>
          </a:prstGeom>
          <a:solidFill>
            <a:srgbClr val="FAF8F4"/>
          </a:solidFill>
          <a:ln w="12700">
            <a:solidFill>
              <a:srgbClr val="9A968E"/>
            </a:solidFill>
            <a:prstDash val="dash"/>
          </a:ln>
        </p:spPr>
      </p:sp>
      <p:sp>
        <p:nvSpPr>
          <p:cNvPr id="48" name="Text 46"/>
          <p:cNvSpPr/>
          <p:nvPr/>
        </p:nvSpPr>
        <p:spPr>
          <a:xfrm>
            <a:off x="12494766" y="5760293"/>
            <a:ext cx="1213297" cy="355600"/>
          </a:xfrm>
          <a:prstGeom prst="rect">
            <a:avLst/>
          </a:prstGeom>
          <a:noFill/>
          <a:ln/>
        </p:spPr>
        <p:txBody>
          <a:bodyPr wrap="square" lIns="25400" tIns="25400" rIns="25400" bIns="25400" rtlCol="0" anchor="t">
            <a:normAutofit/>
          </a:bodyPr>
          <a:lstStyle/>
          <a:p>
            <a:pPr algn="l" indent="0" marL="0">
              <a:buNone/>
            </a:pPr>
            <a:r>
              <a:rPr lang="en-US" sz="1200" dirty="0">
                <a:solidFill>
                  <a:srgbClr val="4A463F"/>
                </a:solidFill>
                <a:latin typeface="Arial" pitchFamily="34" charset="0"/>
                <a:ea typeface="Arial" pitchFamily="34" charset="-122"/>
                <a:cs typeface="Arial" pitchFamily="34" charset="-120"/>
              </a:rPr>
              <a:t>back to ①</a:t>
            </a:r>
            <a:endParaRPr lang="en-US" sz="1200" dirty="0"/>
          </a:p>
        </p:txBody>
      </p:sp>
      <p:sp>
        <p:nvSpPr>
          <p:cNvPr id="49" name="Shape 47"/>
          <p:cNvSpPr/>
          <p:nvPr/>
        </p:nvSpPr>
        <p:spPr>
          <a:xfrm>
            <a:off x="9939338" y="6271468"/>
            <a:ext cx="3800475" cy="14288"/>
          </a:xfrm>
          <a:prstGeom prst="rect">
            <a:avLst/>
          </a:prstGeom>
          <a:solidFill>
            <a:srgbClr val="E2DED7"/>
          </a:solidFill>
          <a:ln/>
        </p:spPr>
      </p:sp>
      <p:sp>
        <p:nvSpPr>
          <p:cNvPr id="50" name="Text 48"/>
          <p:cNvSpPr/>
          <p:nvPr/>
        </p:nvSpPr>
        <p:spPr>
          <a:xfrm>
            <a:off x="9939338" y="6428631"/>
            <a:ext cx="3914489" cy="770037"/>
          </a:xfrm>
          <a:prstGeom prst="rect">
            <a:avLst/>
          </a:prstGeom>
          <a:noFill/>
          <a:ln/>
        </p:spPr>
        <p:txBody>
          <a:bodyPr wrap="square" lIns="25400" tIns="25400" rIns="25400" bIns="25400" rtlCol="0" anchor="t">
            <a:normAutofit/>
          </a:bodyPr>
          <a:lstStyle/>
          <a:p>
            <a:pPr algn="l" indent="0" marL="0">
              <a:lnSpc>
                <a:spcPct val="106750"/>
              </a:lnSpc>
              <a:buNone/>
            </a:pPr>
            <a:r>
              <a:rPr lang="en-US" sz="1575" dirty="0">
                <a:solidFill>
                  <a:srgbClr val="1B1B1B"/>
                </a:solidFill>
                <a:latin typeface="Arial" pitchFamily="34" charset="0"/>
                <a:ea typeface="Arial" pitchFamily="34" charset="-122"/>
                <a:cs typeface="Arial" pitchFamily="34" charset="-120"/>
              </a:rPr>
              <a:t>What would they actually be doing, on a Tuesday?</a:t>
            </a:r>
            <a:endParaRPr lang="en-US" sz="1575" dirty="0"/>
          </a:p>
        </p:txBody>
      </p:sp>
      <p:sp>
        <p:nvSpPr>
          <p:cNvPr id="51" name="Text 49"/>
          <p:cNvSpPr/>
          <p:nvPr/>
        </p:nvSpPr>
        <p:spPr>
          <a:xfrm>
            <a:off x="14335125" y="4964906"/>
            <a:ext cx="3443573" cy="1252538"/>
          </a:xfrm>
          <a:prstGeom prst="rect">
            <a:avLst/>
          </a:prstGeom>
          <a:noFill/>
          <a:ln/>
        </p:spPr>
        <p:txBody>
          <a:bodyPr wrap="square" lIns="25400" tIns="25400" rIns="25400" bIns="25400" rtlCol="0" anchor="t">
            <a:normAutofit/>
          </a:bodyPr>
          <a:lstStyle/>
          <a:p>
            <a:pPr algn="l" indent="0" marL="0">
              <a:lnSpc>
                <a:spcPct val="108974"/>
              </a:lnSpc>
              <a:buNone/>
            </a:pPr>
            <a:r>
              <a:rPr lang="en-US" sz="2550" dirty="0">
                <a:solidFill>
                  <a:srgbClr val="1B1B1B"/>
                </a:solidFill>
                <a:latin typeface="Arial" pitchFamily="34" charset="0"/>
                <a:ea typeface="Arial" pitchFamily="34" charset="-122"/>
                <a:cs typeface="Arial" pitchFamily="34" charset="-120"/>
              </a:rPr>
              <a:t>the fix is upstream, and nothing reads as an error</a:t>
            </a:r>
            <a:endParaRPr lang="en-US" sz="2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FECE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FECE6"/>
          </a:solidFill>
          <a:ln/>
        </p:spPr>
      </p:sp>
      <p:sp>
        <p:nvSpPr>
          <p:cNvPr id="3" name="Shape 1"/>
          <p:cNvSpPr/>
          <p:nvPr/>
        </p:nvSpPr>
        <p:spPr>
          <a:xfrm>
            <a:off x="609600" y="1104900"/>
            <a:ext cx="17068800" cy="19050"/>
          </a:xfrm>
          <a:prstGeom prst="rect">
            <a:avLst/>
          </a:prstGeom>
          <a:solidFill>
            <a:srgbClr val="1B1B1B"/>
          </a:solidFill>
          <a:ln/>
        </p:spPr>
      </p:sp>
      <p:sp>
        <p:nvSpPr>
          <p:cNvPr id="4" name="Shape 2"/>
          <p:cNvSpPr/>
          <p:nvPr/>
        </p:nvSpPr>
        <p:spPr>
          <a:xfrm>
            <a:off x="609600" y="590550"/>
            <a:ext cx="459135" cy="381000"/>
          </a:xfrm>
          <a:prstGeom prst="roundRect">
            <a:avLst>
              <a:gd name="adj" fmla="val 17500"/>
            </a:avLst>
          </a:prstGeom>
          <a:solidFill>
            <a:srgbClr val="1B1B1B"/>
          </a:solidFill>
          <a:ln/>
        </p:spPr>
      </p:sp>
      <p:sp>
        <p:nvSpPr>
          <p:cNvPr id="5" name="Text 3"/>
          <p:cNvSpPr/>
          <p:nvPr/>
        </p:nvSpPr>
        <p:spPr>
          <a:xfrm>
            <a:off x="723900" y="676275"/>
            <a:ext cx="306735" cy="247650"/>
          </a:xfrm>
          <a:prstGeom prst="rect">
            <a:avLst/>
          </a:prstGeom>
          <a:noFill/>
          <a:ln/>
        </p:spPr>
        <p:txBody>
          <a:bodyPr wrap="square" lIns="25400" tIns="25400" rIns="25400" bIns="25400" rtlCol="0" anchor="t">
            <a:normAutofit/>
          </a:bodyPr>
          <a:lstStyle/>
          <a:p>
            <a:pPr algn="l" indent="0" marL="0">
              <a:lnSpc>
                <a:spcPct val="88000"/>
              </a:lnSpc>
              <a:buNone/>
            </a:pPr>
            <a:r>
              <a:rPr lang="en-US" sz="1650" b="1" dirty="0">
                <a:solidFill>
                  <a:srgbClr val="FFFFFF"/>
                </a:solidFill>
                <a:latin typeface="Courier New" pitchFamily="34" charset="0"/>
                <a:ea typeface="Courier New" pitchFamily="34" charset="-122"/>
                <a:cs typeface="Courier New" pitchFamily="34" charset="-120"/>
              </a:rPr>
              <a:t>10</a:t>
            </a:r>
            <a:endParaRPr lang="en-US" sz="1650" dirty="0"/>
          </a:p>
        </p:txBody>
      </p:sp>
      <p:sp>
        <p:nvSpPr>
          <p:cNvPr id="6" name="Text 4"/>
          <p:cNvSpPr/>
          <p:nvPr/>
        </p:nvSpPr>
        <p:spPr>
          <a:xfrm>
            <a:off x="1221135" y="504825"/>
            <a:ext cx="5662642" cy="457200"/>
          </a:xfrm>
          <a:prstGeom prst="rect">
            <a:avLst/>
          </a:prstGeom>
          <a:noFill/>
          <a:ln/>
        </p:spPr>
        <p:txBody>
          <a:bodyPr wrap="square" lIns="0" tIns="0" rIns="0" bIns="0" rtlCol="0" anchor="t">
            <a:normAutofit/>
          </a:bodyPr>
          <a:lstStyle/>
          <a:p>
            <a:pPr algn="l" indent="0" marL="0">
              <a:lnSpc>
                <a:spcPct val="102222"/>
              </a:lnSpc>
              <a:buNone/>
            </a:pPr>
            <a:r>
              <a:rPr lang="en-US" sz="3000" b="1" dirty="0">
                <a:solidFill>
                  <a:srgbClr val="1B1B1B"/>
                </a:solidFill>
                <a:latin typeface="Helvetica" pitchFamily="34" charset="0"/>
                <a:ea typeface="Helvetica" pitchFamily="34" charset="-122"/>
                <a:cs typeface="Helvetica" pitchFamily="34" charset="-120"/>
              </a:rPr>
              <a:t>Hypothesis ④, then leading ⑤</a:t>
            </a:r>
            <a:endParaRPr lang="en-US" sz="3000" dirty="0"/>
          </a:p>
        </p:txBody>
      </p:sp>
      <p:sp>
        <p:nvSpPr>
          <p:cNvPr id="7" name="Text 5"/>
          <p:cNvSpPr/>
          <p:nvPr/>
        </p:nvSpPr>
        <p:spPr>
          <a:xfrm>
            <a:off x="16688098" y="695325"/>
            <a:ext cx="1066502" cy="228600"/>
          </a:xfrm>
          <a:prstGeom prst="rect">
            <a:avLst/>
          </a:prstGeom>
          <a:noFill/>
          <a:ln/>
        </p:spPr>
        <p:txBody>
          <a:bodyPr wrap="none" lIns="25400" tIns="25400" rIns="25400" bIns="25400" rtlCol="0" anchor="t">
            <a:normAutofit/>
          </a:bodyPr>
          <a:lstStyle/>
          <a:p>
            <a:pPr algn="l" indent="0" marL="0">
              <a:lnSpc>
                <a:spcPct val="86957"/>
              </a:lnSpc>
              <a:buNone/>
            </a:pPr>
            <a:r>
              <a:rPr lang="en-US" sz="1500" b="1" spc="150" kern="0" dirty="0">
                <a:solidFill>
                  <a:srgbClr val="8A8479"/>
                </a:solidFill>
                <a:latin typeface="Courier New" pitchFamily="34" charset="0"/>
                <a:ea typeface="Courier New" pitchFamily="34" charset="-122"/>
                <a:cs typeface="Courier New" pitchFamily="34" charset="-120"/>
              </a:rPr>
              <a:t>COACHING</a:t>
            </a:r>
            <a:endParaRPr lang="en-US" sz="1500" dirty="0"/>
          </a:p>
        </p:txBody>
      </p:sp>
      <p:sp>
        <p:nvSpPr>
          <p:cNvPr id="8" name="Text 6"/>
          <p:cNvSpPr/>
          <p:nvPr/>
        </p:nvSpPr>
        <p:spPr>
          <a:xfrm>
            <a:off x="609600" y="3349972"/>
            <a:ext cx="9123998" cy="219075"/>
          </a:xfrm>
          <a:prstGeom prst="rect">
            <a:avLst/>
          </a:prstGeom>
          <a:noFill/>
          <a:ln/>
        </p:spPr>
        <p:txBody>
          <a:bodyPr wrap="square" lIns="25400" tIns="25400" rIns="25400" bIns="25400" rtlCol="0" anchor="t">
            <a:normAutofit/>
          </a:bodyPr>
          <a:lstStyle/>
          <a:p>
            <a:pPr algn="l" indent="0" marL="0">
              <a:buNone/>
            </a:pPr>
            <a:r>
              <a:rPr lang="en-US" sz="825" b="1" spc="66" kern="0" dirty="0">
                <a:solidFill>
                  <a:srgbClr val="1B1B1B">
                    <a:alpha val="50000"/>
                  </a:srgbClr>
                </a:solidFill>
                <a:latin typeface="Courier New" pitchFamily="34" charset="0"/>
                <a:ea typeface="Courier New" pitchFamily="34" charset="-122"/>
                <a:cs typeface="Courier New" pitchFamily="34" charset="-120"/>
              </a:rPr>
              <a:t>DESKTOP</a:t>
            </a:r>
            <a:endParaRPr lang="en-US" sz="825" dirty="0"/>
          </a:p>
        </p:txBody>
      </p:sp>
      <p:sp>
        <p:nvSpPr>
          <p:cNvPr id="9" name="Shape 7"/>
          <p:cNvSpPr/>
          <p:nvPr/>
        </p:nvSpPr>
        <p:spPr>
          <a:xfrm>
            <a:off x="609600" y="3645247"/>
            <a:ext cx="8858250" cy="4149030"/>
          </a:xfrm>
          <a:prstGeom prst="roundRect">
            <a:avLst>
              <a:gd name="adj" fmla="val 2755"/>
            </a:avLst>
          </a:prstGeom>
          <a:solidFill>
            <a:srgbClr val="FFFFFF"/>
          </a:solidFill>
          <a:ln w="19050">
            <a:solidFill>
              <a:srgbClr val="1B1B1B"/>
            </a:solidFill>
            <a:prstDash val="solid"/>
          </a:ln>
        </p:spPr>
      </p:sp>
      <p:sp>
        <p:nvSpPr>
          <p:cNvPr id="10" name="Shape 8"/>
          <p:cNvSpPr/>
          <p:nvPr/>
        </p:nvSpPr>
        <p:spPr>
          <a:xfrm>
            <a:off x="823913" y="3859560"/>
            <a:ext cx="4171950" cy="1671935"/>
          </a:xfrm>
          <a:prstGeom prst="roundRect">
            <a:avLst>
              <a:gd name="adj" fmla="val 4558"/>
            </a:avLst>
          </a:prstGeom>
          <a:ln w="12700">
            <a:solidFill>
              <a:srgbClr val="C3BEB5">
                <a:alpha val="62000"/>
              </a:srgbClr>
            </a:solidFill>
            <a:prstDash val="solid"/>
          </a:ln>
        </p:spPr>
      </p:sp>
      <p:sp>
        <p:nvSpPr>
          <p:cNvPr id="11" name="Shape 9"/>
          <p:cNvSpPr/>
          <p:nvPr/>
        </p:nvSpPr>
        <p:spPr>
          <a:xfrm>
            <a:off x="4595813" y="3750022"/>
            <a:ext cx="280988" cy="280988"/>
          </a:xfrm>
          <a:prstGeom prst="ellipse">
            <a:avLst/>
          </a:prstGeom>
          <a:solidFill>
            <a:srgbClr val="EFECE6">
              <a:alpha val="62000"/>
            </a:srgbClr>
          </a:solidFill>
          <a:ln w="12700">
            <a:solidFill>
              <a:srgbClr val="8A8479">
                <a:alpha val="62000"/>
              </a:srgbClr>
            </a:solidFill>
            <a:prstDash val="solid"/>
          </a:ln>
        </p:spPr>
      </p:sp>
      <p:sp>
        <p:nvSpPr>
          <p:cNvPr id="12" name="Text 10"/>
          <p:cNvSpPr/>
          <p:nvPr/>
        </p:nvSpPr>
        <p:spPr>
          <a:xfrm>
            <a:off x="4570412" y="3762722"/>
            <a:ext cx="331788" cy="293688"/>
          </a:xfrm>
          <a:prstGeom prst="rect">
            <a:avLst/>
          </a:prstGeom>
          <a:noFill/>
          <a:ln/>
        </p:spPr>
        <p:txBody>
          <a:bodyPr wrap="square" lIns="25400" tIns="25400" rIns="25400" bIns="25400" rtlCol="0" anchor="t">
            <a:normAutofit/>
          </a:bodyPr>
          <a:lstStyle/>
          <a:p>
            <a:pPr algn="ctr" indent="0" marL="0">
              <a:lnSpc>
                <a:spcPct val="140000"/>
              </a:lnSpc>
              <a:buNone/>
            </a:pPr>
            <a:r>
              <a:rPr lang="en-US" sz="638" b="1" dirty="0">
                <a:solidFill>
                  <a:srgbClr val="5A5449">
                    <a:alpha val="62000"/>
                  </a:srgbClr>
                </a:solidFill>
                <a:latin typeface="Courier New" pitchFamily="34" charset="0"/>
                <a:ea typeface="Courier New" pitchFamily="34" charset="-122"/>
                <a:cs typeface="Courier New" pitchFamily="34" charset="-120"/>
              </a:rPr>
              <a:t>2</a:t>
            </a:r>
            <a:endParaRPr lang="en-US" sz="638" dirty="0"/>
          </a:p>
        </p:txBody>
      </p:sp>
      <p:sp>
        <p:nvSpPr>
          <p:cNvPr id="13" name="Shape 11"/>
          <p:cNvSpPr/>
          <p:nvPr/>
        </p:nvSpPr>
        <p:spPr>
          <a:xfrm>
            <a:off x="942975" y="3978622"/>
            <a:ext cx="3933825" cy="349448"/>
          </a:xfrm>
          <a:prstGeom prst="roundRect">
            <a:avLst>
              <a:gd name="adj" fmla="val 5451"/>
            </a:avLst>
          </a:prstGeom>
          <a:solidFill>
            <a:srgbClr val="FFF6BF">
              <a:alpha val="62000"/>
            </a:srgbClr>
          </a:solidFill>
          <a:ln w="6350">
            <a:solidFill>
              <a:srgbClr val="E3D489">
                <a:alpha val="62000"/>
              </a:srgbClr>
            </a:solidFill>
            <a:prstDash val="solid"/>
          </a:ln>
          <a:effectLst>
            <a:outerShdw sx="100000" sy="100000" kx="0" ky="0" algn="bl" rotWithShape="0" blurRad="101600" dist="13470" dir="2700000">
              <a:srgbClr val="000000">
                <a:alpha val="4960"/>
              </a:srgbClr>
            </a:outerShdw>
          </a:effectLst>
        </p:spPr>
      </p:sp>
      <p:sp>
        <p:nvSpPr>
          <p:cNvPr id="14" name="Text 12"/>
          <p:cNvSpPr/>
          <p:nvPr/>
        </p:nvSpPr>
        <p:spPr>
          <a:xfrm>
            <a:off x="1006475" y="4032597"/>
            <a:ext cx="3924840" cy="279598"/>
          </a:xfrm>
          <a:prstGeom prst="rect">
            <a:avLst/>
          </a:prstGeom>
          <a:noFill/>
          <a:ln/>
        </p:spPr>
        <p:txBody>
          <a:bodyPr wrap="square" lIns="25400" tIns="25400" rIns="25400" bIns="25400" rtlCol="0" anchor="t">
            <a:normAutofit/>
          </a:bodyPr>
          <a:lstStyle/>
          <a:p>
            <a:pPr algn="l" indent="0" marL="0">
              <a:lnSpc>
                <a:spcPct val="109375"/>
              </a:lnSpc>
              <a:buNone/>
            </a:pPr>
            <a:r>
              <a:rPr lang="en-US" sz="788" dirty="0">
                <a:solidFill>
                  <a:srgbClr val="2B2620">
                    <a:alpha val="62000"/>
                  </a:srgbClr>
                </a:solidFill>
                <a:latin typeface="Arial" pitchFamily="34" charset="0"/>
                <a:ea typeface="Arial" pitchFamily="34" charset="-122"/>
                <a:cs typeface="Arial" pitchFamily="34" charset="-120"/>
              </a:rPr>
              <a:t>3 hr night counts</a:t>
            </a:r>
            <a:endParaRPr lang="en-US" sz="788" dirty="0"/>
          </a:p>
        </p:txBody>
      </p:sp>
      <p:sp>
        <p:nvSpPr>
          <p:cNvPr id="15" name="Shape 13"/>
          <p:cNvSpPr/>
          <p:nvPr/>
        </p:nvSpPr>
        <p:spPr>
          <a:xfrm>
            <a:off x="5081588" y="3859560"/>
            <a:ext cx="4171950" cy="1671935"/>
          </a:xfrm>
          <a:prstGeom prst="roundRect">
            <a:avLst>
              <a:gd name="adj" fmla="val 4558"/>
            </a:avLst>
          </a:prstGeom>
          <a:solidFill>
            <a:srgbClr val="FFFDF5"/>
          </a:solidFill>
          <a:ln w="19050">
            <a:solidFill>
              <a:srgbClr val="1B1B1B"/>
            </a:solidFill>
            <a:prstDash val="solid"/>
          </a:ln>
        </p:spPr>
      </p:sp>
      <p:sp>
        <p:nvSpPr>
          <p:cNvPr id="16" name="Shape 14"/>
          <p:cNvSpPr/>
          <p:nvPr/>
        </p:nvSpPr>
        <p:spPr>
          <a:xfrm>
            <a:off x="8843963" y="3759547"/>
            <a:ext cx="280988" cy="280988"/>
          </a:xfrm>
          <a:prstGeom prst="ellipse">
            <a:avLst/>
          </a:prstGeom>
          <a:solidFill>
            <a:srgbClr val="1B1B1B"/>
          </a:solidFill>
          <a:ln w="12700">
            <a:solidFill>
              <a:srgbClr val="1B1B1B"/>
            </a:solidFill>
            <a:prstDash val="solid"/>
          </a:ln>
        </p:spPr>
      </p:sp>
      <p:sp>
        <p:nvSpPr>
          <p:cNvPr id="17" name="Text 15"/>
          <p:cNvSpPr/>
          <p:nvPr/>
        </p:nvSpPr>
        <p:spPr>
          <a:xfrm>
            <a:off x="8818562" y="3772247"/>
            <a:ext cx="331788" cy="293688"/>
          </a:xfrm>
          <a:prstGeom prst="rect">
            <a:avLst/>
          </a:prstGeom>
          <a:noFill/>
          <a:ln/>
        </p:spPr>
        <p:txBody>
          <a:bodyPr wrap="square" lIns="25400" tIns="25400" rIns="25400" bIns="25400" rtlCol="0" anchor="t">
            <a:normAutofit/>
          </a:bodyPr>
          <a:lstStyle/>
          <a:p>
            <a:pPr algn="ctr" indent="0" marL="0">
              <a:lnSpc>
                <a:spcPct val="140000"/>
              </a:lnSpc>
              <a:buNone/>
            </a:pPr>
            <a:r>
              <a:rPr lang="en-US" sz="638" b="1" dirty="0">
                <a:solidFill>
                  <a:srgbClr val="FFFFFF"/>
                </a:solidFill>
                <a:latin typeface="Courier New" pitchFamily="34" charset="0"/>
                <a:ea typeface="Courier New" pitchFamily="34" charset="-122"/>
                <a:cs typeface="Courier New" pitchFamily="34" charset="-120"/>
              </a:rPr>
              <a:t>4</a:t>
            </a:r>
            <a:endParaRPr lang="en-US" sz="638" dirty="0"/>
          </a:p>
        </p:txBody>
      </p:sp>
      <p:sp>
        <p:nvSpPr>
          <p:cNvPr id="18" name="Text 16"/>
          <p:cNvSpPr/>
          <p:nvPr/>
        </p:nvSpPr>
        <p:spPr>
          <a:xfrm>
            <a:off x="5210175" y="3988147"/>
            <a:ext cx="4032218" cy="180975"/>
          </a:xfrm>
          <a:prstGeom prst="rect">
            <a:avLst/>
          </a:prstGeom>
          <a:noFill/>
          <a:ln/>
        </p:spPr>
        <p:txBody>
          <a:bodyPr wrap="square" lIns="25400" tIns="25400" rIns="25400" bIns="25400" rtlCol="0" anchor="t">
            <a:normAutofit/>
          </a:bodyPr>
          <a:lstStyle/>
          <a:p>
            <a:pPr algn="l" indent="0" marL="0">
              <a:buNone/>
            </a:pPr>
            <a:r>
              <a:rPr lang="en-US" sz="638" b="1" spc="38" kern="0" dirty="0">
                <a:solidFill>
                  <a:srgbClr val="8A8479"/>
                </a:solidFill>
                <a:latin typeface="Courier New" pitchFamily="34" charset="0"/>
                <a:ea typeface="Courier New" pitchFamily="34" charset="-122"/>
                <a:cs typeface="Courier New" pitchFamily="34" charset="-120"/>
              </a:rPr>
              <a:t>OUTCOME HYPOTHESIS · WE'RE HERE</a:t>
            </a:r>
            <a:endParaRPr lang="en-US" sz="638" dirty="0"/>
          </a:p>
        </p:txBody>
      </p:sp>
      <p:sp>
        <p:nvSpPr>
          <p:cNvPr id="19" name="Text 17"/>
          <p:cNvSpPr/>
          <p:nvPr/>
        </p:nvSpPr>
        <p:spPr>
          <a:xfrm>
            <a:off x="5210175" y="4202460"/>
            <a:ext cx="4032218" cy="576560"/>
          </a:xfrm>
          <a:prstGeom prst="rect">
            <a:avLst/>
          </a:prstGeom>
          <a:noFill/>
          <a:ln/>
        </p:spPr>
        <p:txBody>
          <a:bodyPr wrap="square" lIns="25400" tIns="25400" rIns="25400" bIns="25400" rtlCol="0" anchor="t">
            <a:normAutofit/>
          </a:bodyPr>
          <a:lstStyle/>
          <a:p>
            <a:pPr algn="l" indent="0" marL="0">
              <a:lnSpc>
                <a:spcPct val="117813"/>
              </a:lnSpc>
              <a:buNone/>
            </a:pPr>
            <a:r>
              <a:rPr lang="en-US" sz="1088" dirty="0">
                <a:solidFill>
                  <a:srgbClr val="1B1B1B"/>
                </a:solidFill>
                <a:latin typeface="Arial" pitchFamily="34" charset="0"/>
                <a:ea typeface="Arial" pitchFamily="34" charset="-122"/>
                <a:cs typeface="Arial" pitchFamily="34" charset="-120"/>
              </a:rPr>
              <a:t>So: what's the bet, and which of those numbers should move?</a:t>
            </a:r>
            <a:endParaRPr lang="en-US" sz="1088" dirty="0"/>
          </a:p>
        </p:txBody>
      </p:sp>
      <p:sp>
        <p:nvSpPr>
          <p:cNvPr id="20" name="Shape 18"/>
          <p:cNvSpPr/>
          <p:nvPr/>
        </p:nvSpPr>
        <p:spPr>
          <a:xfrm rot="-72000">
            <a:off x="5862637" y="4912370"/>
            <a:ext cx="2609851" cy="390525"/>
          </a:xfrm>
          <a:prstGeom prst="roundRect">
            <a:avLst>
              <a:gd name="adj" fmla="val 4878"/>
            </a:avLst>
          </a:prstGeom>
          <a:solidFill>
            <a:srgbClr val="FFF6BF"/>
          </a:solidFill>
          <a:ln w="6350">
            <a:solidFill>
              <a:srgbClr val="E3D489"/>
            </a:solidFill>
            <a:prstDash val="solid"/>
          </a:ln>
          <a:effectLst>
            <a:outerShdw sx="100000" sy="100000" kx="0" ky="0" algn="bl" rotWithShape="0" blurRad="101600" dist="13470" dir="2700000">
              <a:srgbClr val="000000">
                <a:alpha val="8000"/>
              </a:srgbClr>
            </a:outerShdw>
          </a:effectLst>
        </p:spPr>
      </p:sp>
      <p:sp>
        <p:nvSpPr>
          <p:cNvPr id="21" name="Text 19"/>
          <p:cNvSpPr/>
          <p:nvPr/>
        </p:nvSpPr>
        <p:spPr>
          <a:xfrm rot="-72000">
            <a:off x="5926137" y="4966345"/>
            <a:ext cx="2561146" cy="320675"/>
          </a:xfrm>
          <a:prstGeom prst="rect">
            <a:avLst/>
          </a:prstGeom>
          <a:noFill/>
          <a:ln/>
        </p:spPr>
        <p:txBody>
          <a:bodyPr wrap="square" lIns="25400" tIns="25400" rIns="25400" bIns="25400" rtlCol="0" anchor="t">
            <a:normAutofit/>
          </a:bodyPr>
          <a:lstStyle/>
          <a:p>
            <a:pPr algn="l" indent="0" marL="0">
              <a:lnSpc>
                <a:spcPct val="107143"/>
              </a:lnSpc>
              <a:buNone/>
            </a:pPr>
            <a:r>
              <a:rPr lang="en-US" sz="900" dirty="0">
                <a:solidFill>
                  <a:srgbClr val="2B2620"/>
                </a:solidFill>
                <a:latin typeface="Arial" pitchFamily="34" charset="0"/>
                <a:ea typeface="Arial" pitchFamily="34" charset="-122"/>
                <a:cs typeface="Arial" pitchFamily="34" charset="-120"/>
              </a:rPr>
              <a:t>We believe self-serve counts will get managers counting in daylight</a:t>
            </a:r>
            <a:endParaRPr lang="en-US" sz="900" dirty="0"/>
          </a:p>
        </p:txBody>
      </p:sp>
      <p:sp>
        <p:nvSpPr>
          <p:cNvPr id="22" name="Shape 20"/>
          <p:cNvSpPr/>
          <p:nvPr/>
        </p:nvSpPr>
        <p:spPr>
          <a:xfrm>
            <a:off x="823913" y="5617220"/>
            <a:ext cx="8429625" cy="587573"/>
          </a:xfrm>
          <a:prstGeom prst="roundRect">
            <a:avLst>
              <a:gd name="adj" fmla="val 12969"/>
            </a:avLst>
          </a:prstGeom>
          <a:solidFill>
            <a:srgbClr val="FAF8F4">
              <a:alpha val="62000"/>
            </a:srgbClr>
          </a:solidFill>
          <a:ln w="12700">
            <a:solidFill>
              <a:srgbClr val="1B1B1B">
                <a:alpha val="62000"/>
              </a:srgbClr>
            </a:solidFill>
            <a:prstDash val="solid"/>
          </a:ln>
        </p:spPr>
      </p:sp>
      <p:sp>
        <p:nvSpPr>
          <p:cNvPr id="23" name="Shape 21"/>
          <p:cNvSpPr/>
          <p:nvPr/>
        </p:nvSpPr>
        <p:spPr>
          <a:xfrm>
            <a:off x="8853488" y="5507682"/>
            <a:ext cx="280988" cy="280988"/>
          </a:xfrm>
          <a:prstGeom prst="ellipse">
            <a:avLst/>
          </a:prstGeom>
          <a:solidFill>
            <a:srgbClr val="EFECE6">
              <a:alpha val="62000"/>
            </a:srgbClr>
          </a:solidFill>
          <a:ln w="12700">
            <a:solidFill>
              <a:srgbClr val="8A8479">
                <a:alpha val="62000"/>
              </a:srgbClr>
            </a:solidFill>
            <a:prstDash val="solid"/>
          </a:ln>
        </p:spPr>
      </p:sp>
      <p:sp>
        <p:nvSpPr>
          <p:cNvPr id="24" name="Text 22"/>
          <p:cNvSpPr/>
          <p:nvPr/>
        </p:nvSpPr>
        <p:spPr>
          <a:xfrm>
            <a:off x="8828087" y="5520382"/>
            <a:ext cx="331788" cy="293688"/>
          </a:xfrm>
          <a:prstGeom prst="rect">
            <a:avLst/>
          </a:prstGeom>
          <a:noFill/>
          <a:ln/>
        </p:spPr>
        <p:txBody>
          <a:bodyPr wrap="square" lIns="25400" tIns="25400" rIns="25400" bIns="25400" rtlCol="0" anchor="t">
            <a:normAutofit/>
          </a:bodyPr>
          <a:lstStyle/>
          <a:p>
            <a:pPr algn="ctr" indent="0" marL="0">
              <a:lnSpc>
                <a:spcPct val="140000"/>
              </a:lnSpc>
              <a:buNone/>
            </a:pPr>
            <a:r>
              <a:rPr lang="en-US" sz="638" b="1" dirty="0">
                <a:solidFill>
                  <a:srgbClr val="5A5449">
                    <a:alpha val="62000"/>
                  </a:srgbClr>
                </a:solidFill>
                <a:latin typeface="Courier New" pitchFamily="34" charset="0"/>
                <a:ea typeface="Courier New" pitchFamily="34" charset="-122"/>
                <a:cs typeface="Courier New" pitchFamily="34" charset="-120"/>
              </a:rPr>
              <a:t>1</a:t>
            </a:r>
            <a:endParaRPr lang="en-US" sz="638" dirty="0"/>
          </a:p>
        </p:txBody>
      </p:sp>
      <p:sp>
        <p:nvSpPr>
          <p:cNvPr id="25" name="Shape 23"/>
          <p:cNvSpPr/>
          <p:nvPr/>
        </p:nvSpPr>
        <p:spPr>
          <a:xfrm>
            <a:off x="942975" y="5736282"/>
            <a:ext cx="8191500" cy="349448"/>
          </a:xfrm>
          <a:prstGeom prst="roundRect">
            <a:avLst>
              <a:gd name="adj" fmla="val 5451"/>
            </a:avLst>
          </a:prstGeom>
          <a:solidFill>
            <a:srgbClr val="FFF6BF">
              <a:alpha val="62000"/>
            </a:srgbClr>
          </a:solidFill>
          <a:ln w="6350">
            <a:solidFill>
              <a:srgbClr val="E3D489">
                <a:alpha val="62000"/>
              </a:srgbClr>
            </a:solidFill>
            <a:prstDash val="solid"/>
          </a:ln>
          <a:effectLst>
            <a:outerShdw sx="100000" sy="100000" kx="0" ky="0" algn="bl" rotWithShape="0" blurRad="101600" dist="13470" dir="2700000">
              <a:srgbClr val="000000">
                <a:alpha val="4960"/>
              </a:srgbClr>
            </a:outerShdw>
          </a:effectLst>
        </p:spPr>
      </p:sp>
      <p:sp>
        <p:nvSpPr>
          <p:cNvPr id="26" name="Text 24"/>
          <p:cNvSpPr/>
          <p:nvPr/>
        </p:nvSpPr>
        <p:spPr>
          <a:xfrm>
            <a:off x="1006475" y="5790257"/>
            <a:ext cx="8310245" cy="279598"/>
          </a:xfrm>
          <a:prstGeom prst="rect">
            <a:avLst/>
          </a:prstGeom>
          <a:noFill/>
          <a:ln/>
        </p:spPr>
        <p:txBody>
          <a:bodyPr wrap="square" lIns="25400" tIns="25400" rIns="25400" bIns="25400" rtlCol="0" anchor="t">
            <a:normAutofit/>
          </a:bodyPr>
          <a:lstStyle/>
          <a:p>
            <a:pPr algn="l" indent="0" marL="0">
              <a:lnSpc>
                <a:spcPct val="109375"/>
              </a:lnSpc>
              <a:buNone/>
            </a:pPr>
            <a:r>
              <a:rPr lang="en-US" sz="788" dirty="0">
                <a:solidFill>
                  <a:srgbClr val="2B2620">
                    <a:alpha val="62000"/>
                  </a:srgbClr>
                </a:solidFill>
                <a:latin typeface="Arial" pitchFamily="34" charset="0"/>
                <a:ea typeface="Arial" pitchFamily="34" charset="-122"/>
                <a:cs typeface="Arial" pitchFamily="34" charset="-120"/>
              </a:rPr>
              <a:t>district managers · count in daylight, in minutes</a:t>
            </a:r>
            <a:endParaRPr lang="en-US" sz="788" dirty="0"/>
          </a:p>
        </p:txBody>
      </p:sp>
      <p:sp>
        <p:nvSpPr>
          <p:cNvPr id="27" name="Shape 25"/>
          <p:cNvSpPr/>
          <p:nvPr/>
        </p:nvSpPr>
        <p:spPr>
          <a:xfrm>
            <a:off x="823913" y="6290518"/>
            <a:ext cx="4171950" cy="942975"/>
          </a:xfrm>
          <a:prstGeom prst="roundRect">
            <a:avLst>
              <a:gd name="adj" fmla="val 8081"/>
            </a:avLst>
          </a:prstGeom>
          <a:ln w="12700">
            <a:solidFill>
              <a:srgbClr val="C3BEB5">
                <a:alpha val="62000"/>
              </a:srgbClr>
            </a:solidFill>
            <a:prstDash val="solid"/>
          </a:ln>
        </p:spPr>
      </p:sp>
      <p:sp>
        <p:nvSpPr>
          <p:cNvPr id="28" name="Shape 26"/>
          <p:cNvSpPr/>
          <p:nvPr/>
        </p:nvSpPr>
        <p:spPr>
          <a:xfrm>
            <a:off x="4595813" y="6180981"/>
            <a:ext cx="280988" cy="280988"/>
          </a:xfrm>
          <a:prstGeom prst="ellipse">
            <a:avLst/>
          </a:prstGeom>
          <a:solidFill>
            <a:srgbClr val="EFECE6">
              <a:alpha val="62000"/>
            </a:srgbClr>
          </a:solidFill>
          <a:ln w="12700">
            <a:solidFill>
              <a:srgbClr val="8A8479">
                <a:alpha val="62000"/>
              </a:srgbClr>
            </a:solidFill>
            <a:prstDash val="solid"/>
          </a:ln>
        </p:spPr>
      </p:sp>
      <p:sp>
        <p:nvSpPr>
          <p:cNvPr id="29" name="Text 27"/>
          <p:cNvSpPr/>
          <p:nvPr/>
        </p:nvSpPr>
        <p:spPr>
          <a:xfrm>
            <a:off x="4570412" y="6193681"/>
            <a:ext cx="331788" cy="293688"/>
          </a:xfrm>
          <a:prstGeom prst="rect">
            <a:avLst/>
          </a:prstGeom>
          <a:noFill/>
          <a:ln/>
        </p:spPr>
        <p:txBody>
          <a:bodyPr wrap="square" lIns="25400" tIns="25400" rIns="25400" bIns="25400" rtlCol="0" anchor="t">
            <a:normAutofit/>
          </a:bodyPr>
          <a:lstStyle/>
          <a:p>
            <a:pPr algn="ctr" indent="0" marL="0">
              <a:lnSpc>
                <a:spcPct val="140000"/>
              </a:lnSpc>
              <a:buNone/>
            </a:pPr>
            <a:r>
              <a:rPr lang="en-US" sz="638" b="1" dirty="0">
                <a:solidFill>
                  <a:srgbClr val="5A5449">
                    <a:alpha val="62000"/>
                  </a:srgbClr>
                </a:solidFill>
                <a:latin typeface="Courier New" pitchFamily="34" charset="0"/>
                <a:ea typeface="Courier New" pitchFamily="34" charset="-122"/>
                <a:cs typeface="Courier New" pitchFamily="34" charset="-120"/>
              </a:rPr>
              <a:t>5</a:t>
            </a:r>
            <a:endParaRPr lang="en-US" sz="638" dirty="0"/>
          </a:p>
        </p:txBody>
      </p:sp>
      <p:sp>
        <p:nvSpPr>
          <p:cNvPr id="30" name="Text 28"/>
          <p:cNvSpPr/>
          <p:nvPr/>
        </p:nvSpPr>
        <p:spPr>
          <a:xfrm>
            <a:off x="942975" y="6409581"/>
            <a:ext cx="4051840" cy="251668"/>
          </a:xfrm>
          <a:prstGeom prst="rect">
            <a:avLst/>
          </a:prstGeom>
          <a:noFill/>
          <a:ln/>
        </p:spPr>
        <p:txBody>
          <a:bodyPr wrap="square" lIns="25400" tIns="25400" rIns="25400" bIns="25400" rtlCol="0" anchor="t">
            <a:normAutofit/>
          </a:bodyPr>
          <a:lstStyle/>
          <a:p>
            <a:pPr algn="l" indent="0" marL="0">
              <a:lnSpc>
                <a:spcPct val="124583"/>
              </a:lnSpc>
              <a:buNone/>
            </a:pPr>
            <a:r>
              <a:rPr lang="en-US" sz="863" dirty="0">
                <a:solidFill>
                  <a:srgbClr val="87817A">
                    <a:alpha val="62000"/>
                  </a:srgbClr>
                </a:solidFill>
                <a:latin typeface="Arial" pitchFamily="34" charset="0"/>
                <a:ea typeface="Arial" pitchFamily="34" charset="-122"/>
                <a:cs typeface="Arial" pitchFamily="34" charset="-120"/>
              </a:rPr>
              <a:t>last — what tells us in weeks?</a:t>
            </a:r>
            <a:endParaRPr lang="en-US" sz="863" dirty="0"/>
          </a:p>
        </p:txBody>
      </p:sp>
      <p:sp>
        <p:nvSpPr>
          <p:cNvPr id="31" name="Shape 29"/>
          <p:cNvSpPr/>
          <p:nvPr/>
        </p:nvSpPr>
        <p:spPr>
          <a:xfrm>
            <a:off x="5081588" y="6290518"/>
            <a:ext cx="4171950" cy="942975"/>
          </a:xfrm>
          <a:prstGeom prst="roundRect">
            <a:avLst>
              <a:gd name="adj" fmla="val 8081"/>
            </a:avLst>
          </a:prstGeom>
          <a:ln w="12700">
            <a:solidFill>
              <a:srgbClr val="C3BEB5">
                <a:alpha val="62000"/>
              </a:srgbClr>
            </a:solidFill>
            <a:prstDash val="solid"/>
          </a:ln>
        </p:spPr>
      </p:sp>
      <p:sp>
        <p:nvSpPr>
          <p:cNvPr id="32" name="Shape 30"/>
          <p:cNvSpPr/>
          <p:nvPr/>
        </p:nvSpPr>
        <p:spPr>
          <a:xfrm>
            <a:off x="8853488" y="6180981"/>
            <a:ext cx="280988" cy="280988"/>
          </a:xfrm>
          <a:prstGeom prst="ellipse">
            <a:avLst/>
          </a:prstGeom>
          <a:solidFill>
            <a:srgbClr val="EFECE6">
              <a:alpha val="62000"/>
            </a:srgbClr>
          </a:solidFill>
          <a:ln w="12700">
            <a:solidFill>
              <a:srgbClr val="8A8479">
                <a:alpha val="62000"/>
              </a:srgbClr>
            </a:solidFill>
            <a:prstDash val="solid"/>
          </a:ln>
        </p:spPr>
      </p:sp>
      <p:sp>
        <p:nvSpPr>
          <p:cNvPr id="33" name="Text 31"/>
          <p:cNvSpPr/>
          <p:nvPr/>
        </p:nvSpPr>
        <p:spPr>
          <a:xfrm>
            <a:off x="8828087" y="6193681"/>
            <a:ext cx="331788" cy="293688"/>
          </a:xfrm>
          <a:prstGeom prst="rect">
            <a:avLst/>
          </a:prstGeom>
          <a:noFill/>
          <a:ln/>
        </p:spPr>
        <p:txBody>
          <a:bodyPr wrap="square" lIns="25400" tIns="25400" rIns="25400" bIns="25400" rtlCol="0" anchor="t">
            <a:normAutofit/>
          </a:bodyPr>
          <a:lstStyle/>
          <a:p>
            <a:pPr algn="ctr" indent="0" marL="0">
              <a:lnSpc>
                <a:spcPct val="140000"/>
              </a:lnSpc>
              <a:buNone/>
            </a:pPr>
            <a:r>
              <a:rPr lang="en-US" sz="638" b="1" dirty="0">
                <a:solidFill>
                  <a:srgbClr val="5A5449">
                    <a:alpha val="62000"/>
                  </a:srgbClr>
                </a:solidFill>
                <a:latin typeface="Courier New" pitchFamily="34" charset="0"/>
                <a:ea typeface="Courier New" pitchFamily="34" charset="-122"/>
                <a:cs typeface="Courier New" pitchFamily="34" charset="-120"/>
              </a:rPr>
              <a:t>3</a:t>
            </a:r>
            <a:endParaRPr lang="en-US" sz="638" dirty="0"/>
          </a:p>
        </p:txBody>
      </p:sp>
      <p:sp>
        <p:nvSpPr>
          <p:cNvPr id="34" name="Shape 32"/>
          <p:cNvSpPr/>
          <p:nvPr/>
        </p:nvSpPr>
        <p:spPr>
          <a:xfrm>
            <a:off x="5200650" y="6409581"/>
            <a:ext cx="3933825" cy="349448"/>
          </a:xfrm>
          <a:prstGeom prst="roundRect">
            <a:avLst>
              <a:gd name="adj" fmla="val 5451"/>
            </a:avLst>
          </a:prstGeom>
          <a:solidFill>
            <a:srgbClr val="E2ECF6">
              <a:alpha val="62000"/>
            </a:srgbClr>
          </a:solidFill>
          <a:ln w="6350">
            <a:solidFill>
              <a:srgbClr val="B9CFE4">
                <a:alpha val="62000"/>
              </a:srgbClr>
            </a:solidFill>
            <a:prstDash val="solid"/>
          </a:ln>
          <a:effectLst>
            <a:outerShdw sx="100000" sy="100000" kx="0" ky="0" algn="bl" rotWithShape="0" blurRad="101600" dist="13470" dir="2700000">
              <a:srgbClr val="000000">
                <a:alpha val="4960"/>
              </a:srgbClr>
            </a:outerShdw>
          </a:effectLst>
        </p:spPr>
      </p:sp>
      <p:sp>
        <p:nvSpPr>
          <p:cNvPr id="35" name="Text 33"/>
          <p:cNvSpPr/>
          <p:nvPr/>
        </p:nvSpPr>
        <p:spPr>
          <a:xfrm>
            <a:off x="5264150" y="6463556"/>
            <a:ext cx="3924840" cy="279598"/>
          </a:xfrm>
          <a:prstGeom prst="rect">
            <a:avLst/>
          </a:prstGeom>
          <a:noFill/>
          <a:ln/>
        </p:spPr>
        <p:txBody>
          <a:bodyPr wrap="square" lIns="25400" tIns="25400" rIns="25400" bIns="25400" rtlCol="0" anchor="t">
            <a:normAutofit/>
          </a:bodyPr>
          <a:lstStyle/>
          <a:p>
            <a:pPr algn="l" indent="0" marL="0">
              <a:lnSpc>
                <a:spcPct val="109375"/>
              </a:lnSpc>
              <a:buNone/>
            </a:pPr>
            <a:r>
              <a:rPr lang="en-US" sz="788" dirty="0">
                <a:solidFill>
                  <a:srgbClr val="2B2620">
                    <a:alpha val="62000"/>
                  </a:srgbClr>
                </a:solidFill>
                <a:latin typeface="Arial" pitchFamily="34" charset="0"/>
                <a:ea typeface="Arial" pitchFamily="34" charset="-122"/>
                <a:cs typeface="Arial" pitchFamily="34" charset="-120"/>
              </a:rPr>
              <a:t>no baseline — ask Priya</a:t>
            </a:r>
            <a:endParaRPr lang="en-US" sz="788" dirty="0"/>
          </a:p>
        </p:txBody>
      </p:sp>
      <p:sp>
        <p:nvSpPr>
          <p:cNvPr id="36" name="Text 34"/>
          <p:cNvSpPr/>
          <p:nvPr/>
        </p:nvSpPr>
        <p:spPr>
          <a:xfrm>
            <a:off x="823913" y="7376368"/>
            <a:ext cx="8682514"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the bet has to move a number you already committed to · that's why ③ came first</a:t>
            </a:r>
            <a:endParaRPr lang="en-US" sz="713" dirty="0"/>
          </a:p>
        </p:txBody>
      </p:sp>
      <p:sp>
        <p:nvSpPr>
          <p:cNvPr id="37" name="Text 35"/>
          <p:cNvSpPr/>
          <p:nvPr/>
        </p:nvSpPr>
        <p:spPr>
          <a:xfrm>
            <a:off x="9725025" y="3349972"/>
            <a:ext cx="4355973" cy="219075"/>
          </a:xfrm>
          <a:prstGeom prst="rect">
            <a:avLst/>
          </a:prstGeom>
          <a:noFill/>
          <a:ln/>
        </p:spPr>
        <p:txBody>
          <a:bodyPr wrap="square" lIns="25400" tIns="25400" rIns="25400" bIns="25400" rtlCol="0" anchor="t">
            <a:normAutofit/>
          </a:bodyPr>
          <a:lstStyle/>
          <a:p>
            <a:pPr algn="l" indent="0" marL="0">
              <a:buNone/>
            </a:pPr>
            <a:r>
              <a:rPr lang="en-US" sz="825" b="1" spc="66" kern="0" dirty="0">
                <a:solidFill>
                  <a:srgbClr val="1B1B1B">
                    <a:alpha val="50000"/>
                  </a:srgbClr>
                </a:solidFill>
                <a:latin typeface="Courier New" pitchFamily="34" charset="0"/>
                <a:ea typeface="Courier New" pitchFamily="34" charset="-122"/>
                <a:cs typeface="Courier New" pitchFamily="34" charset="-120"/>
              </a:rPr>
              <a:t>MOBILE</a:t>
            </a:r>
            <a:endParaRPr lang="en-US" sz="825" dirty="0"/>
          </a:p>
        </p:txBody>
      </p:sp>
      <p:sp>
        <p:nvSpPr>
          <p:cNvPr id="38" name="Shape 36"/>
          <p:cNvSpPr/>
          <p:nvPr/>
        </p:nvSpPr>
        <p:spPr>
          <a:xfrm>
            <a:off x="9725025" y="3645247"/>
            <a:ext cx="4229100" cy="3325564"/>
          </a:xfrm>
          <a:prstGeom prst="roundRect">
            <a:avLst>
              <a:gd name="adj" fmla="val 3437"/>
            </a:avLst>
          </a:prstGeom>
          <a:solidFill>
            <a:srgbClr val="FFFFFF"/>
          </a:solidFill>
          <a:ln w="19050">
            <a:solidFill>
              <a:srgbClr val="1B1B1B"/>
            </a:solidFill>
            <a:prstDash val="solid"/>
          </a:ln>
        </p:spPr>
      </p:sp>
      <p:sp>
        <p:nvSpPr>
          <p:cNvPr id="39" name="Text 37"/>
          <p:cNvSpPr/>
          <p:nvPr/>
        </p:nvSpPr>
        <p:spPr>
          <a:xfrm>
            <a:off x="9939338" y="3859560"/>
            <a:ext cx="3914489"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canvas ▾ outcome hypothesis</a:t>
            </a:r>
            <a:endParaRPr lang="en-US" sz="713" dirty="0"/>
          </a:p>
        </p:txBody>
      </p:sp>
      <p:sp>
        <p:nvSpPr>
          <p:cNvPr id="40" name="Shape 38"/>
          <p:cNvSpPr/>
          <p:nvPr/>
        </p:nvSpPr>
        <p:spPr>
          <a:xfrm>
            <a:off x="9939338" y="4206032"/>
            <a:ext cx="3800475" cy="14288"/>
          </a:xfrm>
          <a:prstGeom prst="rect">
            <a:avLst/>
          </a:prstGeom>
          <a:solidFill>
            <a:srgbClr val="E2DED7"/>
          </a:solidFill>
          <a:ln/>
        </p:spPr>
      </p:sp>
      <p:sp>
        <p:nvSpPr>
          <p:cNvPr id="41" name="Text 39"/>
          <p:cNvSpPr/>
          <p:nvPr/>
        </p:nvSpPr>
        <p:spPr>
          <a:xfrm>
            <a:off x="9939338" y="4363194"/>
            <a:ext cx="3914489" cy="1136005"/>
          </a:xfrm>
          <a:prstGeom prst="rect">
            <a:avLst/>
          </a:prstGeom>
          <a:noFill/>
          <a:ln/>
        </p:spPr>
        <p:txBody>
          <a:bodyPr wrap="square" lIns="25400" tIns="25400" rIns="25400" bIns="25400" rtlCol="0" anchor="t">
            <a:normAutofit/>
          </a:bodyPr>
          <a:lstStyle/>
          <a:p>
            <a:pPr algn="l" indent="0" marL="0">
              <a:lnSpc>
                <a:spcPct val="106750"/>
              </a:lnSpc>
              <a:buNone/>
            </a:pPr>
            <a:r>
              <a:rPr lang="en-US" sz="1575" dirty="0">
                <a:solidFill>
                  <a:srgbClr val="1B1B1B"/>
                </a:solidFill>
                <a:latin typeface="Arial" pitchFamily="34" charset="0"/>
                <a:ea typeface="Arial" pitchFamily="34" charset="-122"/>
                <a:cs typeface="Arial" pitchFamily="34" charset="-120"/>
              </a:rPr>
              <a:t>So — what's the bet, and which of those numbers should move?</a:t>
            </a:r>
            <a:endParaRPr lang="en-US" sz="1575" dirty="0"/>
          </a:p>
        </p:txBody>
      </p:sp>
      <p:sp>
        <p:nvSpPr>
          <p:cNvPr id="42" name="Shape 40"/>
          <p:cNvSpPr/>
          <p:nvPr/>
        </p:nvSpPr>
        <p:spPr>
          <a:xfrm rot="-72000">
            <a:off x="10572750" y="5703987"/>
            <a:ext cx="2533651" cy="390525"/>
          </a:xfrm>
          <a:prstGeom prst="roundRect">
            <a:avLst>
              <a:gd name="adj" fmla="val 4878"/>
            </a:avLst>
          </a:prstGeom>
          <a:solidFill>
            <a:srgbClr val="FFF6BF"/>
          </a:solidFill>
          <a:ln w="6350">
            <a:solidFill>
              <a:srgbClr val="E3D489"/>
            </a:solidFill>
            <a:prstDash val="solid"/>
          </a:ln>
          <a:effectLst>
            <a:outerShdw sx="100000" sy="100000" kx="0" ky="0" algn="bl" rotWithShape="0" blurRad="101600" dist="13470" dir="2700000">
              <a:srgbClr val="000000">
                <a:alpha val="8000"/>
              </a:srgbClr>
            </a:outerShdw>
          </a:effectLst>
        </p:spPr>
      </p:sp>
      <p:sp>
        <p:nvSpPr>
          <p:cNvPr id="43" name="Text 41"/>
          <p:cNvSpPr/>
          <p:nvPr/>
        </p:nvSpPr>
        <p:spPr>
          <a:xfrm rot="-72000">
            <a:off x="10636250" y="5757962"/>
            <a:ext cx="2482851" cy="320675"/>
          </a:xfrm>
          <a:prstGeom prst="rect">
            <a:avLst/>
          </a:prstGeom>
          <a:noFill/>
          <a:ln/>
        </p:spPr>
        <p:txBody>
          <a:bodyPr wrap="square" lIns="25400" tIns="25400" rIns="25400" bIns="25400" rtlCol="0" anchor="t">
            <a:normAutofit/>
          </a:bodyPr>
          <a:lstStyle/>
          <a:p>
            <a:pPr algn="l" indent="0" marL="0">
              <a:lnSpc>
                <a:spcPct val="107143"/>
              </a:lnSpc>
              <a:buNone/>
            </a:pPr>
            <a:r>
              <a:rPr lang="en-US" sz="900" dirty="0">
                <a:solidFill>
                  <a:srgbClr val="2B2620"/>
                </a:solidFill>
                <a:latin typeface="Arial" pitchFamily="34" charset="0"/>
                <a:ea typeface="Arial" pitchFamily="34" charset="-122"/>
                <a:cs typeface="Arial" pitchFamily="34" charset="-120"/>
              </a:rPr>
              <a:t>We believe self-serve counts will get managers counting in daylight</a:t>
            </a:r>
            <a:endParaRPr lang="en-US" sz="900" dirty="0"/>
          </a:p>
        </p:txBody>
      </p:sp>
      <p:sp>
        <p:nvSpPr>
          <p:cNvPr id="44" name="Shape 42"/>
          <p:cNvSpPr/>
          <p:nvPr/>
        </p:nvSpPr>
        <p:spPr>
          <a:xfrm>
            <a:off x="9939338" y="6337399"/>
            <a:ext cx="1040904" cy="419100"/>
          </a:xfrm>
          <a:prstGeom prst="roundRect">
            <a:avLst>
              <a:gd name="adj" fmla="val 45455"/>
            </a:avLst>
          </a:prstGeom>
          <a:solidFill>
            <a:srgbClr val="FAF8F4"/>
          </a:solidFill>
          <a:ln w="12700">
            <a:solidFill>
              <a:srgbClr val="9A968E"/>
            </a:solidFill>
            <a:prstDash val="dash"/>
          </a:ln>
        </p:spPr>
      </p:sp>
      <p:sp>
        <p:nvSpPr>
          <p:cNvPr id="45" name="Text 43"/>
          <p:cNvSpPr/>
          <p:nvPr/>
        </p:nvSpPr>
        <p:spPr>
          <a:xfrm>
            <a:off x="10047287" y="6388199"/>
            <a:ext cx="901204" cy="355600"/>
          </a:xfrm>
          <a:prstGeom prst="rect">
            <a:avLst/>
          </a:prstGeom>
          <a:noFill/>
          <a:ln/>
        </p:spPr>
        <p:txBody>
          <a:bodyPr wrap="square" lIns="25400" tIns="25400" rIns="25400" bIns="25400" rtlCol="0" anchor="t">
            <a:normAutofit/>
          </a:bodyPr>
          <a:lstStyle/>
          <a:p>
            <a:pPr algn="l" indent="0" marL="0">
              <a:buNone/>
            </a:pPr>
            <a:r>
              <a:rPr lang="en-US" sz="1200" dirty="0">
                <a:solidFill>
                  <a:srgbClr val="4A463F"/>
                </a:solidFill>
                <a:latin typeface="Arial" pitchFamily="34" charset="0"/>
                <a:ea typeface="Arial" pitchFamily="34" charset="-122"/>
                <a:cs typeface="Arial" pitchFamily="34" charset="-120"/>
              </a:rPr>
              <a:t>that's it</a:t>
            </a:r>
            <a:endParaRPr lang="en-US" sz="1200" dirty="0"/>
          </a:p>
        </p:txBody>
      </p:sp>
      <p:sp>
        <p:nvSpPr>
          <p:cNvPr id="46" name="Shape 44"/>
          <p:cNvSpPr/>
          <p:nvPr/>
        </p:nvSpPr>
        <p:spPr>
          <a:xfrm>
            <a:off x="11108829" y="6337399"/>
            <a:ext cx="1645295" cy="419100"/>
          </a:xfrm>
          <a:prstGeom prst="roundRect">
            <a:avLst>
              <a:gd name="adj" fmla="val 45455"/>
            </a:avLst>
          </a:prstGeom>
          <a:solidFill>
            <a:srgbClr val="FAF8F4"/>
          </a:solidFill>
          <a:ln w="12700">
            <a:solidFill>
              <a:srgbClr val="9A968E"/>
            </a:solidFill>
            <a:prstDash val="dash"/>
          </a:ln>
        </p:spPr>
      </p:sp>
      <p:sp>
        <p:nvSpPr>
          <p:cNvPr id="47" name="Text 45"/>
          <p:cNvSpPr/>
          <p:nvPr/>
        </p:nvSpPr>
        <p:spPr>
          <a:xfrm>
            <a:off x="11216779" y="6388199"/>
            <a:ext cx="1505595" cy="355600"/>
          </a:xfrm>
          <a:prstGeom prst="rect">
            <a:avLst/>
          </a:prstGeom>
          <a:noFill/>
          <a:ln/>
        </p:spPr>
        <p:txBody>
          <a:bodyPr wrap="square" lIns="25400" tIns="25400" rIns="25400" bIns="25400" rtlCol="0" anchor="t">
            <a:normAutofit/>
          </a:bodyPr>
          <a:lstStyle/>
          <a:p>
            <a:pPr algn="l" indent="0" marL="0">
              <a:buNone/>
            </a:pPr>
            <a:r>
              <a:rPr lang="en-US" sz="1200" dirty="0">
                <a:solidFill>
                  <a:srgbClr val="4A463F"/>
                </a:solidFill>
                <a:latin typeface="Arial" pitchFamily="34" charset="0"/>
                <a:ea typeface="Arial" pitchFamily="34" charset="-122"/>
                <a:cs typeface="Arial" pitchFamily="34" charset="-120"/>
              </a:rPr>
              <a:t>let me redo it</a:t>
            </a:r>
            <a:endParaRPr lang="en-US" sz="1200" dirty="0"/>
          </a:p>
        </p:txBody>
      </p:sp>
      <p:sp>
        <p:nvSpPr>
          <p:cNvPr id="48" name="Text 46"/>
          <p:cNvSpPr/>
          <p:nvPr/>
        </p:nvSpPr>
        <p:spPr>
          <a:xfrm>
            <a:off x="14335125" y="4964906"/>
            <a:ext cx="3443573" cy="1252538"/>
          </a:xfrm>
          <a:prstGeom prst="rect">
            <a:avLst/>
          </a:prstGeom>
          <a:noFill/>
          <a:ln/>
        </p:spPr>
        <p:txBody>
          <a:bodyPr wrap="square" lIns="25400" tIns="25400" rIns="25400" bIns="25400" rtlCol="0" anchor="t">
            <a:normAutofit/>
          </a:bodyPr>
          <a:lstStyle/>
          <a:p>
            <a:pPr algn="l" indent="0" marL="0">
              <a:lnSpc>
                <a:spcPct val="108974"/>
              </a:lnSpc>
              <a:buNone/>
            </a:pPr>
            <a:r>
              <a:rPr lang="en-US" sz="2550" dirty="0">
                <a:solidFill>
                  <a:srgbClr val="1B1B1B"/>
                </a:solidFill>
                <a:latin typeface="Arial" pitchFamily="34" charset="0"/>
                <a:ea typeface="Arial" pitchFamily="34" charset="-122"/>
                <a:cs typeface="Arial" pitchFamily="34" charset="-120"/>
              </a:rPr>
              <a:t>the bet, written against a measure that already exists</a:t>
            </a:r>
            <a:endParaRPr lang="en-US" sz="2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FECE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FECE6"/>
          </a:solidFill>
          <a:ln/>
        </p:spPr>
      </p:sp>
      <p:sp>
        <p:nvSpPr>
          <p:cNvPr id="3" name="Shape 1"/>
          <p:cNvSpPr/>
          <p:nvPr/>
        </p:nvSpPr>
        <p:spPr>
          <a:xfrm>
            <a:off x="609600" y="1104900"/>
            <a:ext cx="17068800" cy="19050"/>
          </a:xfrm>
          <a:prstGeom prst="rect">
            <a:avLst/>
          </a:prstGeom>
          <a:solidFill>
            <a:srgbClr val="1B1B1B"/>
          </a:solidFill>
          <a:ln/>
        </p:spPr>
      </p:sp>
      <p:sp>
        <p:nvSpPr>
          <p:cNvPr id="4" name="Shape 2"/>
          <p:cNvSpPr/>
          <p:nvPr/>
        </p:nvSpPr>
        <p:spPr>
          <a:xfrm>
            <a:off x="609600" y="590550"/>
            <a:ext cx="459135" cy="381000"/>
          </a:xfrm>
          <a:prstGeom prst="roundRect">
            <a:avLst>
              <a:gd name="adj" fmla="val 17500"/>
            </a:avLst>
          </a:prstGeom>
          <a:solidFill>
            <a:srgbClr val="1B1B1B"/>
          </a:solidFill>
          <a:ln/>
        </p:spPr>
      </p:sp>
      <p:sp>
        <p:nvSpPr>
          <p:cNvPr id="5" name="Text 3"/>
          <p:cNvSpPr/>
          <p:nvPr/>
        </p:nvSpPr>
        <p:spPr>
          <a:xfrm>
            <a:off x="723900" y="676275"/>
            <a:ext cx="306735" cy="247650"/>
          </a:xfrm>
          <a:prstGeom prst="rect">
            <a:avLst/>
          </a:prstGeom>
          <a:noFill/>
          <a:ln/>
        </p:spPr>
        <p:txBody>
          <a:bodyPr wrap="square" lIns="25400" tIns="25400" rIns="25400" bIns="25400" rtlCol="0" anchor="t">
            <a:normAutofit/>
          </a:bodyPr>
          <a:lstStyle/>
          <a:p>
            <a:pPr algn="l" indent="0" marL="0">
              <a:lnSpc>
                <a:spcPct val="88000"/>
              </a:lnSpc>
              <a:buNone/>
            </a:pPr>
            <a:r>
              <a:rPr lang="en-US" sz="1650" b="1" dirty="0">
                <a:solidFill>
                  <a:srgbClr val="FFFFFF"/>
                </a:solidFill>
                <a:latin typeface="Courier New" pitchFamily="34" charset="0"/>
                <a:ea typeface="Courier New" pitchFamily="34" charset="-122"/>
                <a:cs typeface="Courier New" pitchFamily="34" charset="-120"/>
              </a:rPr>
              <a:t>11</a:t>
            </a:r>
            <a:endParaRPr lang="en-US" sz="1650" dirty="0"/>
          </a:p>
        </p:txBody>
      </p:sp>
      <p:sp>
        <p:nvSpPr>
          <p:cNvPr id="6" name="Text 4"/>
          <p:cNvSpPr/>
          <p:nvPr/>
        </p:nvSpPr>
        <p:spPr>
          <a:xfrm>
            <a:off x="1221135" y="504825"/>
            <a:ext cx="2002334" cy="457200"/>
          </a:xfrm>
          <a:prstGeom prst="rect">
            <a:avLst/>
          </a:prstGeom>
          <a:noFill/>
          <a:ln/>
        </p:spPr>
        <p:txBody>
          <a:bodyPr wrap="square" lIns="0" tIns="0" rIns="0" bIns="0" rtlCol="0" anchor="t">
            <a:normAutofit/>
          </a:bodyPr>
          <a:lstStyle/>
          <a:p>
            <a:pPr algn="l" indent="0" marL="0">
              <a:lnSpc>
                <a:spcPct val="102222"/>
              </a:lnSpc>
              <a:buNone/>
            </a:pPr>
            <a:r>
              <a:rPr lang="en-US" sz="3000" b="1" dirty="0">
                <a:solidFill>
                  <a:srgbClr val="1B1B1B"/>
                </a:solidFill>
                <a:latin typeface="Helvetica" pitchFamily="34" charset="0"/>
                <a:ea typeface="Helvetica" pitchFamily="34" charset="-122"/>
                <a:cs typeface="Helvetica" pitchFamily="34" charset="-120"/>
              </a:rPr>
              <a:t>The nudge</a:t>
            </a:r>
            <a:endParaRPr lang="en-US" sz="3000" dirty="0"/>
          </a:p>
        </p:txBody>
      </p:sp>
      <p:sp>
        <p:nvSpPr>
          <p:cNvPr id="7" name="Text 5"/>
          <p:cNvSpPr/>
          <p:nvPr/>
        </p:nvSpPr>
        <p:spPr>
          <a:xfrm>
            <a:off x="16688098" y="695325"/>
            <a:ext cx="1066502" cy="228600"/>
          </a:xfrm>
          <a:prstGeom prst="rect">
            <a:avLst/>
          </a:prstGeom>
          <a:noFill/>
          <a:ln/>
        </p:spPr>
        <p:txBody>
          <a:bodyPr wrap="none" lIns="25400" tIns="25400" rIns="25400" bIns="25400" rtlCol="0" anchor="t">
            <a:normAutofit/>
          </a:bodyPr>
          <a:lstStyle/>
          <a:p>
            <a:pPr algn="l" indent="0" marL="0">
              <a:lnSpc>
                <a:spcPct val="86957"/>
              </a:lnSpc>
              <a:buNone/>
            </a:pPr>
            <a:r>
              <a:rPr lang="en-US" sz="1500" b="1" spc="150" kern="0" dirty="0">
                <a:solidFill>
                  <a:srgbClr val="8A8479"/>
                </a:solidFill>
                <a:latin typeface="Courier New" pitchFamily="34" charset="0"/>
                <a:ea typeface="Courier New" pitchFamily="34" charset="-122"/>
                <a:cs typeface="Courier New" pitchFamily="34" charset="-120"/>
              </a:rPr>
              <a:t>COACHING</a:t>
            </a:r>
            <a:endParaRPr lang="en-US" sz="1500" dirty="0"/>
          </a:p>
        </p:txBody>
      </p:sp>
      <p:sp>
        <p:nvSpPr>
          <p:cNvPr id="8" name="Text 6"/>
          <p:cNvSpPr/>
          <p:nvPr/>
        </p:nvSpPr>
        <p:spPr>
          <a:xfrm>
            <a:off x="609600" y="3650903"/>
            <a:ext cx="9123998" cy="219075"/>
          </a:xfrm>
          <a:prstGeom prst="rect">
            <a:avLst/>
          </a:prstGeom>
          <a:noFill/>
          <a:ln/>
        </p:spPr>
        <p:txBody>
          <a:bodyPr wrap="square" lIns="25400" tIns="25400" rIns="25400" bIns="25400" rtlCol="0" anchor="t">
            <a:normAutofit/>
          </a:bodyPr>
          <a:lstStyle/>
          <a:p>
            <a:pPr algn="l" indent="0" marL="0">
              <a:buNone/>
            </a:pPr>
            <a:r>
              <a:rPr lang="en-US" sz="825" b="1" spc="66" kern="0" dirty="0">
                <a:solidFill>
                  <a:srgbClr val="1B1B1B">
                    <a:alpha val="50000"/>
                  </a:srgbClr>
                </a:solidFill>
                <a:latin typeface="Courier New" pitchFamily="34" charset="0"/>
                <a:ea typeface="Courier New" pitchFamily="34" charset="-122"/>
                <a:cs typeface="Courier New" pitchFamily="34" charset="-120"/>
              </a:rPr>
              <a:t>DESKTOP</a:t>
            </a:r>
            <a:endParaRPr lang="en-US" sz="825" dirty="0"/>
          </a:p>
        </p:txBody>
      </p:sp>
      <p:sp>
        <p:nvSpPr>
          <p:cNvPr id="9" name="Shape 7"/>
          <p:cNvSpPr/>
          <p:nvPr/>
        </p:nvSpPr>
        <p:spPr>
          <a:xfrm>
            <a:off x="609600" y="3946178"/>
            <a:ext cx="8858250" cy="2871639"/>
          </a:xfrm>
          <a:prstGeom prst="roundRect">
            <a:avLst>
              <a:gd name="adj" fmla="val 3980"/>
            </a:avLst>
          </a:prstGeom>
          <a:solidFill>
            <a:srgbClr val="FFFFFF"/>
          </a:solidFill>
          <a:ln w="19050">
            <a:solidFill>
              <a:srgbClr val="1B1B1B"/>
            </a:solidFill>
            <a:prstDash val="solid"/>
          </a:ln>
        </p:spPr>
      </p:sp>
      <p:sp>
        <p:nvSpPr>
          <p:cNvPr id="10" name="Text 8"/>
          <p:cNvSpPr/>
          <p:nvPr/>
        </p:nvSpPr>
        <p:spPr>
          <a:xfrm>
            <a:off x="823913" y="4160490"/>
            <a:ext cx="4010757" cy="404068"/>
          </a:xfrm>
          <a:prstGeom prst="rect">
            <a:avLst/>
          </a:prstGeom>
          <a:noFill/>
          <a:ln/>
        </p:spPr>
        <p:txBody>
          <a:bodyPr wrap="square" lIns="25400" tIns="25400" rIns="25400" bIns="25400" rtlCol="0" anchor="t">
            <a:normAutofit/>
          </a:bodyPr>
          <a:lstStyle/>
          <a:p>
            <a:pPr algn="l" indent="0" marL="0">
              <a:lnSpc>
                <a:spcPct val="106750"/>
              </a:lnSpc>
              <a:buNone/>
            </a:pPr>
            <a:r>
              <a:rPr lang="en-US" sz="1575" dirty="0">
                <a:solidFill>
                  <a:srgbClr val="1B1B1B"/>
                </a:solidFill>
                <a:latin typeface="Arial" pitchFamily="34" charset="0"/>
                <a:ea typeface="Arial" pitchFamily="34" charset="-122"/>
                <a:cs typeface="Arial" pitchFamily="34" charset="-120"/>
              </a:rPr>
              <a:t>One thing I keep tripping over.</a:t>
            </a:r>
            <a:endParaRPr lang="en-US" sz="1575" dirty="0"/>
          </a:p>
        </p:txBody>
      </p:sp>
      <p:sp>
        <p:nvSpPr>
          <p:cNvPr id="11" name="Text 9"/>
          <p:cNvSpPr/>
          <p:nvPr/>
        </p:nvSpPr>
        <p:spPr>
          <a:xfrm>
            <a:off x="6790879" y="4274790"/>
            <a:ext cx="2538859"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solo mode · in a room this is off</a:t>
            </a:r>
            <a:endParaRPr lang="en-US" sz="713" dirty="0"/>
          </a:p>
        </p:txBody>
      </p:sp>
      <p:sp>
        <p:nvSpPr>
          <p:cNvPr id="12" name="Shape 10"/>
          <p:cNvSpPr/>
          <p:nvPr/>
        </p:nvSpPr>
        <p:spPr>
          <a:xfrm>
            <a:off x="823913" y="4669334"/>
            <a:ext cx="4763244" cy="1934170"/>
          </a:xfrm>
          <a:prstGeom prst="roundRect">
            <a:avLst>
              <a:gd name="adj" fmla="val 4432"/>
            </a:avLst>
          </a:prstGeom>
          <a:ln w="12700">
            <a:solidFill>
              <a:srgbClr val="B3AEA6"/>
            </a:solidFill>
            <a:prstDash val="dash"/>
          </a:ln>
        </p:spPr>
      </p:sp>
      <p:sp>
        <p:nvSpPr>
          <p:cNvPr id="13" name="Text 11"/>
          <p:cNvSpPr/>
          <p:nvPr/>
        </p:nvSpPr>
        <p:spPr>
          <a:xfrm>
            <a:off x="985838" y="4831259"/>
            <a:ext cx="4572576" cy="1115020"/>
          </a:xfrm>
          <a:prstGeom prst="rect">
            <a:avLst/>
          </a:prstGeom>
          <a:noFill/>
          <a:ln/>
        </p:spPr>
        <p:txBody>
          <a:bodyPr wrap="square" lIns="25400" tIns="25400" rIns="25400" bIns="25400" rtlCol="0" anchor="t">
            <a:normAutofit/>
          </a:bodyPr>
          <a:lstStyle/>
          <a:p>
            <a:pPr algn="l" indent="0" marL="0">
              <a:lnSpc>
                <a:spcPct val="117813"/>
              </a:lnSpc>
              <a:buNone/>
            </a:pPr>
            <a:r>
              <a:rPr lang="en-US" sz="1088" dirty="0">
                <a:solidFill>
                  <a:srgbClr val="1B1B1B"/>
                </a:solidFill>
                <a:latin typeface="Arial" pitchFamily="34" charset="0"/>
                <a:ea typeface="Arial" pitchFamily="34" charset="-122"/>
                <a:cs typeface="Arial" pitchFamily="34" charset="-120"/>
              </a:rPr>
              <a:t>Three of your four key results measure whether the team did the work, not whether managers changed behaviour. That's the gap I'd close before anything else.</a:t>
            </a:r>
            <a:endParaRPr lang="en-US" sz="1088" dirty="0"/>
          </a:p>
        </p:txBody>
      </p:sp>
      <p:sp>
        <p:nvSpPr>
          <p:cNvPr id="14" name="Shape 12"/>
          <p:cNvSpPr/>
          <p:nvPr/>
        </p:nvSpPr>
        <p:spPr>
          <a:xfrm>
            <a:off x="985838" y="6022479"/>
            <a:ext cx="2445841" cy="419100"/>
          </a:xfrm>
          <a:prstGeom prst="roundRect">
            <a:avLst>
              <a:gd name="adj" fmla="val 45455"/>
            </a:avLst>
          </a:prstGeom>
          <a:solidFill>
            <a:srgbClr val="FAF8F4"/>
          </a:solidFill>
          <a:ln w="12700">
            <a:solidFill>
              <a:srgbClr val="9A968E"/>
            </a:solidFill>
            <a:prstDash val="dash"/>
          </a:ln>
        </p:spPr>
      </p:sp>
      <p:sp>
        <p:nvSpPr>
          <p:cNvPr id="15" name="Text 13"/>
          <p:cNvSpPr/>
          <p:nvPr/>
        </p:nvSpPr>
        <p:spPr>
          <a:xfrm>
            <a:off x="1093787" y="6073279"/>
            <a:ext cx="2306141" cy="355600"/>
          </a:xfrm>
          <a:prstGeom prst="rect">
            <a:avLst/>
          </a:prstGeom>
          <a:noFill/>
          <a:ln/>
        </p:spPr>
        <p:txBody>
          <a:bodyPr wrap="square" lIns="25400" tIns="25400" rIns="25400" bIns="25400" rtlCol="0" anchor="t">
            <a:normAutofit/>
          </a:bodyPr>
          <a:lstStyle/>
          <a:p>
            <a:pPr algn="l" indent="0" marL="0">
              <a:buNone/>
            </a:pPr>
            <a:r>
              <a:rPr lang="en-US" sz="1200" dirty="0">
                <a:solidFill>
                  <a:srgbClr val="4A463F"/>
                </a:solidFill>
                <a:latin typeface="Arial" pitchFamily="34" charset="0"/>
                <a:ea typeface="Arial" pitchFamily="34" charset="-122"/>
                <a:cs typeface="Arial" pitchFamily="34" charset="-120"/>
              </a:rPr>
              <a:t>show me which ones</a:t>
            </a:r>
            <a:endParaRPr lang="en-US" sz="1200" dirty="0"/>
          </a:p>
        </p:txBody>
      </p:sp>
      <p:sp>
        <p:nvSpPr>
          <p:cNvPr id="16" name="Shape 14"/>
          <p:cNvSpPr/>
          <p:nvPr/>
        </p:nvSpPr>
        <p:spPr>
          <a:xfrm>
            <a:off x="3560266" y="6022479"/>
            <a:ext cx="1124545" cy="419100"/>
          </a:xfrm>
          <a:prstGeom prst="roundRect">
            <a:avLst>
              <a:gd name="adj" fmla="val 45455"/>
            </a:avLst>
          </a:prstGeom>
          <a:solidFill>
            <a:srgbClr val="FAF8F4"/>
          </a:solidFill>
          <a:ln w="12700">
            <a:solidFill>
              <a:srgbClr val="9A968E"/>
            </a:solidFill>
            <a:prstDash val="dash"/>
          </a:ln>
        </p:spPr>
      </p:sp>
      <p:sp>
        <p:nvSpPr>
          <p:cNvPr id="17" name="Text 15"/>
          <p:cNvSpPr/>
          <p:nvPr/>
        </p:nvSpPr>
        <p:spPr>
          <a:xfrm>
            <a:off x="3668216" y="6073279"/>
            <a:ext cx="984845" cy="355600"/>
          </a:xfrm>
          <a:prstGeom prst="rect">
            <a:avLst/>
          </a:prstGeom>
          <a:noFill/>
          <a:ln/>
        </p:spPr>
        <p:txBody>
          <a:bodyPr wrap="square" lIns="25400" tIns="25400" rIns="25400" bIns="25400" rtlCol="0" anchor="t">
            <a:normAutofit/>
          </a:bodyPr>
          <a:lstStyle/>
          <a:p>
            <a:pPr algn="l" indent="0" marL="0">
              <a:buNone/>
            </a:pPr>
            <a:r>
              <a:rPr lang="en-US" sz="1200" dirty="0">
                <a:solidFill>
                  <a:srgbClr val="4A463F"/>
                </a:solidFill>
                <a:latin typeface="Arial" pitchFamily="34" charset="0"/>
                <a:ea typeface="Arial" pitchFamily="34" charset="-122"/>
                <a:cs typeface="Arial" pitchFamily="34" charset="-120"/>
              </a:rPr>
              <a:t>not now</a:t>
            </a:r>
            <a:endParaRPr lang="en-US" sz="1200" dirty="0"/>
          </a:p>
        </p:txBody>
      </p:sp>
      <p:sp>
        <p:nvSpPr>
          <p:cNvPr id="18" name="Shape 16"/>
          <p:cNvSpPr/>
          <p:nvPr/>
        </p:nvSpPr>
        <p:spPr>
          <a:xfrm>
            <a:off x="5758607" y="4669334"/>
            <a:ext cx="3494931" cy="1738313"/>
          </a:xfrm>
          <a:prstGeom prst="roundRect">
            <a:avLst>
              <a:gd name="adj" fmla="val 4932"/>
            </a:avLst>
          </a:prstGeom>
          <a:ln w="12700">
            <a:solidFill>
              <a:srgbClr val="B3AEA6"/>
            </a:solidFill>
            <a:prstDash val="dash"/>
          </a:ln>
        </p:spPr>
      </p:sp>
      <p:sp>
        <p:nvSpPr>
          <p:cNvPr id="19" name="Text 17"/>
          <p:cNvSpPr/>
          <p:nvPr/>
        </p:nvSpPr>
        <p:spPr>
          <a:xfrm>
            <a:off x="5920532" y="4831259"/>
            <a:ext cx="3266213" cy="180975"/>
          </a:xfrm>
          <a:prstGeom prst="rect">
            <a:avLst/>
          </a:prstGeom>
          <a:noFill/>
          <a:ln/>
        </p:spPr>
        <p:txBody>
          <a:bodyPr wrap="square" lIns="25400" tIns="25400" rIns="25400" bIns="25400" rtlCol="0" anchor="t">
            <a:normAutofit/>
          </a:bodyPr>
          <a:lstStyle/>
          <a:p>
            <a:pPr algn="l" indent="0" marL="0">
              <a:buNone/>
            </a:pPr>
            <a:r>
              <a:rPr lang="en-US" sz="638" b="1" spc="38" kern="0" dirty="0">
                <a:solidFill>
                  <a:srgbClr val="8A8479"/>
                </a:solidFill>
                <a:latin typeface="Courier New" pitchFamily="34" charset="0"/>
                <a:ea typeface="Courier New" pitchFamily="34" charset="-122"/>
                <a:cs typeface="Courier New" pitchFamily="34" charset="-120"/>
              </a:rPr>
              <a:t>HOW IT'S SHOWN</a:t>
            </a:r>
            <a:endParaRPr lang="en-US" sz="638" dirty="0"/>
          </a:p>
        </p:txBody>
      </p:sp>
      <p:sp>
        <p:nvSpPr>
          <p:cNvPr id="20" name="Text 18"/>
          <p:cNvSpPr/>
          <p:nvPr/>
        </p:nvSpPr>
        <p:spPr>
          <a:xfrm>
            <a:off x="5920532" y="5059859"/>
            <a:ext cx="1270248"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behaviour change</a:t>
            </a:r>
            <a:endParaRPr lang="en-US" sz="713" dirty="0"/>
          </a:p>
        </p:txBody>
      </p:sp>
      <p:sp>
        <p:nvSpPr>
          <p:cNvPr id="21" name="Shape 19"/>
          <p:cNvSpPr/>
          <p:nvPr/>
        </p:nvSpPr>
        <p:spPr>
          <a:xfrm>
            <a:off x="8362950" y="5125938"/>
            <a:ext cx="214313" cy="71438"/>
          </a:xfrm>
          <a:prstGeom prst="roundRect">
            <a:avLst>
              <a:gd name="adj" fmla="val 40000"/>
            </a:avLst>
          </a:prstGeom>
          <a:solidFill>
            <a:srgbClr val="1B1B1B"/>
          </a:solidFill>
          <a:ln/>
        </p:spPr>
      </p:sp>
      <p:sp>
        <p:nvSpPr>
          <p:cNvPr id="22" name="Shape 20"/>
          <p:cNvSpPr/>
          <p:nvPr/>
        </p:nvSpPr>
        <p:spPr>
          <a:xfrm>
            <a:off x="8620125" y="5125938"/>
            <a:ext cx="214313" cy="71438"/>
          </a:xfrm>
          <a:prstGeom prst="roundRect">
            <a:avLst>
              <a:gd name="adj" fmla="val 40000"/>
            </a:avLst>
          </a:prstGeom>
          <a:solidFill>
            <a:srgbClr val="1B1B1B"/>
          </a:solidFill>
          <a:ln/>
        </p:spPr>
      </p:sp>
      <p:sp>
        <p:nvSpPr>
          <p:cNvPr id="23" name="Shape 21"/>
          <p:cNvSpPr/>
          <p:nvPr/>
        </p:nvSpPr>
        <p:spPr>
          <a:xfrm>
            <a:off x="8877300" y="5125938"/>
            <a:ext cx="214313" cy="71438"/>
          </a:xfrm>
          <a:prstGeom prst="roundRect">
            <a:avLst>
              <a:gd name="adj" fmla="val 40000"/>
            </a:avLst>
          </a:prstGeom>
          <a:solidFill>
            <a:srgbClr val="1B1B1B"/>
          </a:solidFill>
          <a:ln/>
        </p:spPr>
      </p:sp>
      <p:sp>
        <p:nvSpPr>
          <p:cNvPr id="24" name="Text 22"/>
          <p:cNvSpPr/>
          <p:nvPr/>
        </p:nvSpPr>
        <p:spPr>
          <a:xfrm>
            <a:off x="5920532" y="5392043"/>
            <a:ext cx="1419523"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measurable outcome</a:t>
            </a:r>
            <a:endParaRPr lang="en-US" sz="713" dirty="0"/>
          </a:p>
        </p:txBody>
      </p:sp>
      <p:sp>
        <p:nvSpPr>
          <p:cNvPr id="25" name="Shape 23"/>
          <p:cNvSpPr/>
          <p:nvPr/>
        </p:nvSpPr>
        <p:spPr>
          <a:xfrm>
            <a:off x="8362950" y="5458123"/>
            <a:ext cx="214313" cy="71438"/>
          </a:xfrm>
          <a:prstGeom prst="roundRect">
            <a:avLst>
              <a:gd name="adj" fmla="val 40000"/>
            </a:avLst>
          </a:prstGeom>
          <a:solidFill>
            <a:srgbClr val="1B1B1B"/>
          </a:solidFill>
          <a:ln/>
        </p:spPr>
      </p:sp>
      <p:sp>
        <p:nvSpPr>
          <p:cNvPr id="26" name="Shape 24"/>
          <p:cNvSpPr/>
          <p:nvPr/>
        </p:nvSpPr>
        <p:spPr>
          <a:xfrm>
            <a:off x="8620125" y="5458123"/>
            <a:ext cx="214313" cy="71438"/>
          </a:xfrm>
          <a:prstGeom prst="roundRect">
            <a:avLst>
              <a:gd name="adj" fmla="val 40000"/>
            </a:avLst>
          </a:prstGeom>
          <a:solidFill>
            <a:srgbClr val="DAD7D1"/>
          </a:solidFill>
          <a:ln/>
        </p:spPr>
      </p:sp>
      <p:sp>
        <p:nvSpPr>
          <p:cNvPr id="27" name="Shape 25"/>
          <p:cNvSpPr/>
          <p:nvPr/>
        </p:nvSpPr>
        <p:spPr>
          <a:xfrm>
            <a:off x="8877300" y="5458123"/>
            <a:ext cx="214313" cy="71438"/>
          </a:xfrm>
          <a:prstGeom prst="roundRect">
            <a:avLst>
              <a:gd name="adj" fmla="val 40000"/>
            </a:avLst>
          </a:prstGeom>
          <a:solidFill>
            <a:srgbClr val="DAD7D1"/>
          </a:solidFill>
          <a:ln/>
        </p:spPr>
      </p:sp>
      <p:sp>
        <p:nvSpPr>
          <p:cNvPr id="28" name="Text 26"/>
          <p:cNvSpPr/>
          <p:nvPr/>
        </p:nvSpPr>
        <p:spPr>
          <a:xfrm>
            <a:off x="5920532" y="5724227"/>
            <a:ext cx="1344960"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not a deliverable</a:t>
            </a:r>
            <a:endParaRPr lang="en-US" sz="713" dirty="0"/>
          </a:p>
        </p:txBody>
      </p:sp>
      <p:sp>
        <p:nvSpPr>
          <p:cNvPr id="29" name="Shape 27"/>
          <p:cNvSpPr/>
          <p:nvPr/>
        </p:nvSpPr>
        <p:spPr>
          <a:xfrm>
            <a:off x="8362950" y="5790307"/>
            <a:ext cx="214313" cy="71438"/>
          </a:xfrm>
          <a:prstGeom prst="roundRect">
            <a:avLst>
              <a:gd name="adj" fmla="val 40000"/>
            </a:avLst>
          </a:prstGeom>
          <a:solidFill>
            <a:srgbClr val="1B1B1B"/>
          </a:solidFill>
          <a:ln/>
        </p:spPr>
      </p:sp>
      <p:sp>
        <p:nvSpPr>
          <p:cNvPr id="30" name="Shape 28"/>
          <p:cNvSpPr/>
          <p:nvPr/>
        </p:nvSpPr>
        <p:spPr>
          <a:xfrm>
            <a:off x="8620125" y="5790307"/>
            <a:ext cx="214313" cy="71438"/>
          </a:xfrm>
          <a:prstGeom prst="roundRect">
            <a:avLst>
              <a:gd name="adj" fmla="val 40000"/>
            </a:avLst>
          </a:prstGeom>
          <a:solidFill>
            <a:srgbClr val="1B1B1B"/>
          </a:solidFill>
          <a:ln/>
        </p:spPr>
      </p:sp>
      <p:sp>
        <p:nvSpPr>
          <p:cNvPr id="31" name="Shape 29"/>
          <p:cNvSpPr/>
          <p:nvPr/>
        </p:nvSpPr>
        <p:spPr>
          <a:xfrm>
            <a:off x="8877300" y="5790307"/>
            <a:ext cx="214313" cy="71438"/>
          </a:xfrm>
          <a:prstGeom prst="roundRect">
            <a:avLst>
              <a:gd name="adj" fmla="val 40000"/>
            </a:avLst>
          </a:prstGeom>
          <a:solidFill>
            <a:srgbClr val="DAD7D1"/>
          </a:solidFill>
          <a:ln/>
        </p:spPr>
      </p:sp>
      <p:sp>
        <p:nvSpPr>
          <p:cNvPr id="32" name="Text 30"/>
          <p:cNvSpPr/>
          <p:nvPr/>
        </p:nvSpPr>
        <p:spPr>
          <a:xfrm>
            <a:off x="5920532" y="6042124"/>
            <a:ext cx="3266213"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no total, no percentage, never a headline</a:t>
            </a:r>
            <a:endParaRPr lang="en-US" sz="713" dirty="0"/>
          </a:p>
        </p:txBody>
      </p:sp>
      <p:sp>
        <p:nvSpPr>
          <p:cNvPr id="33" name="Text 31"/>
          <p:cNvSpPr/>
          <p:nvPr/>
        </p:nvSpPr>
        <p:spPr>
          <a:xfrm>
            <a:off x="9725025" y="3650903"/>
            <a:ext cx="4355973" cy="219075"/>
          </a:xfrm>
          <a:prstGeom prst="rect">
            <a:avLst/>
          </a:prstGeom>
          <a:noFill/>
          <a:ln/>
        </p:spPr>
        <p:txBody>
          <a:bodyPr wrap="square" lIns="25400" tIns="25400" rIns="25400" bIns="25400" rtlCol="0" anchor="t">
            <a:normAutofit/>
          </a:bodyPr>
          <a:lstStyle/>
          <a:p>
            <a:pPr algn="l" indent="0" marL="0">
              <a:buNone/>
            </a:pPr>
            <a:r>
              <a:rPr lang="en-US" sz="825" b="1" spc="66" kern="0" dirty="0">
                <a:solidFill>
                  <a:srgbClr val="1B1B1B">
                    <a:alpha val="50000"/>
                  </a:srgbClr>
                </a:solidFill>
                <a:latin typeface="Courier New" pitchFamily="34" charset="0"/>
                <a:ea typeface="Courier New" pitchFamily="34" charset="-122"/>
                <a:cs typeface="Courier New" pitchFamily="34" charset="-120"/>
              </a:rPr>
              <a:t>MOBILE</a:t>
            </a:r>
            <a:endParaRPr lang="en-US" sz="825" dirty="0"/>
          </a:p>
        </p:txBody>
      </p:sp>
      <p:sp>
        <p:nvSpPr>
          <p:cNvPr id="34" name="Shape 32"/>
          <p:cNvSpPr/>
          <p:nvPr/>
        </p:nvSpPr>
        <p:spPr>
          <a:xfrm>
            <a:off x="9725025" y="3946178"/>
            <a:ext cx="4229100" cy="3547021"/>
          </a:xfrm>
          <a:prstGeom prst="roundRect">
            <a:avLst>
              <a:gd name="adj" fmla="val 3222"/>
            </a:avLst>
          </a:prstGeom>
          <a:solidFill>
            <a:srgbClr val="FFFFFF"/>
          </a:solidFill>
          <a:ln w="19050">
            <a:solidFill>
              <a:srgbClr val="1B1B1B"/>
            </a:solidFill>
            <a:prstDash val="solid"/>
          </a:ln>
        </p:spPr>
      </p:sp>
      <p:sp>
        <p:nvSpPr>
          <p:cNvPr id="35" name="Text 33"/>
          <p:cNvSpPr/>
          <p:nvPr/>
        </p:nvSpPr>
        <p:spPr>
          <a:xfrm>
            <a:off x="9939338" y="4160490"/>
            <a:ext cx="3914489" cy="770037"/>
          </a:xfrm>
          <a:prstGeom prst="rect">
            <a:avLst/>
          </a:prstGeom>
          <a:noFill/>
          <a:ln/>
        </p:spPr>
        <p:txBody>
          <a:bodyPr wrap="square" lIns="25400" tIns="25400" rIns="25400" bIns="25400" rtlCol="0" anchor="t">
            <a:normAutofit/>
          </a:bodyPr>
          <a:lstStyle/>
          <a:p>
            <a:pPr algn="l" indent="0" marL="0">
              <a:lnSpc>
                <a:spcPct val="106750"/>
              </a:lnSpc>
              <a:buNone/>
            </a:pPr>
            <a:r>
              <a:rPr lang="en-US" sz="1575" dirty="0">
                <a:solidFill>
                  <a:srgbClr val="1B1B1B"/>
                </a:solidFill>
                <a:latin typeface="Arial" pitchFamily="34" charset="0"/>
                <a:ea typeface="Arial" pitchFamily="34" charset="-122"/>
                <a:cs typeface="Arial" pitchFamily="34" charset="-120"/>
              </a:rPr>
              <a:t>One thing I keep tripping over.</a:t>
            </a:r>
            <a:endParaRPr lang="en-US" sz="1575" dirty="0"/>
          </a:p>
        </p:txBody>
      </p:sp>
      <p:sp>
        <p:nvSpPr>
          <p:cNvPr id="36" name="Shape 34"/>
          <p:cNvSpPr/>
          <p:nvPr/>
        </p:nvSpPr>
        <p:spPr>
          <a:xfrm>
            <a:off x="9939338" y="5035302"/>
            <a:ext cx="3800475" cy="1131540"/>
          </a:xfrm>
          <a:prstGeom prst="roundRect">
            <a:avLst>
              <a:gd name="adj" fmla="val 7576"/>
            </a:avLst>
          </a:prstGeom>
          <a:ln w="12700">
            <a:solidFill>
              <a:srgbClr val="B3AEA6"/>
            </a:solidFill>
            <a:prstDash val="dash"/>
          </a:ln>
        </p:spPr>
      </p:sp>
      <p:sp>
        <p:nvSpPr>
          <p:cNvPr id="37" name="Text 35"/>
          <p:cNvSpPr/>
          <p:nvPr/>
        </p:nvSpPr>
        <p:spPr>
          <a:xfrm>
            <a:off x="10101263" y="5197227"/>
            <a:ext cx="3580924" cy="845790"/>
          </a:xfrm>
          <a:prstGeom prst="rect">
            <a:avLst/>
          </a:prstGeom>
          <a:noFill/>
          <a:ln/>
        </p:spPr>
        <p:txBody>
          <a:bodyPr wrap="square" lIns="25400" tIns="25400" rIns="25400" bIns="25400" rtlCol="0" anchor="t">
            <a:normAutofit/>
          </a:bodyPr>
          <a:lstStyle/>
          <a:p>
            <a:pPr algn="l" indent="0" marL="0">
              <a:lnSpc>
                <a:spcPct val="117813"/>
              </a:lnSpc>
              <a:buNone/>
            </a:pPr>
            <a:r>
              <a:rPr lang="en-US" sz="1088" dirty="0">
                <a:solidFill>
                  <a:srgbClr val="1B1B1B"/>
                </a:solidFill>
                <a:latin typeface="Arial" pitchFamily="34" charset="0"/>
                <a:ea typeface="Arial" pitchFamily="34" charset="-122"/>
                <a:cs typeface="Arial" pitchFamily="34" charset="-120"/>
              </a:rPr>
              <a:t>Three of your four key results measure whether the team did the work, not whether managers changed behaviour.</a:t>
            </a:r>
            <a:endParaRPr lang="en-US" sz="1088" dirty="0"/>
          </a:p>
        </p:txBody>
      </p:sp>
      <p:sp>
        <p:nvSpPr>
          <p:cNvPr id="38" name="Shape 36"/>
          <p:cNvSpPr/>
          <p:nvPr/>
        </p:nvSpPr>
        <p:spPr>
          <a:xfrm>
            <a:off x="9939338" y="6309717"/>
            <a:ext cx="2445841" cy="419100"/>
          </a:xfrm>
          <a:prstGeom prst="roundRect">
            <a:avLst>
              <a:gd name="adj" fmla="val 45455"/>
            </a:avLst>
          </a:prstGeom>
          <a:solidFill>
            <a:srgbClr val="FAF8F4"/>
          </a:solidFill>
          <a:ln w="12700">
            <a:solidFill>
              <a:srgbClr val="9A968E"/>
            </a:solidFill>
            <a:prstDash val="dash"/>
          </a:ln>
        </p:spPr>
      </p:sp>
      <p:sp>
        <p:nvSpPr>
          <p:cNvPr id="39" name="Text 37"/>
          <p:cNvSpPr/>
          <p:nvPr/>
        </p:nvSpPr>
        <p:spPr>
          <a:xfrm>
            <a:off x="10047287" y="6360517"/>
            <a:ext cx="2306141" cy="355600"/>
          </a:xfrm>
          <a:prstGeom prst="rect">
            <a:avLst/>
          </a:prstGeom>
          <a:noFill/>
          <a:ln/>
        </p:spPr>
        <p:txBody>
          <a:bodyPr wrap="square" lIns="25400" tIns="25400" rIns="25400" bIns="25400" rtlCol="0" anchor="t">
            <a:normAutofit/>
          </a:bodyPr>
          <a:lstStyle/>
          <a:p>
            <a:pPr algn="l" indent="0" marL="0">
              <a:buNone/>
            </a:pPr>
            <a:r>
              <a:rPr lang="en-US" sz="1200" dirty="0">
                <a:solidFill>
                  <a:srgbClr val="4A463F"/>
                </a:solidFill>
                <a:latin typeface="Arial" pitchFamily="34" charset="0"/>
                <a:ea typeface="Arial" pitchFamily="34" charset="-122"/>
                <a:cs typeface="Arial" pitchFamily="34" charset="-120"/>
              </a:rPr>
              <a:t>show me which ones</a:t>
            </a:r>
            <a:endParaRPr lang="en-US" sz="1200" dirty="0"/>
          </a:p>
        </p:txBody>
      </p:sp>
      <p:sp>
        <p:nvSpPr>
          <p:cNvPr id="40" name="Shape 38"/>
          <p:cNvSpPr/>
          <p:nvPr/>
        </p:nvSpPr>
        <p:spPr>
          <a:xfrm>
            <a:off x="12513766" y="6309717"/>
            <a:ext cx="1124545" cy="419100"/>
          </a:xfrm>
          <a:prstGeom prst="roundRect">
            <a:avLst>
              <a:gd name="adj" fmla="val 45455"/>
            </a:avLst>
          </a:prstGeom>
          <a:solidFill>
            <a:srgbClr val="FAF8F4"/>
          </a:solidFill>
          <a:ln w="12700">
            <a:solidFill>
              <a:srgbClr val="9A968E"/>
            </a:solidFill>
            <a:prstDash val="dash"/>
          </a:ln>
        </p:spPr>
      </p:sp>
      <p:sp>
        <p:nvSpPr>
          <p:cNvPr id="41" name="Text 39"/>
          <p:cNvSpPr/>
          <p:nvPr/>
        </p:nvSpPr>
        <p:spPr>
          <a:xfrm>
            <a:off x="12621716" y="6360517"/>
            <a:ext cx="984845" cy="355600"/>
          </a:xfrm>
          <a:prstGeom prst="rect">
            <a:avLst/>
          </a:prstGeom>
          <a:noFill/>
          <a:ln/>
        </p:spPr>
        <p:txBody>
          <a:bodyPr wrap="square" lIns="25400" tIns="25400" rIns="25400" bIns="25400" rtlCol="0" anchor="t">
            <a:normAutofit/>
          </a:bodyPr>
          <a:lstStyle/>
          <a:p>
            <a:pPr algn="l" indent="0" marL="0">
              <a:buNone/>
            </a:pPr>
            <a:r>
              <a:rPr lang="en-US" sz="1200" dirty="0">
                <a:solidFill>
                  <a:srgbClr val="4A463F"/>
                </a:solidFill>
                <a:latin typeface="Arial" pitchFamily="34" charset="0"/>
                <a:ea typeface="Arial" pitchFamily="34" charset="-122"/>
                <a:cs typeface="Arial" pitchFamily="34" charset="-120"/>
              </a:rPr>
              <a:t>not now</a:t>
            </a:r>
            <a:endParaRPr lang="en-US" sz="1200" dirty="0"/>
          </a:p>
        </p:txBody>
      </p:sp>
      <p:sp>
        <p:nvSpPr>
          <p:cNvPr id="42" name="Text 40"/>
          <p:cNvSpPr/>
          <p:nvPr/>
        </p:nvSpPr>
        <p:spPr>
          <a:xfrm>
            <a:off x="9939338" y="6871692"/>
            <a:ext cx="3914489" cy="445294"/>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no score on screen · in a room this is off entirely</a:t>
            </a:r>
            <a:endParaRPr lang="en-US" sz="713" dirty="0"/>
          </a:p>
        </p:txBody>
      </p:sp>
      <p:sp>
        <p:nvSpPr>
          <p:cNvPr id="43" name="Text 41"/>
          <p:cNvSpPr/>
          <p:nvPr/>
        </p:nvSpPr>
        <p:spPr>
          <a:xfrm>
            <a:off x="14335125" y="3876377"/>
            <a:ext cx="3443573" cy="1252538"/>
          </a:xfrm>
          <a:prstGeom prst="rect">
            <a:avLst/>
          </a:prstGeom>
          <a:noFill/>
          <a:ln/>
        </p:spPr>
        <p:txBody>
          <a:bodyPr wrap="square" lIns="25400" tIns="25400" rIns="25400" bIns="25400" rtlCol="0" anchor="t">
            <a:normAutofit/>
          </a:bodyPr>
          <a:lstStyle/>
          <a:p>
            <a:pPr algn="l" indent="0" marL="0">
              <a:lnSpc>
                <a:spcPct val="108974"/>
              </a:lnSpc>
              <a:buNone/>
            </a:pPr>
            <a:r>
              <a:rPr lang="en-US" sz="2550" dirty="0">
                <a:solidFill>
                  <a:srgbClr val="1B1B1B"/>
                </a:solidFill>
                <a:latin typeface="Arial" pitchFamily="34" charset="0"/>
                <a:ea typeface="Arial" pitchFamily="34" charset="-122"/>
                <a:cs typeface="Arial" pitchFamily="34" charset="-120"/>
              </a:rPr>
              <a:t>the gap in words · never a number · off in room mode</a:t>
            </a:r>
            <a:endParaRPr lang="en-US" sz="2550" dirty="0"/>
          </a:p>
        </p:txBody>
      </p:sp>
      <p:sp>
        <p:nvSpPr>
          <p:cNvPr id="44" name="Text 42"/>
          <p:cNvSpPr/>
          <p:nvPr/>
        </p:nvSpPr>
        <p:spPr>
          <a:xfrm>
            <a:off x="14335125" y="5262265"/>
            <a:ext cx="3443573" cy="2043708"/>
          </a:xfrm>
          <a:prstGeom prst="rect">
            <a:avLst/>
          </a:prstGeom>
          <a:noFill/>
          <a:ln/>
        </p:spPr>
        <p:txBody>
          <a:bodyPr wrap="square" lIns="25400" tIns="25400" rIns="25400" bIns="25400" rtlCol="0" anchor="t">
            <a:normAutofit/>
          </a:bodyPr>
          <a:lstStyle/>
          <a:p>
            <a:pPr algn="l" indent="0" marL="0">
              <a:lnSpc>
                <a:spcPct val="113226"/>
              </a:lnSpc>
              <a:buNone/>
            </a:pPr>
            <a:r>
              <a:rPr lang="en-US" sz="1950" dirty="0">
                <a:solidFill>
                  <a:srgbClr val="1F6BB8"/>
                </a:solidFill>
                <a:latin typeface="Arial" pitchFamily="34" charset="0"/>
                <a:ea typeface="Arial" pitchFamily="34" charset="-122"/>
                <a:cs typeface="Arial" pitchFamily="34" charset="-120"/>
              </a:rPr>
              <a:t>A full canvas of woolly answers shows more empty bars than this half-full one — that asymmetry is the only defence against people optimising wording to chase completeness.</a:t>
            </a:r>
            <a:endParaRPr lang="en-US" sz="1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FECE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FECE6"/>
          </a:solidFill>
          <a:ln/>
        </p:spPr>
      </p:sp>
      <p:sp>
        <p:nvSpPr>
          <p:cNvPr id="3" name="Shape 1"/>
          <p:cNvSpPr/>
          <p:nvPr/>
        </p:nvSpPr>
        <p:spPr>
          <a:xfrm>
            <a:off x="609600" y="1104900"/>
            <a:ext cx="17068800" cy="19050"/>
          </a:xfrm>
          <a:prstGeom prst="rect">
            <a:avLst/>
          </a:prstGeom>
          <a:solidFill>
            <a:srgbClr val="1B1B1B"/>
          </a:solidFill>
          <a:ln/>
        </p:spPr>
      </p:sp>
      <p:sp>
        <p:nvSpPr>
          <p:cNvPr id="4" name="Shape 2"/>
          <p:cNvSpPr/>
          <p:nvPr/>
        </p:nvSpPr>
        <p:spPr>
          <a:xfrm>
            <a:off x="609600" y="590550"/>
            <a:ext cx="459135" cy="381000"/>
          </a:xfrm>
          <a:prstGeom prst="roundRect">
            <a:avLst>
              <a:gd name="adj" fmla="val 17500"/>
            </a:avLst>
          </a:prstGeom>
          <a:solidFill>
            <a:srgbClr val="1B1B1B"/>
          </a:solidFill>
          <a:ln/>
        </p:spPr>
      </p:sp>
      <p:sp>
        <p:nvSpPr>
          <p:cNvPr id="5" name="Text 3"/>
          <p:cNvSpPr/>
          <p:nvPr/>
        </p:nvSpPr>
        <p:spPr>
          <a:xfrm>
            <a:off x="723900" y="676275"/>
            <a:ext cx="306735" cy="247650"/>
          </a:xfrm>
          <a:prstGeom prst="rect">
            <a:avLst/>
          </a:prstGeom>
          <a:noFill/>
          <a:ln/>
        </p:spPr>
        <p:txBody>
          <a:bodyPr wrap="square" lIns="25400" tIns="25400" rIns="25400" bIns="25400" rtlCol="0" anchor="t">
            <a:normAutofit/>
          </a:bodyPr>
          <a:lstStyle/>
          <a:p>
            <a:pPr algn="l" indent="0" marL="0">
              <a:lnSpc>
                <a:spcPct val="88000"/>
              </a:lnSpc>
              <a:buNone/>
            </a:pPr>
            <a:r>
              <a:rPr lang="en-US" sz="1650" b="1" dirty="0">
                <a:solidFill>
                  <a:srgbClr val="FFFFFF"/>
                </a:solidFill>
                <a:latin typeface="Courier New" pitchFamily="34" charset="0"/>
                <a:ea typeface="Courier New" pitchFamily="34" charset="-122"/>
                <a:cs typeface="Courier New" pitchFamily="34" charset="-120"/>
              </a:rPr>
              <a:t>12</a:t>
            </a:r>
            <a:endParaRPr lang="en-US" sz="1650" dirty="0"/>
          </a:p>
        </p:txBody>
      </p:sp>
      <p:sp>
        <p:nvSpPr>
          <p:cNvPr id="6" name="Text 4"/>
          <p:cNvSpPr/>
          <p:nvPr/>
        </p:nvSpPr>
        <p:spPr>
          <a:xfrm>
            <a:off x="1221135" y="504825"/>
            <a:ext cx="2856921" cy="457200"/>
          </a:xfrm>
          <a:prstGeom prst="rect">
            <a:avLst/>
          </a:prstGeom>
          <a:noFill/>
          <a:ln/>
        </p:spPr>
        <p:txBody>
          <a:bodyPr wrap="square" lIns="0" tIns="0" rIns="0" bIns="0" rtlCol="0" anchor="t">
            <a:normAutofit/>
          </a:bodyPr>
          <a:lstStyle/>
          <a:p>
            <a:pPr algn="l" indent="0" marL="0">
              <a:lnSpc>
                <a:spcPct val="102222"/>
              </a:lnSpc>
              <a:buNone/>
            </a:pPr>
            <a:r>
              <a:rPr lang="en-US" sz="3000" b="1" dirty="0">
                <a:solidFill>
                  <a:srgbClr val="1B1B1B"/>
                </a:solidFill>
                <a:latin typeface="Helvetica" pitchFamily="34" charset="0"/>
                <a:ea typeface="Helvetica" pitchFamily="34" charset="-122"/>
                <a:cs typeface="Helvetica" pitchFamily="34" charset="-120"/>
              </a:rPr>
              <a:t>Three ways out</a:t>
            </a:r>
            <a:endParaRPr lang="en-US" sz="3000" dirty="0"/>
          </a:p>
        </p:txBody>
      </p:sp>
      <p:sp>
        <p:nvSpPr>
          <p:cNvPr id="7" name="Text 5"/>
          <p:cNvSpPr/>
          <p:nvPr/>
        </p:nvSpPr>
        <p:spPr>
          <a:xfrm>
            <a:off x="16811774" y="695325"/>
            <a:ext cx="942826" cy="228600"/>
          </a:xfrm>
          <a:prstGeom prst="rect">
            <a:avLst/>
          </a:prstGeom>
          <a:noFill/>
          <a:ln/>
        </p:spPr>
        <p:txBody>
          <a:bodyPr wrap="none" lIns="25400" tIns="25400" rIns="25400" bIns="25400" rtlCol="0" anchor="t">
            <a:normAutofit/>
          </a:bodyPr>
          <a:lstStyle/>
          <a:p>
            <a:pPr algn="l" indent="0" marL="0">
              <a:lnSpc>
                <a:spcPct val="86957"/>
              </a:lnSpc>
              <a:buNone/>
            </a:pPr>
            <a:r>
              <a:rPr lang="en-US" sz="1500" b="1" spc="150" kern="0" dirty="0">
                <a:solidFill>
                  <a:srgbClr val="8A8479"/>
                </a:solidFill>
                <a:latin typeface="Courier New" pitchFamily="34" charset="0"/>
                <a:ea typeface="Courier New" pitchFamily="34" charset="-122"/>
                <a:cs typeface="Courier New" pitchFamily="34" charset="-120"/>
              </a:rPr>
              <a:t>LEAVING</a:t>
            </a:r>
            <a:endParaRPr lang="en-US" sz="1500" dirty="0"/>
          </a:p>
        </p:txBody>
      </p:sp>
      <p:sp>
        <p:nvSpPr>
          <p:cNvPr id="8" name="Text 6"/>
          <p:cNvSpPr/>
          <p:nvPr/>
        </p:nvSpPr>
        <p:spPr>
          <a:xfrm>
            <a:off x="609600" y="2124521"/>
            <a:ext cx="9123998" cy="219075"/>
          </a:xfrm>
          <a:prstGeom prst="rect">
            <a:avLst/>
          </a:prstGeom>
          <a:noFill/>
          <a:ln/>
        </p:spPr>
        <p:txBody>
          <a:bodyPr wrap="square" lIns="25400" tIns="25400" rIns="25400" bIns="25400" rtlCol="0" anchor="t">
            <a:normAutofit/>
          </a:bodyPr>
          <a:lstStyle/>
          <a:p>
            <a:pPr algn="l" indent="0" marL="0">
              <a:buNone/>
            </a:pPr>
            <a:r>
              <a:rPr lang="en-US" sz="825" b="1" spc="66" kern="0" dirty="0">
                <a:solidFill>
                  <a:srgbClr val="1B1B1B">
                    <a:alpha val="50000"/>
                  </a:srgbClr>
                </a:solidFill>
                <a:latin typeface="Courier New" pitchFamily="34" charset="0"/>
                <a:ea typeface="Courier New" pitchFamily="34" charset="-122"/>
                <a:cs typeface="Courier New" pitchFamily="34" charset="-120"/>
              </a:rPr>
              <a:t>DESKTOP</a:t>
            </a:r>
            <a:endParaRPr lang="en-US" sz="825" dirty="0"/>
          </a:p>
        </p:txBody>
      </p:sp>
      <p:sp>
        <p:nvSpPr>
          <p:cNvPr id="9" name="Shape 7"/>
          <p:cNvSpPr/>
          <p:nvPr/>
        </p:nvSpPr>
        <p:spPr>
          <a:xfrm>
            <a:off x="609600" y="2419796"/>
            <a:ext cx="8858250" cy="4803874"/>
          </a:xfrm>
          <a:prstGeom prst="roundRect">
            <a:avLst>
              <a:gd name="adj" fmla="val 2379"/>
            </a:avLst>
          </a:prstGeom>
          <a:solidFill>
            <a:srgbClr val="FFFFFF"/>
          </a:solidFill>
          <a:ln w="19050">
            <a:solidFill>
              <a:srgbClr val="1B1B1B"/>
            </a:solidFill>
            <a:prstDash val="solid"/>
          </a:ln>
        </p:spPr>
      </p:sp>
      <p:sp>
        <p:nvSpPr>
          <p:cNvPr id="10" name="Text 8"/>
          <p:cNvSpPr/>
          <p:nvPr/>
        </p:nvSpPr>
        <p:spPr>
          <a:xfrm>
            <a:off x="823913" y="2634109"/>
            <a:ext cx="8682514" cy="404068"/>
          </a:xfrm>
          <a:prstGeom prst="rect">
            <a:avLst/>
          </a:prstGeom>
          <a:noFill/>
          <a:ln/>
        </p:spPr>
        <p:txBody>
          <a:bodyPr wrap="square" lIns="25400" tIns="25400" rIns="25400" bIns="25400" rtlCol="0" anchor="t">
            <a:normAutofit/>
          </a:bodyPr>
          <a:lstStyle/>
          <a:p>
            <a:pPr algn="l" indent="0" marL="0">
              <a:lnSpc>
                <a:spcPct val="106750"/>
              </a:lnSpc>
              <a:buNone/>
            </a:pPr>
            <a:r>
              <a:rPr lang="en-US" sz="1575" dirty="0">
                <a:solidFill>
                  <a:srgbClr val="1B1B1B"/>
                </a:solidFill>
                <a:latin typeface="Arial" pitchFamily="34" charset="0"/>
                <a:ea typeface="Arial" pitchFamily="34" charset="-122"/>
                <a:cs typeface="Arial" pitchFamily="34" charset="-120"/>
              </a:rPr>
              <a:t>Where this stands, honestly.</a:t>
            </a:r>
            <a:endParaRPr lang="en-US" sz="1575" dirty="0"/>
          </a:p>
        </p:txBody>
      </p:sp>
      <p:sp>
        <p:nvSpPr>
          <p:cNvPr id="11" name="Shape 9"/>
          <p:cNvSpPr/>
          <p:nvPr/>
        </p:nvSpPr>
        <p:spPr>
          <a:xfrm>
            <a:off x="823913" y="3142952"/>
            <a:ext cx="4150519" cy="1331565"/>
          </a:xfrm>
          <a:prstGeom prst="roundRect">
            <a:avLst>
              <a:gd name="adj" fmla="val 6438"/>
            </a:avLst>
          </a:prstGeom>
          <a:ln w="12700">
            <a:solidFill>
              <a:srgbClr val="B3AEA6"/>
            </a:solidFill>
            <a:prstDash val="dash"/>
          </a:ln>
        </p:spPr>
      </p:sp>
      <p:sp>
        <p:nvSpPr>
          <p:cNvPr id="12" name="Text 10"/>
          <p:cNvSpPr/>
          <p:nvPr/>
        </p:nvSpPr>
        <p:spPr>
          <a:xfrm>
            <a:off x="985838" y="3304877"/>
            <a:ext cx="3941469" cy="180975"/>
          </a:xfrm>
          <a:prstGeom prst="rect">
            <a:avLst/>
          </a:prstGeom>
          <a:noFill/>
          <a:ln/>
        </p:spPr>
        <p:txBody>
          <a:bodyPr wrap="square" lIns="25400" tIns="25400" rIns="25400" bIns="25400" rtlCol="0" anchor="t">
            <a:normAutofit/>
          </a:bodyPr>
          <a:lstStyle/>
          <a:p>
            <a:pPr algn="l" indent="0" marL="0">
              <a:buNone/>
            </a:pPr>
            <a:r>
              <a:rPr lang="en-US" sz="638" b="1" spc="38" kern="0" dirty="0">
                <a:solidFill>
                  <a:srgbClr val="8A8479"/>
                </a:solidFill>
                <a:latin typeface="Courier New" pitchFamily="34" charset="0"/>
                <a:ea typeface="Courier New" pitchFamily="34" charset="-122"/>
                <a:cs typeface="Courier New" pitchFamily="34" charset="-120"/>
              </a:rPr>
              <a:t>SHARP</a:t>
            </a:r>
            <a:endParaRPr lang="en-US" sz="638" dirty="0"/>
          </a:p>
        </p:txBody>
      </p:sp>
      <p:sp>
        <p:nvSpPr>
          <p:cNvPr id="13" name="Text 11"/>
          <p:cNvSpPr/>
          <p:nvPr/>
        </p:nvSpPr>
        <p:spPr>
          <a:xfrm>
            <a:off x="985838" y="3504902"/>
            <a:ext cx="3941469" cy="576560"/>
          </a:xfrm>
          <a:prstGeom prst="rect">
            <a:avLst/>
          </a:prstGeom>
          <a:noFill/>
          <a:ln/>
        </p:spPr>
        <p:txBody>
          <a:bodyPr wrap="square" lIns="25400" tIns="25400" rIns="25400" bIns="25400" rtlCol="0" anchor="t">
            <a:normAutofit/>
          </a:bodyPr>
          <a:lstStyle/>
          <a:p>
            <a:pPr algn="l" indent="0" marL="0">
              <a:lnSpc>
                <a:spcPct val="117813"/>
              </a:lnSpc>
              <a:buNone/>
            </a:pPr>
            <a:r>
              <a:rPr lang="en-US" sz="1088" dirty="0">
                <a:solidFill>
                  <a:srgbClr val="1B1B1B"/>
                </a:solidFill>
                <a:latin typeface="Arial" pitchFamily="34" charset="0"/>
                <a:ea typeface="Arial" pitchFamily="34" charset="-122"/>
                <a:cs typeface="Arial" pitchFamily="34" charset="-120"/>
              </a:rPr>
              <a:t>A specific behaviour, a named customer, and one measure a sceptic would accept.</a:t>
            </a:r>
            <a:endParaRPr lang="en-US" sz="1088" dirty="0"/>
          </a:p>
        </p:txBody>
      </p:sp>
      <p:sp>
        <p:nvSpPr>
          <p:cNvPr id="14" name="Shape 12"/>
          <p:cNvSpPr/>
          <p:nvPr/>
        </p:nvSpPr>
        <p:spPr>
          <a:xfrm>
            <a:off x="5103019" y="3142952"/>
            <a:ext cx="4150519" cy="1331565"/>
          </a:xfrm>
          <a:prstGeom prst="roundRect">
            <a:avLst>
              <a:gd name="adj" fmla="val 6438"/>
            </a:avLst>
          </a:prstGeom>
          <a:ln w="12700">
            <a:solidFill>
              <a:srgbClr val="B3AEA6"/>
            </a:solidFill>
            <a:prstDash val="dash"/>
          </a:ln>
        </p:spPr>
      </p:sp>
      <p:sp>
        <p:nvSpPr>
          <p:cNvPr id="15" name="Text 13"/>
          <p:cNvSpPr/>
          <p:nvPr/>
        </p:nvSpPr>
        <p:spPr>
          <a:xfrm>
            <a:off x="5264944" y="3304877"/>
            <a:ext cx="3941469" cy="180975"/>
          </a:xfrm>
          <a:prstGeom prst="rect">
            <a:avLst/>
          </a:prstGeom>
          <a:noFill/>
          <a:ln/>
        </p:spPr>
        <p:txBody>
          <a:bodyPr wrap="square" lIns="25400" tIns="25400" rIns="25400" bIns="25400" rtlCol="0" anchor="t">
            <a:normAutofit/>
          </a:bodyPr>
          <a:lstStyle/>
          <a:p>
            <a:pPr algn="l" indent="0" marL="0">
              <a:buNone/>
            </a:pPr>
            <a:r>
              <a:rPr lang="en-US" sz="638" b="1" spc="38" kern="0" dirty="0">
                <a:solidFill>
                  <a:srgbClr val="8A8479"/>
                </a:solidFill>
                <a:latin typeface="Courier New" pitchFamily="34" charset="0"/>
                <a:ea typeface="Courier New" pitchFamily="34" charset="-122"/>
                <a:cs typeface="Courier New" pitchFamily="34" charset="-120"/>
              </a:rPr>
              <a:t>STILL OPEN</a:t>
            </a:r>
            <a:endParaRPr lang="en-US" sz="638" dirty="0"/>
          </a:p>
        </p:txBody>
      </p:sp>
      <p:sp>
        <p:nvSpPr>
          <p:cNvPr id="16" name="Text 14"/>
          <p:cNvSpPr/>
          <p:nvPr/>
        </p:nvSpPr>
        <p:spPr>
          <a:xfrm>
            <a:off x="5264944" y="3504902"/>
            <a:ext cx="3941469" cy="845790"/>
          </a:xfrm>
          <a:prstGeom prst="rect">
            <a:avLst/>
          </a:prstGeom>
          <a:noFill/>
          <a:ln/>
        </p:spPr>
        <p:txBody>
          <a:bodyPr wrap="square" lIns="25400" tIns="25400" rIns="25400" bIns="25400" rtlCol="0" anchor="t">
            <a:normAutofit/>
          </a:bodyPr>
          <a:lstStyle/>
          <a:p>
            <a:pPr algn="l" indent="0" marL="0">
              <a:lnSpc>
                <a:spcPct val="117813"/>
              </a:lnSpc>
              <a:buNone/>
            </a:pPr>
            <a:r>
              <a:rPr lang="en-US" sz="1088" dirty="0">
                <a:solidFill>
                  <a:srgbClr val="1B1B1B"/>
                </a:solidFill>
                <a:latin typeface="Arial" pitchFamily="34" charset="0"/>
                <a:ea typeface="Arial" pitchFamily="34" charset="-122"/>
                <a:cs typeface="Arial" pitchFamily="34" charset="-120"/>
              </a:rPr>
              <a:t>No baseline. Leading indicators are activity. One box untouched — deliberately.</a:t>
            </a:r>
            <a:endParaRPr lang="en-US" sz="1088" dirty="0"/>
          </a:p>
        </p:txBody>
      </p:sp>
      <p:sp>
        <p:nvSpPr>
          <p:cNvPr id="17" name="Shape 15"/>
          <p:cNvSpPr/>
          <p:nvPr/>
        </p:nvSpPr>
        <p:spPr>
          <a:xfrm>
            <a:off x="823913" y="4617393"/>
            <a:ext cx="2724150" cy="2045494"/>
          </a:xfrm>
          <a:prstGeom prst="roundRect">
            <a:avLst>
              <a:gd name="adj" fmla="val 4191"/>
            </a:avLst>
          </a:prstGeom>
          <a:ln w="12700">
            <a:solidFill>
              <a:srgbClr val="B3AEA6"/>
            </a:solidFill>
            <a:prstDash val="dash"/>
          </a:ln>
        </p:spPr>
      </p:sp>
      <p:sp>
        <p:nvSpPr>
          <p:cNvPr id="18" name="Text 16"/>
          <p:cNvSpPr/>
          <p:nvPr/>
        </p:nvSpPr>
        <p:spPr>
          <a:xfrm>
            <a:off x="985838" y="4779318"/>
            <a:ext cx="2476500" cy="304800"/>
          </a:xfrm>
          <a:prstGeom prst="rect">
            <a:avLst/>
          </a:prstGeom>
          <a:noFill/>
          <a:ln/>
        </p:spPr>
        <p:txBody>
          <a:bodyPr wrap="square" lIns="25400" tIns="25400" rIns="25400" bIns="25400" rtlCol="0" anchor="t">
            <a:normAutofit/>
          </a:bodyPr>
          <a:lstStyle/>
          <a:p>
            <a:pPr algn="l" indent="0" marL="0">
              <a:buNone/>
            </a:pPr>
            <a:r>
              <a:rPr lang="en-US" sz="1200" dirty="0">
                <a:solidFill>
                  <a:srgbClr val="1B1B1B"/>
                </a:solidFill>
                <a:latin typeface="Arial" pitchFamily="34" charset="0"/>
                <a:ea typeface="Arial" pitchFamily="34" charset="-122"/>
                <a:cs typeface="Arial" pitchFamily="34" charset="-120"/>
              </a:rPr>
              <a:t>Keep refining</a:t>
            </a:r>
            <a:endParaRPr lang="en-US" sz="1200" dirty="0"/>
          </a:p>
        </p:txBody>
      </p:sp>
      <p:sp>
        <p:nvSpPr>
          <p:cNvPr id="19" name="Text 17"/>
          <p:cNvSpPr/>
          <p:nvPr/>
        </p:nvSpPr>
        <p:spPr>
          <a:xfrm>
            <a:off x="985838" y="5131743"/>
            <a:ext cx="2476500" cy="445294"/>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I'd start with the leading indicators</a:t>
            </a:r>
            <a:endParaRPr lang="en-US" sz="713" dirty="0"/>
          </a:p>
        </p:txBody>
      </p:sp>
      <p:sp>
        <p:nvSpPr>
          <p:cNvPr id="20" name="Shape 18"/>
          <p:cNvSpPr/>
          <p:nvPr/>
        </p:nvSpPr>
        <p:spPr>
          <a:xfrm>
            <a:off x="985838" y="5891361"/>
            <a:ext cx="2400300" cy="609600"/>
          </a:xfrm>
          <a:prstGeom prst="roundRect">
            <a:avLst>
              <a:gd name="adj" fmla="val 14063"/>
            </a:avLst>
          </a:prstGeom>
          <a:ln w="19050">
            <a:solidFill>
              <a:srgbClr val="1B1B1B"/>
            </a:solidFill>
            <a:prstDash val="solid"/>
          </a:ln>
        </p:spPr>
      </p:sp>
      <p:sp>
        <p:nvSpPr>
          <p:cNvPr id="21" name="Text 19"/>
          <p:cNvSpPr/>
          <p:nvPr/>
        </p:nvSpPr>
        <p:spPr>
          <a:xfrm>
            <a:off x="1071563" y="6005661"/>
            <a:ext cx="2228850" cy="419100"/>
          </a:xfrm>
          <a:prstGeom prst="rect">
            <a:avLst/>
          </a:prstGeom>
          <a:noFill/>
          <a:ln/>
        </p:spPr>
        <p:txBody>
          <a:bodyPr wrap="square" lIns="25400" tIns="25400" rIns="25400" bIns="25400" rtlCol="0" anchor="t">
            <a:normAutofit/>
          </a:bodyPr>
          <a:lstStyle/>
          <a:p>
            <a:pPr algn="ctr" indent="0" marL="0">
              <a:buNone/>
            </a:pPr>
            <a:r>
              <a:rPr lang="en-US" sz="1200" dirty="0">
                <a:solidFill>
                  <a:srgbClr val="1B1B1B"/>
                </a:solidFill>
                <a:latin typeface="Arial" pitchFamily="34" charset="0"/>
                <a:ea typeface="Arial" pitchFamily="34" charset="-122"/>
                <a:cs typeface="Arial" pitchFamily="34" charset="-120"/>
              </a:rPr>
              <a:t>Carry on →</a:t>
            </a:r>
            <a:endParaRPr lang="en-US" sz="1200" dirty="0"/>
          </a:p>
        </p:txBody>
      </p:sp>
      <p:sp>
        <p:nvSpPr>
          <p:cNvPr id="22" name="Shape 20"/>
          <p:cNvSpPr/>
          <p:nvPr/>
        </p:nvSpPr>
        <p:spPr>
          <a:xfrm>
            <a:off x="3676650" y="4617393"/>
            <a:ext cx="2724150" cy="2045494"/>
          </a:xfrm>
          <a:prstGeom prst="roundRect">
            <a:avLst>
              <a:gd name="adj" fmla="val 4191"/>
            </a:avLst>
          </a:prstGeom>
          <a:ln w="12700">
            <a:solidFill>
              <a:srgbClr val="B3AEA6"/>
            </a:solidFill>
            <a:prstDash val="dash"/>
          </a:ln>
        </p:spPr>
      </p:sp>
      <p:sp>
        <p:nvSpPr>
          <p:cNvPr id="23" name="Text 21"/>
          <p:cNvSpPr/>
          <p:nvPr/>
        </p:nvSpPr>
        <p:spPr>
          <a:xfrm>
            <a:off x="3838575" y="4779318"/>
            <a:ext cx="2476500" cy="304800"/>
          </a:xfrm>
          <a:prstGeom prst="rect">
            <a:avLst/>
          </a:prstGeom>
          <a:noFill/>
          <a:ln/>
        </p:spPr>
        <p:txBody>
          <a:bodyPr wrap="square" lIns="25400" tIns="25400" rIns="25400" bIns="25400" rtlCol="0" anchor="t">
            <a:normAutofit/>
          </a:bodyPr>
          <a:lstStyle/>
          <a:p>
            <a:pPr algn="l" indent="0" marL="0">
              <a:buNone/>
            </a:pPr>
            <a:r>
              <a:rPr lang="en-US" sz="1200" dirty="0">
                <a:solidFill>
                  <a:srgbClr val="1B1B1B"/>
                </a:solidFill>
                <a:latin typeface="Arial" pitchFamily="34" charset="0"/>
                <a:ea typeface="Arial" pitchFamily="34" charset="-122"/>
                <a:cs typeface="Arial" pitchFamily="34" charset="-120"/>
              </a:rPr>
              <a:t>Stop here</a:t>
            </a:r>
            <a:endParaRPr lang="en-US" sz="1200" dirty="0"/>
          </a:p>
        </p:txBody>
      </p:sp>
      <p:sp>
        <p:nvSpPr>
          <p:cNvPr id="24" name="Text 22"/>
          <p:cNvSpPr/>
          <p:nvPr/>
        </p:nvSpPr>
        <p:spPr>
          <a:xfrm>
            <a:off x="3838575" y="5131743"/>
            <a:ext cx="2476500" cy="445294"/>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this is already sharper than most</a:t>
            </a:r>
            <a:endParaRPr lang="en-US" sz="713" dirty="0"/>
          </a:p>
        </p:txBody>
      </p:sp>
      <p:sp>
        <p:nvSpPr>
          <p:cNvPr id="25" name="Shape 23"/>
          <p:cNvSpPr/>
          <p:nvPr/>
        </p:nvSpPr>
        <p:spPr>
          <a:xfrm>
            <a:off x="3838575" y="5891361"/>
            <a:ext cx="2400300" cy="609600"/>
          </a:xfrm>
          <a:prstGeom prst="roundRect">
            <a:avLst>
              <a:gd name="adj" fmla="val 14063"/>
            </a:avLst>
          </a:prstGeom>
          <a:ln w="19050">
            <a:solidFill>
              <a:srgbClr val="1B1B1B"/>
            </a:solidFill>
            <a:prstDash val="solid"/>
          </a:ln>
        </p:spPr>
      </p:sp>
      <p:sp>
        <p:nvSpPr>
          <p:cNvPr id="26" name="Text 24"/>
          <p:cNvSpPr/>
          <p:nvPr/>
        </p:nvSpPr>
        <p:spPr>
          <a:xfrm>
            <a:off x="3924300" y="6005661"/>
            <a:ext cx="2228850" cy="419100"/>
          </a:xfrm>
          <a:prstGeom prst="rect">
            <a:avLst/>
          </a:prstGeom>
          <a:noFill/>
          <a:ln/>
        </p:spPr>
        <p:txBody>
          <a:bodyPr wrap="square" lIns="25400" tIns="25400" rIns="25400" bIns="25400" rtlCol="0" anchor="t">
            <a:normAutofit/>
          </a:bodyPr>
          <a:lstStyle/>
          <a:p>
            <a:pPr algn="ctr" indent="0" marL="0">
              <a:buNone/>
            </a:pPr>
            <a:r>
              <a:rPr lang="en-US" sz="1200" dirty="0">
                <a:solidFill>
                  <a:srgbClr val="1B1B1B"/>
                </a:solidFill>
                <a:latin typeface="Arial" pitchFamily="34" charset="0"/>
                <a:ea typeface="Arial" pitchFamily="34" charset="-122"/>
                <a:cs typeface="Arial" pitchFamily="34" charset="-120"/>
              </a:rPr>
              <a:t>Take it and go →</a:t>
            </a:r>
            <a:endParaRPr lang="en-US" sz="1200" dirty="0"/>
          </a:p>
        </p:txBody>
      </p:sp>
      <p:sp>
        <p:nvSpPr>
          <p:cNvPr id="27" name="Shape 25"/>
          <p:cNvSpPr/>
          <p:nvPr/>
        </p:nvSpPr>
        <p:spPr>
          <a:xfrm>
            <a:off x="6529388" y="4617393"/>
            <a:ext cx="2724150" cy="2045494"/>
          </a:xfrm>
          <a:prstGeom prst="roundRect">
            <a:avLst>
              <a:gd name="adj" fmla="val 4191"/>
            </a:avLst>
          </a:prstGeom>
          <a:solidFill>
            <a:srgbClr val="FFFAF0"/>
          </a:solidFill>
          <a:ln w="12700">
            <a:solidFill>
              <a:srgbClr val="B3AEA6"/>
            </a:solidFill>
            <a:prstDash val="dash"/>
          </a:ln>
        </p:spPr>
      </p:sp>
      <p:sp>
        <p:nvSpPr>
          <p:cNvPr id="28" name="Text 26"/>
          <p:cNvSpPr/>
          <p:nvPr/>
        </p:nvSpPr>
        <p:spPr>
          <a:xfrm>
            <a:off x="6691313" y="4779318"/>
            <a:ext cx="2476500" cy="571500"/>
          </a:xfrm>
          <a:prstGeom prst="rect">
            <a:avLst/>
          </a:prstGeom>
          <a:noFill/>
          <a:ln/>
        </p:spPr>
        <p:txBody>
          <a:bodyPr wrap="square" lIns="25400" tIns="25400" rIns="25400" bIns="25400" rtlCol="0" anchor="t">
            <a:normAutofit/>
          </a:bodyPr>
          <a:lstStyle/>
          <a:p>
            <a:pPr algn="l" indent="0" marL="0">
              <a:buNone/>
            </a:pPr>
            <a:r>
              <a:rPr lang="en-US" sz="1200" dirty="0">
                <a:solidFill>
                  <a:srgbClr val="1B1B1B"/>
                </a:solidFill>
                <a:latin typeface="Arial" pitchFamily="34" charset="0"/>
                <a:ea typeface="Arial" pitchFamily="34" charset="-122"/>
                <a:cs typeface="Arial" pitchFamily="34" charset="-120"/>
              </a:rPr>
              <a:t>Take the questions away</a:t>
            </a:r>
            <a:endParaRPr lang="en-US" sz="1200" dirty="0"/>
          </a:p>
        </p:txBody>
      </p:sp>
      <p:sp>
        <p:nvSpPr>
          <p:cNvPr id="29" name="Text 27"/>
          <p:cNvSpPr/>
          <p:nvPr/>
        </p:nvSpPr>
        <p:spPr>
          <a:xfrm>
            <a:off x="6691313" y="5398443"/>
            <a:ext cx="2476500" cy="445294"/>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two answers live with your team, not with me</a:t>
            </a:r>
            <a:endParaRPr lang="en-US" sz="713" dirty="0"/>
          </a:p>
        </p:txBody>
      </p:sp>
      <p:sp>
        <p:nvSpPr>
          <p:cNvPr id="30" name="Shape 28"/>
          <p:cNvSpPr/>
          <p:nvPr/>
        </p:nvSpPr>
        <p:spPr>
          <a:xfrm>
            <a:off x="6691313" y="5891361"/>
            <a:ext cx="2400300" cy="609600"/>
          </a:xfrm>
          <a:prstGeom prst="roundRect">
            <a:avLst>
              <a:gd name="adj" fmla="val 14063"/>
            </a:avLst>
          </a:prstGeom>
          <a:solidFill>
            <a:srgbClr val="FFE4A8"/>
          </a:solidFill>
          <a:ln w="19050">
            <a:solidFill>
              <a:srgbClr val="1B1B1B"/>
            </a:solidFill>
            <a:prstDash val="solid"/>
          </a:ln>
        </p:spPr>
      </p:sp>
      <p:sp>
        <p:nvSpPr>
          <p:cNvPr id="31" name="Text 29"/>
          <p:cNvSpPr/>
          <p:nvPr/>
        </p:nvSpPr>
        <p:spPr>
          <a:xfrm>
            <a:off x="6777038" y="6005661"/>
            <a:ext cx="2228850" cy="419100"/>
          </a:xfrm>
          <a:prstGeom prst="rect">
            <a:avLst/>
          </a:prstGeom>
          <a:noFill/>
          <a:ln/>
        </p:spPr>
        <p:txBody>
          <a:bodyPr wrap="square" lIns="25400" tIns="25400" rIns="25400" bIns="25400" rtlCol="0" anchor="t">
            <a:normAutofit/>
          </a:bodyPr>
          <a:lstStyle/>
          <a:p>
            <a:pPr algn="ctr" indent="0" marL="0">
              <a:buNone/>
            </a:pPr>
            <a:r>
              <a:rPr lang="en-US" sz="1200" dirty="0">
                <a:solidFill>
                  <a:srgbClr val="1B1B1B"/>
                </a:solidFill>
                <a:latin typeface="Arial" pitchFamily="34" charset="0"/>
                <a:ea typeface="Arial" pitchFamily="34" charset="-122"/>
                <a:cs typeface="Arial" pitchFamily="34" charset="-120"/>
              </a:rPr>
              <a:t>Pack them up →</a:t>
            </a:r>
            <a:endParaRPr lang="en-US" sz="1200" dirty="0"/>
          </a:p>
        </p:txBody>
      </p:sp>
      <p:sp>
        <p:nvSpPr>
          <p:cNvPr id="32" name="Text 30"/>
          <p:cNvSpPr/>
          <p:nvPr/>
        </p:nvSpPr>
        <p:spPr>
          <a:xfrm>
            <a:off x="823913" y="6805761"/>
            <a:ext cx="8682514"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no recommended option · no finish button · the canvas stays on screen behind this</a:t>
            </a:r>
            <a:endParaRPr lang="en-US" sz="713" dirty="0"/>
          </a:p>
        </p:txBody>
      </p:sp>
      <p:sp>
        <p:nvSpPr>
          <p:cNvPr id="33" name="Text 31"/>
          <p:cNvSpPr/>
          <p:nvPr/>
        </p:nvSpPr>
        <p:spPr>
          <a:xfrm>
            <a:off x="9725025" y="2124521"/>
            <a:ext cx="4355973" cy="219075"/>
          </a:xfrm>
          <a:prstGeom prst="rect">
            <a:avLst/>
          </a:prstGeom>
          <a:noFill/>
          <a:ln/>
        </p:spPr>
        <p:txBody>
          <a:bodyPr wrap="square" lIns="25400" tIns="25400" rIns="25400" bIns="25400" rtlCol="0" anchor="t">
            <a:normAutofit/>
          </a:bodyPr>
          <a:lstStyle/>
          <a:p>
            <a:pPr algn="l" indent="0" marL="0">
              <a:buNone/>
            </a:pPr>
            <a:r>
              <a:rPr lang="en-US" sz="825" b="1" spc="66" kern="0" dirty="0">
                <a:solidFill>
                  <a:srgbClr val="1B1B1B">
                    <a:alpha val="50000"/>
                  </a:srgbClr>
                </a:solidFill>
                <a:latin typeface="Courier New" pitchFamily="34" charset="0"/>
                <a:ea typeface="Courier New" pitchFamily="34" charset="-122"/>
                <a:cs typeface="Courier New" pitchFamily="34" charset="-120"/>
              </a:rPr>
              <a:t>MOBILE</a:t>
            </a:r>
            <a:endParaRPr lang="en-US" sz="825" dirty="0"/>
          </a:p>
        </p:txBody>
      </p:sp>
      <p:sp>
        <p:nvSpPr>
          <p:cNvPr id="34" name="Shape 32"/>
          <p:cNvSpPr/>
          <p:nvPr/>
        </p:nvSpPr>
        <p:spPr>
          <a:xfrm>
            <a:off x="9725025" y="2419796"/>
            <a:ext cx="4229100" cy="6599932"/>
          </a:xfrm>
          <a:prstGeom prst="roundRect">
            <a:avLst>
              <a:gd name="adj" fmla="val 2703"/>
            </a:avLst>
          </a:prstGeom>
          <a:solidFill>
            <a:srgbClr val="FFFFFF"/>
          </a:solidFill>
          <a:ln w="19050">
            <a:solidFill>
              <a:srgbClr val="1B1B1B"/>
            </a:solidFill>
            <a:prstDash val="solid"/>
          </a:ln>
        </p:spPr>
      </p:sp>
      <p:sp>
        <p:nvSpPr>
          <p:cNvPr id="35" name="Text 33"/>
          <p:cNvSpPr/>
          <p:nvPr/>
        </p:nvSpPr>
        <p:spPr>
          <a:xfrm>
            <a:off x="9939338" y="2634109"/>
            <a:ext cx="3914489" cy="770037"/>
          </a:xfrm>
          <a:prstGeom prst="rect">
            <a:avLst/>
          </a:prstGeom>
          <a:noFill/>
          <a:ln/>
        </p:spPr>
        <p:txBody>
          <a:bodyPr wrap="square" lIns="25400" tIns="25400" rIns="25400" bIns="25400" rtlCol="0" anchor="t">
            <a:normAutofit/>
          </a:bodyPr>
          <a:lstStyle/>
          <a:p>
            <a:pPr algn="l" indent="0" marL="0">
              <a:lnSpc>
                <a:spcPct val="106750"/>
              </a:lnSpc>
              <a:buNone/>
            </a:pPr>
            <a:r>
              <a:rPr lang="en-US" sz="1575" dirty="0">
                <a:solidFill>
                  <a:srgbClr val="1B1B1B"/>
                </a:solidFill>
                <a:latin typeface="Arial" pitchFamily="34" charset="0"/>
                <a:ea typeface="Arial" pitchFamily="34" charset="-122"/>
                <a:cs typeface="Arial" pitchFamily="34" charset="-120"/>
              </a:rPr>
              <a:t>Here's where I think you've got to.</a:t>
            </a:r>
            <a:endParaRPr lang="en-US" sz="1575" dirty="0"/>
          </a:p>
        </p:txBody>
      </p:sp>
      <p:sp>
        <p:nvSpPr>
          <p:cNvPr id="36" name="Shape 34"/>
          <p:cNvSpPr/>
          <p:nvPr/>
        </p:nvSpPr>
        <p:spPr>
          <a:xfrm>
            <a:off x="9939338" y="3508921"/>
            <a:ext cx="3800475" cy="1048048"/>
          </a:xfrm>
          <a:prstGeom prst="roundRect">
            <a:avLst>
              <a:gd name="adj" fmla="val 8179"/>
            </a:avLst>
          </a:prstGeom>
          <a:ln w="12700">
            <a:solidFill>
              <a:srgbClr val="B3AEA6"/>
            </a:solidFill>
            <a:prstDash val="dash"/>
          </a:ln>
        </p:spPr>
      </p:sp>
      <p:sp>
        <p:nvSpPr>
          <p:cNvPr id="37" name="Text 35"/>
          <p:cNvSpPr/>
          <p:nvPr/>
        </p:nvSpPr>
        <p:spPr>
          <a:xfrm>
            <a:off x="10101263" y="3670846"/>
            <a:ext cx="3580924" cy="180975"/>
          </a:xfrm>
          <a:prstGeom prst="rect">
            <a:avLst/>
          </a:prstGeom>
          <a:noFill/>
          <a:ln/>
        </p:spPr>
        <p:txBody>
          <a:bodyPr wrap="square" lIns="25400" tIns="25400" rIns="25400" bIns="25400" rtlCol="0" anchor="t">
            <a:normAutofit/>
          </a:bodyPr>
          <a:lstStyle/>
          <a:p>
            <a:pPr algn="l" indent="0" marL="0">
              <a:buNone/>
            </a:pPr>
            <a:r>
              <a:rPr lang="en-US" sz="638" b="1" spc="38" kern="0" dirty="0">
                <a:solidFill>
                  <a:srgbClr val="8A8479"/>
                </a:solidFill>
                <a:latin typeface="Courier New" pitchFamily="34" charset="0"/>
                <a:ea typeface="Courier New" pitchFamily="34" charset="-122"/>
                <a:cs typeface="Courier New" pitchFamily="34" charset="-120"/>
              </a:rPr>
              <a:t>SHARP</a:t>
            </a:r>
            <a:endParaRPr lang="en-US" sz="638" dirty="0"/>
          </a:p>
        </p:txBody>
      </p:sp>
      <p:sp>
        <p:nvSpPr>
          <p:cNvPr id="38" name="Text 36"/>
          <p:cNvSpPr/>
          <p:nvPr/>
        </p:nvSpPr>
        <p:spPr>
          <a:xfrm>
            <a:off x="10101263" y="3856583"/>
            <a:ext cx="3580924" cy="576560"/>
          </a:xfrm>
          <a:prstGeom prst="rect">
            <a:avLst/>
          </a:prstGeom>
          <a:noFill/>
          <a:ln/>
        </p:spPr>
        <p:txBody>
          <a:bodyPr wrap="square" lIns="25400" tIns="25400" rIns="25400" bIns="25400" rtlCol="0" anchor="t">
            <a:normAutofit/>
          </a:bodyPr>
          <a:lstStyle/>
          <a:p>
            <a:pPr algn="l" indent="0" marL="0">
              <a:lnSpc>
                <a:spcPct val="117813"/>
              </a:lnSpc>
              <a:buNone/>
            </a:pPr>
            <a:r>
              <a:rPr lang="en-US" sz="1088" dirty="0">
                <a:solidFill>
                  <a:srgbClr val="1B1B1B"/>
                </a:solidFill>
                <a:latin typeface="Arial" pitchFamily="34" charset="0"/>
                <a:ea typeface="Arial" pitchFamily="34" charset="-122"/>
                <a:cs typeface="Arial" pitchFamily="34" charset="-120"/>
              </a:rPr>
              <a:t>The behaviour change is specific and someone would notice it.</a:t>
            </a:r>
            <a:endParaRPr lang="en-US" sz="1088" dirty="0"/>
          </a:p>
        </p:txBody>
      </p:sp>
      <p:sp>
        <p:nvSpPr>
          <p:cNvPr id="39" name="Shape 37"/>
          <p:cNvSpPr/>
          <p:nvPr/>
        </p:nvSpPr>
        <p:spPr>
          <a:xfrm>
            <a:off x="9939338" y="4699843"/>
            <a:ext cx="3800475" cy="1048048"/>
          </a:xfrm>
          <a:prstGeom prst="roundRect">
            <a:avLst>
              <a:gd name="adj" fmla="val 8179"/>
            </a:avLst>
          </a:prstGeom>
          <a:ln w="12700">
            <a:solidFill>
              <a:srgbClr val="B3AEA6"/>
            </a:solidFill>
            <a:prstDash val="dash"/>
          </a:ln>
        </p:spPr>
      </p:sp>
      <p:sp>
        <p:nvSpPr>
          <p:cNvPr id="40" name="Text 38"/>
          <p:cNvSpPr/>
          <p:nvPr/>
        </p:nvSpPr>
        <p:spPr>
          <a:xfrm>
            <a:off x="10101263" y="4861768"/>
            <a:ext cx="3580924" cy="180975"/>
          </a:xfrm>
          <a:prstGeom prst="rect">
            <a:avLst/>
          </a:prstGeom>
          <a:noFill/>
          <a:ln/>
        </p:spPr>
        <p:txBody>
          <a:bodyPr wrap="square" lIns="25400" tIns="25400" rIns="25400" bIns="25400" rtlCol="0" anchor="t">
            <a:normAutofit/>
          </a:bodyPr>
          <a:lstStyle/>
          <a:p>
            <a:pPr algn="l" indent="0" marL="0">
              <a:buNone/>
            </a:pPr>
            <a:r>
              <a:rPr lang="en-US" sz="638" b="1" spc="38" kern="0" dirty="0">
                <a:solidFill>
                  <a:srgbClr val="8A8479"/>
                </a:solidFill>
                <a:latin typeface="Courier New" pitchFamily="34" charset="0"/>
                <a:ea typeface="Courier New" pitchFamily="34" charset="-122"/>
                <a:cs typeface="Courier New" pitchFamily="34" charset="-120"/>
              </a:rPr>
              <a:t>STILL OPEN</a:t>
            </a:r>
            <a:endParaRPr lang="en-US" sz="638" dirty="0"/>
          </a:p>
        </p:txBody>
      </p:sp>
      <p:sp>
        <p:nvSpPr>
          <p:cNvPr id="41" name="Text 39"/>
          <p:cNvSpPr/>
          <p:nvPr/>
        </p:nvSpPr>
        <p:spPr>
          <a:xfrm>
            <a:off x="10101263" y="5047506"/>
            <a:ext cx="3580924" cy="576560"/>
          </a:xfrm>
          <a:prstGeom prst="rect">
            <a:avLst/>
          </a:prstGeom>
          <a:noFill/>
          <a:ln/>
        </p:spPr>
        <p:txBody>
          <a:bodyPr wrap="square" lIns="25400" tIns="25400" rIns="25400" bIns="25400" rtlCol="0" anchor="t">
            <a:normAutofit/>
          </a:bodyPr>
          <a:lstStyle/>
          <a:p>
            <a:pPr algn="l" indent="0" marL="0">
              <a:lnSpc>
                <a:spcPct val="117813"/>
              </a:lnSpc>
              <a:buNone/>
            </a:pPr>
            <a:r>
              <a:rPr lang="en-US" sz="1088" dirty="0">
                <a:solidFill>
                  <a:srgbClr val="1B1B1B"/>
                </a:solidFill>
                <a:latin typeface="Arial" pitchFamily="34" charset="0"/>
                <a:ea typeface="Arial" pitchFamily="34" charset="-122"/>
                <a:cs typeface="Arial" pitchFamily="34" charset="-120"/>
              </a:rPr>
              <a:t>No baseline, and the leading indicators are activity, not signal.</a:t>
            </a:r>
            <a:endParaRPr lang="en-US" sz="1088" dirty="0"/>
          </a:p>
        </p:txBody>
      </p:sp>
      <p:sp>
        <p:nvSpPr>
          <p:cNvPr id="42" name="Shape 40"/>
          <p:cNvSpPr/>
          <p:nvPr/>
        </p:nvSpPr>
        <p:spPr>
          <a:xfrm>
            <a:off x="9939338" y="5890766"/>
            <a:ext cx="3800475" cy="885825"/>
          </a:xfrm>
          <a:prstGeom prst="roundRect">
            <a:avLst>
              <a:gd name="adj" fmla="val 9677"/>
            </a:avLst>
          </a:prstGeom>
          <a:ln w="19050">
            <a:solidFill>
              <a:srgbClr val="1B1B1B"/>
            </a:solidFill>
            <a:prstDash val="solid"/>
          </a:ln>
        </p:spPr>
      </p:sp>
      <p:sp>
        <p:nvSpPr>
          <p:cNvPr id="43" name="Text 41"/>
          <p:cNvSpPr/>
          <p:nvPr/>
        </p:nvSpPr>
        <p:spPr>
          <a:xfrm>
            <a:off x="11165979" y="6062216"/>
            <a:ext cx="1423392" cy="295275"/>
          </a:xfrm>
          <a:prstGeom prst="rect">
            <a:avLst/>
          </a:prstGeom>
          <a:noFill/>
          <a:ln/>
        </p:spPr>
        <p:txBody>
          <a:bodyPr wrap="square" lIns="0" tIns="0" rIns="0" bIns="0" rtlCol="0" anchor="t">
            <a:normAutofit/>
          </a:bodyPr>
          <a:lstStyle/>
          <a:p>
            <a:pPr algn="ctr" indent="0" marL="0">
              <a:buNone/>
            </a:pPr>
            <a:r>
              <a:rPr lang="en-US" sz="1200" dirty="0">
                <a:solidFill>
                  <a:srgbClr val="1B1B1B"/>
                </a:solidFill>
                <a:latin typeface="Arial" pitchFamily="34" charset="0"/>
                <a:ea typeface="Arial" pitchFamily="34" charset="-122"/>
                <a:cs typeface="Arial" pitchFamily="34" charset="-120"/>
              </a:rPr>
              <a:t>Keep refining</a:t>
            </a:r>
            <a:endParaRPr lang="en-US" sz="1200" dirty="0"/>
          </a:p>
        </p:txBody>
      </p:sp>
      <p:sp>
        <p:nvSpPr>
          <p:cNvPr id="44" name="Text 42"/>
          <p:cNvSpPr/>
          <p:nvPr/>
        </p:nvSpPr>
        <p:spPr>
          <a:xfrm>
            <a:off x="10880229" y="6386066"/>
            <a:ext cx="1918692" cy="257175"/>
          </a:xfrm>
          <a:prstGeom prst="rect">
            <a:avLst/>
          </a:prstGeom>
          <a:noFill/>
          <a:ln/>
        </p:spPr>
        <p:txBody>
          <a:bodyPr wrap="square" lIns="25400" tIns="25400" rIns="25400" bIns="25400" rtlCol="0" anchor="t">
            <a:normAutofit/>
          </a:bodyPr>
          <a:lstStyle/>
          <a:p>
            <a:pPr algn="ctr" indent="0" marL="0">
              <a:buNone/>
            </a:pPr>
            <a:r>
              <a:rPr lang="en-US" sz="1000" dirty="0">
                <a:solidFill>
                  <a:srgbClr val="1B1B1B">
                    <a:alpha val="60000"/>
                  </a:srgbClr>
                </a:solidFill>
                <a:latin typeface="Arial" pitchFamily="34" charset="0"/>
                <a:ea typeface="Arial" pitchFamily="34" charset="-122"/>
                <a:cs typeface="Arial" pitchFamily="34" charset="-120"/>
              </a:rPr>
              <a:t>leading indicators first</a:t>
            </a:r>
            <a:endParaRPr lang="en-US" sz="1000" dirty="0"/>
          </a:p>
        </p:txBody>
      </p:sp>
      <p:sp>
        <p:nvSpPr>
          <p:cNvPr id="45" name="Shape 43"/>
          <p:cNvSpPr/>
          <p:nvPr/>
        </p:nvSpPr>
        <p:spPr>
          <a:xfrm>
            <a:off x="9939338" y="6905179"/>
            <a:ext cx="3800475" cy="885825"/>
          </a:xfrm>
          <a:prstGeom prst="roundRect">
            <a:avLst>
              <a:gd name="adj" fmla="val 9677"/>
            </a:avLst>
          </a:prstGeom>
          <a:ln w="19050">
            <a:solidFill>
              <a:srgbClr val="1B1B1B"/>
            </a:solidFill>
            <a:prstDash val="solid"/>
          </a:ln>
        </p:spPr>
      </p:sp>
      <p:sp>
        <p:nvSpPr>
          <p:cNvPr id="46" name="Text 44"/>
          <p:cNvSpPr/>
          <p:nvPr/>
        </p:nvSpPr>
        <p:spPr>
          <a:xfrm>
            <a:off x="10174635" y="7076629"/>
            <a:ext cx="3429624" cy="295275"/>
          </a:xfrm>
          <a:prstGeom prst="rect">
            <a:avLst/>
          </a:prstGeom>
          <a:noFill/>
          <a:ln/>
        </p:spPr>
        <p:txBody>
          <a:bodyPr wrap="square" lIns="0" tIns="0" rIns="0" bIns="0" rtlCol="0" anchor="t">
            <a:normAutofit/>
          </a:bodyPr>
          <a:lstStyle/>
          <a:p>
            <a:pPr algn="ctr" indent="0" marL="0">
              <a:buNone/>
            </a:pPr>
            <a:r>
              <a:rPr lang="en-US" sz="1200" dirty="0">
                <a:solidFill>
                  <a:srgbClr val="1B1B1B"/>
                </a:solidFill>
                <a:latin typeface="Arial" pitchFamily="34" charset="0"/>
                <a:ea typeface="Arial" pitchFamily="34" charset="-122"/>
                <a:cs typeface="Arial" pitchFamily="34" charset="-120"/>
              </a:rPr>
              <a:t>Stop here — this is good enough</a:t>
            </a:r>
            <a:endParaRPr lang="en-US" sz="1200" dirty="0"/>
          </a:p>
        </p:txBody>
      </p:sp>
      <p:sp>
        <p:nvSpPr>
          <p:cNvPr id="47" name="Text 45"/>
          <p:cNvSpPr/>
          <p:nvPr/>
        </p:nvSpPr>
        <p:spPr>
          <a:xfrm>
            <a:off x="11113145" y="7400479"/>
            <a:ext cx="1452860" cy="257175"/>
          </a:xfrm>
          <a:prstGeom prst="rect">
            <a:avLst/>
          </a:prstGeom>
          <a:noFill/>
          <a:ln/>
        </p:spPr>
        <p:txBody>
          <a:bodyPr wrap="square" lIns="25400" tIns="25400" rIns="25400" bIns="25400" rtlCol="0" anchor="t">
            <a:normAutofit/>
          </a:bodyPr>
          <a:lstStyle/>
          <a:p>
            <a:pPr algn="ctr" indent="0" marL="0">
              <a:buNone/>
            </a:pPr>
            <a:r>
              <a:rPr lang="en-US" sz="1000" dirty="0">
                <a:solidFill>
                  <a:srgbClr val="1B1B1B">
                    <a:alpha val="60000"/>
                  </a:srgbClr>
                </a:solidFill>
                <a:latin typeface="Arial" pitchFamily="34" charset="0"/>
                <a:ea typeface="Arial" pitchFamily="34" charset="-122"/>
                <a:cs typeface="Arial" pitchFamily="34" charset="-120"/>
              </a:rPr>
              <a:t>better than most</a:t>
            </a:r>
            <a:endParaRPr lang="en-US" sz="1000" dirty="0"/>
          </a:p>
        </p:txBody>
      </p:sp>
      <p:sp>
        <p:nvSpPr>
          <p:cNvPr id="48" name="Shape 46"/>
          <p:cNvSpPr/>
          <p:nvPr/>
        </p:nvSpPr>
        <p:spPr>
          <a:xfrm>
            <a:off x="9939338" y="7919591"/>
            <a:ext cx="3800475" cy="885825"/>
          </a:xfrm>
          <a:prstGeom prst="roundRect">
            <a:avLst>
              <a:gd name="adj" fmla="val 9677"/>
            </a:avLst>
          </a:prstGeom>
          <a:solidFill>
            <a:srgbClr val="FFE4A8"/>
          </a:solidFill>
          <a:ln w="19050">
            <a:solidFill>
              <a:srgbClr val="1B1B1B"/>
            </a:solidFill>
            <a:prstDash val="solid"/>
          </a:ln>
        </p:spPr>
      </p:sp>
      <p:sp>
        <p:nvSpPr>
          <p:cNvPr id="49" name="Text 47"/>
          <p:cNvSpPr/>
          <p:nvPr/>
        </p:nvSpPr>
        <p:spPr>
          <a:xfrm>
            <a:off x="10587782" y="8091041"/>
            <a:ext cx="2579638" cy="295275"/>
          </a:xfrm>
          <a:prstGeom prst="rect">
            <a:avLst/>
          </a:prstGeom>
          <a:noFill/>
          <a:ln/>
        </p:spPr>
        <p:txBody>
          <a:bodyPr wrap="square" lIns="0" tIns="0" rIns="0" bIns="0" rtlCol="0" anchor="t">
            <a:normAutofit/>
          </a:bodyPr>
          <a:lstStyle/>
          <a:p>
            <a:pPr algn="ctr" indent="0" marL="0">
              <a:buNone/>
            </a:pPr>
            <a:r>
              <a:rPr lang="en-US" sz="1200" dirty="0">
                <a:solidFill>
                  <a:srgbClr val="1B1B1B"/>
                </a:solidFill>
                <a:latin typeface="Arial" pitchFamily="34" charset="0"/>
                <a:ea typeface="Arial" pitchFamily="34" charset="-122"/>
                <a:cs typeface="Arial" pitchFamily="34" charset="-120"/>
              </a:rPr>
              <a:t>Take the questions away</a:t>
            </a:r>
            <a:endParaRPr lang="en-US" sz="1200" dirty="0"/>
          </a:p>
        </p:txBody>
      </p:sp>
      <p:sp>
        <p:nvSpPr>
          <p:cNvPr id="50" name="Text 48"/>
          <p:cNvSpPr/>
          <p:nvPr/>
        </p:nvSpPr>
        <p:spPr>
          <a:xfrm>
            <a:off x="10872639" y="8414891"/>
            <a:ext cx="1933724" cy="257175"/>
          </a:xfrm>
          <a:prstGeom prst="rect">
            <a:avLst/>
          </a:prstGeom>
          <a:noFill/>
          <a:ln/>
        </p:spPr>
        <p:txBody>
          <a:bodyPr wrap="square" lIns="25400" tIns="25400" rIns="25400" bIns="25400" rtlCol="0" anchor="t">
            <a:normAutofit/>
          </a:bodyPr>
          <a:lstStyle/>
          <a:p>
            <a:pPr algn="ctr" indent="0" marL="0">
              <a:buNone/>
            </a:pPr>
            <a:r>
              <a:rPr lang="en-US" sz="1000" dirty="0">
                <a:solidFill>
                  <a:srgbClr val="1B1B1B">
                    <a:alpha val="60000"/>
                  </a:srgbClr>
                </a:solidFill>
                <a:latin typeface="Arial" pitchFamily="34" charset="0"/>
                <a:ea typeface="Arial" pitchFamily="34" charset="-122"/>
                <a:cs typeface="Arial" pitchFamily="34" charset="-120"/>
              </a:rPr>
              <a:t>two aren't in this room</a:t>
            </a:r>
            <a:endParaRPr lang="en-US" sz="1000" dirty="0"/>
          </a:p>
        </p:txBody>
      </p:sp>
      <p:sp>
        <p:nvSpPr>
          <p:cNvPr id="51" name="Text 49"/>
          <p:cNvSpPr/>
          <p:nvPr/>
        </p:nvSpPr>
        <p:spPr>
          <a:xfrm>
            <a:off x="14335125" y="5167313"/>
            <a:ext cx="3443573" cy="847725"/>
          </a:xfrm>
          <a:prstGeom prst="rect">
            <a:avLst/>
          </a:prstGeom>
          <a:noFill/>
          <a:ln/>
        </p:spPr>
        <p:txBody>
          <a:bodyPr wrap="square" lIns="25400" tIns="25400" rIns="25400" bIns="25400" rtlCol="0" anchor="t">
            <a:normAutofit/>
          </a:bodyPr>
          <a:lstStyle/>
          <a:p>
            <a:pPr algn="l" indent="0" marL="0">
              <a:lnSpc>
                <a:spcPct val="108974"/>
              </a:lnSpc>
              <a:buNone/>
            </a:pPr>
            <a:r>
              <a:rPr lang="en-US" sz="2550" dirty="0">
                <a:solidFill>
                  <a:srgbClr val="1B1B1B"/>
                </a:solidFill>
                <a:latin typeface="Arial" pitchFamily="34" charset="0"/>
                <a:ea typeface="Arial" pitchFamily="34" charset="-122"/>
                <a:cs typeface="Arial" pitchFamily="34" charset="-120"/>
              </a:rPr>
              <a:t>what's sharp, what's open, then the doors</a:t>
            </a:r>
            <a:endParaRPr lang="en-US" sz="2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FECE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FECE6"/>
          </a:solidFill>
          <a:ln/>
        </p:spPr>
      </p:sp>
      <p:sp>
        <p:nvSpPr>
          <p:cNvPr id="3" name="Shape 1"/>
          <p:cNvSpPr/>
          <p:nvPr/>
        </p:nvSpPr>
        <p:spPr>
          <a:xfrm>
            <a:off x="609600" y="1104900"/>
            <a:ext cx="17068800" cy="19050"/>
          </a:xfrm>
          <a:prstGeom prst="rect">
            <a:avLst/>
          </a:prstGeom>
          <a:solidFill>
            <a:srgbClr val="1B1B1B"/>
          </a:solidFill>
          <a:ln/>
        </p:spPr>
      </p:sp>
      <p:sp>
        <p:nvSpPr>
          <p:cNvPr id="4" name="Shape 2"/>
          <p:cNvSpPr/>
          <p:nvPr/>
        </p:nvSpPr>
        <p:spPr>
          <a:xfrm>
            <a:off x="609600" y="590550"/>
            <a:ext cx="459135" cy="381000"/>
          </a:xfrm>
          <a:prstGeom prst="roundRect">
            <a:avLst>
              <a:gd name="adj" fmla="val 17500"/>
            </a:avLst>
          </a:prstGeom>
          <a:solidFill>
            <a:srgbClr val="1B1B1B"/>
          </a:solidFill>
          <a:ln/>
        </p:spPr>
      </p:sp>
      <p:sp>
        <p:nvSpPr>
          <p:cNvPr id="5" name="Text 3"/>
          <p:cNvSpPr/>
          <p:nvPr/>
        </p:nvSpPr>
        <p:spPr>
          <a:xfrm>
            <a:off x="723900" y="676275"/>
            <a:ext cx="306735" cy="247650"/>
          </a:xfrm>
          <a:prstGeom prst="rect">
            <a:avLst/>
          </a:prstGeom>
          <a:noFill/>
          <a:ln/>
        </p:spPr>
        <p:txBody>
          <a:bodyPr wrap="square" lIns="25400" tIns="25400" rIns="25400" bIns="25400" rtlCol="0" anchor="t">
            <a:normAutofit/>
          </a:bodyPr>
          <a:lstStyle/>
          <a:p>
            <a:pPr algn="l" indent="0" marL="0">
              <a:lnSpc>
                <a:spcPct val="88000"/>
              </a:lnSpc>
              <a:buNone/>
            </a:pPr>
            <a:r>
              <a:rPr lang="en-US" sz="1650" b="1" dirty="0">
                <a:solidFill>
                  <a:srgbClr val="FFFFFF"/>
                </a:solidFill>
                <a:latin typeface="Courier New" pitchFamily="34" charset="0"/>
                <a:ea typeface="Courier New" pitchFamily="34" charset="-122"/>
                <a:cs typeface="Courier New" pitchFamily="34" charset="-120"/>
              </a:rPr>
              <a:t>13</a:t>
            </a:r>
            <a:endParaRPr lang="en-US" sz="1650" dirty="0"/>
          </a:p>
        </p:txBody>
      </p:sp>
      <p:sp>
        <p:nvSpPr>
          <p:cNvPr id="6" name="Text 4"/>
          <p:cNvSpPr/>
          <p:nvPr/>
        </p:nvSpPr>
        <p:spPr>
          <a:xfrm>
            <a:off x="1221135" y="504825"/>
            <a:ext cx="2554039" cy="457200"/>
          </a:xfrm>
          <a:prstGeom prst="rect">
            <a:avLst/>
          </a:prstGeom>
          <a:noFill/>
          <a:ln/>
        </p:spPr>
        <p:txBody>
          <a:bodyPr wrap="square" lIns="0" tIns="0" rIns="0" bIns="0" rtlCol="0" anchor="t">
            <a:normAutofit/>
          </a:bodyPr>
          <a:lstStyle/>
          <a:p>
            <a:pPr algn="l" indent="0" marL="0">
              <a:lnSpc>
                <a:spcPct val="102222"/>
              </a:lnSpc>
              <a:buNone/>
            </a:pPr>
            <a:r>
              <a:rPr lang="en-US" sz="3000" b="1" dirty="0">
                <a:solidFill>
                  <a:srgbClr val="1B1B1B"/>
                </a:solidFill>
                <a:latin typeface="Helvetica" pitchFamily="34" charset="0"/>
                <a:ea typeface="Helvetica" pitchFamily="34" charset="-122"/>
                <a:cs typeface="Helvetica" pitchFamily="34" charset="-120"/>
              </a:rPr>
              <a:t>The takeaway</a:t>
            </a:r>
            <a:endParaRPr lang="en-US" sz="3000" dirty="0"/>
          </a:p>
        </p:txBody>
      </p:sp>
      <p:sp>
        <p:nvSpPr>
          <p:cNvPr id="7" name="Text 5"/>
          <p:cNvSpPr/>
          <p:nvPr/>
        </p:nvSpPr>
        <p:spPr>
          <a:xfrm>
            <a:off x="16811774" y="695325"/>
            <a:ext cx="942826" cy="228600"/>
          </a:xfrm>
          <a:prstGeom prst="rect">
            <a:avLst/>
          </a:prstGeom>
          <a:noFill/>
          <a:ln/>
        </p:spPr>
        <p:txBody>
          <a:bodyPr wrap="none" lIns="25400" tIns="25400" rIns="25400" bIns="25400" rtlCol="0" anchor="t">
            <a:normAutofit/>
          </a:bodyPr>
          <a:lstStyle/>
          <a:p>
            <a:pPr algn="l" indent="0" marL="0">
              <a:lnSpc>
                <a:spcPct val="86957"/>
              </a:lnSpc>
              <a:buNone/>
            </a:pPr>
            <a:r>
              <a:rPr lang="en-US" sz="1500" b="1" spc="150" kern="0" dirty="0">
                <a:solidFill>
                  <a:srgbClr val="8A8479"/>
                </a:solidFill>
                <a:latin typeface="Courier New" pitchFamily="34" charset="0"/>
                <a:ea typeface="Courier New" pitchFamily="34" charset="-122"/>
                <a:cs typeface="Courier New" pitchFamily="34" charset="-120"/>
              </a:rPr>
              <a:t>LEAVING</a:t>
            </a:r>
            <a:endParaRPr lang="en-US" sz="1500" dirty="0"/>
          </a:p>
        </p:txBody>
      </p:sp>
      <p:sp>
        <p:nvSpPr>
          <p:cNvPr id="8" name="Text 6"/>
          <p:cNvSpPr/>
          <p:nvPr/>
        </p:nvSpPr>
        <p:spPr>
          <a:xfrm>
            <a:off x="609600" y="2393007"/>
            <a:ext cx="9123998" cy="219075"/>
          </a:xfrm>
          <a:prstGeom prst="rect">
            <a:avLst/>
          </a:prstGeom>
          <a:noFill/>
          <a:ln/>
        </p:spPr>
        <p:txBody>
          <a:bodyPr wrap="square" lIns="25400" tIns="25400" rIns="25400" bIns="25400" rtlCol="0" anchor="t">
            <a:normAutofit/>
          </a:bodyPr>
          <a:lstStyle/>
          <a:p>
            <a:pPr algn="l" indent="0" marL="0">
              <a:buNone/>
            </a:pPr>
            <a:r>
              <a:rPr lang="en-US" sz="825" b="1" spc="66" kern="0" dirty="0">
                <a:solidFill>
                  <a:srgbClr val="1B1B1B">
                    <a:alpha val="50000"/>
                  </a:srgbClr>
                </a:solidFill>
                <a:latin typeface="Courier New" pitchFamily="34" charset="0"/>
                <a:ea typeface="Courier New" pitchFamily="34" charset="-122"/>
                <a:cs typeface="Courier New" pitchFamily="34" charset="-120"/>
              </a:rPr>
              <a:t>DESKTOP</a:t>
            </a:r>
            <a:endParaRPr lang="en-US" sz="825" dirty="0"/>
          </a:p>
        </p:txBody>
      </p:sp>
      <p:sp>
        <p:nvSpPr>
          <p:cNvPr id="9" name="Shape 7"/>
          <p:cNvSpPr/>
          <p:nvPr/>
        </p:nvSpPr>
        <p:spPr>
          <a:xfrm>
            <a:off x="609600" y="2688282"/>
            <a:ext cx="8858250" cy="4947940"/>
          </a:xfrm>
          <a:prstGeom prst="roundRect">
            <a:avLst>
              <a:gd name="adj" fmla="val 2310"/>
            </a:avLst>
          </a:prstGeom>
          <a:solidFill>
            <a:srgbClr val="FFFFFF"/>
          </a:solidFill>
          <a:ln w="19050">
            <a:solidFill>
              <a:srgbClr val="1B1B1B"/>
            </a:solidFill>
            <a:prstDash val="solid"/>
          </a:ln>
        </p:spPr>
      </p:sp>
      <p:sp>
        <p:nvSpPr>
          <p:cNvPr id="10" name="Text 8"/>
          <p:cNvSpPr/>
          <p:nvPr/>
        </p:nvSpPr>
        <p:spPr>
          <a:xfrm>
            <a:off x="823913" y="2902595"/>
            <a:ext cx="4635579" cy="770037"/>
          </a:xfrm>
          <a:prstGeom prst="rect">
            <a:avLst/>
          </a:prstGeom>
          <a:noFill/>
          <a:ln/>
        </p:spPr>
        <p:txBody>
          <a:bodyPr wrap="square" lIns="25400" tIns="25400" rIns="25400" bIns="25400" rtlCol="0" anchor="t">
            <a:normAutofit/>
          </a:bodyPr>
          <a:lstStyle/>
          <a:p>
            <a:pPr algn="l" indent="0" marL="0">
              <a:lnSpc>
                <a:spcPct val="106750"/>
              </a:lnSpc>
              <a:buNone/>
            </a:pPr>
            <a:r>
              <a:rPr lang="en-US" sz="1575" dirty="0">
                <a:solidFill>
                  <a:srgbClr val="1B1B1B"/>
                </a:solidFill>
                <a:latin typeface="Arial" pitchFamily="34" charset="0"/>
                <a:ea typeface="Arial" pitchFamily="34" charset="-122"/>
                <a:cs typeface="Arial" pitchFamily="34" charset="-120"/>
              </a:rPr>
              <a:t>Take this now — I don't keep a copy.</a:t>
            </a:r>
            <a:endParaRPr lang="en-US" sz="1575" dirty="0"/>
          </a:p>
        </p:txBody>
      </p:sp>
      <p:sp>
        <p:nvSpPr>
          <p:cNvPr id="11" name="Text 9"/>
          <p:cNvSpPr/>
          <p:nvPr/>
        </p:nvSpPr>
        <p:spPr>
          <a:xfrm>
            <a:off x="5522119" y="3016895"/>
            <a:ext cx="3843361"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no account · no database · closing the tab ends it</a:t>
            </a:r>
            <a:endParaRPr lang="en-US" sz="713" dirty="0"/>
          </a:p>
        </p:txBody>
      </p:sp>
      <p:sp>
        <p:nvSpPr>
          <p:cNvPr id="12" name="Shape 10"/>
          <p:cNvSpPr/>
          <p:nvPr/>
        </p:nvSpPr>
        <p:spPr>
          <a:xfrm>
            <a:off x="823913" y="3777407"/>
            <a:ext cx="2952750" cy="2536031"/>
          </a:xfrm>
          <a:prstGeom prst="roundRect">
            <a:avLst>
              <a:gd name="adj" fmla="val 3380"/>
            </a:avLst>
          </a:prstGeom>
          <a:ln w="12700">
            <a:solidFill>
              <a:srgbClr val="B3AEA6"/>
            </a:solidFill>
            <a:prstDash val="dash"/>
          </a:ln>
        </p:spPr>
      </p:sp>
      <p:sp>
        <p:nvSpPr>
          <p:cNvPr id="13" name="Text 11"/>
          <p:cNvSpPr/>
          <p:nvPr/>
        </p:nvSpPr>
        <p:spPr>
          <a:xfrm>
            <a:off x="985838" y="3939332"/>
            <a:ext cx="2707767" cy="180975"/>
          </a:xfrm>
          <a:prstGeom prst="rect">
            <a:avLst/>
          </a:prstGeom>
          <a:noFill/>
          <a:ln/>
        </p:spPr>
        <p:txBody>
          <a:bodyPr wrap="square" lIns="25400" tIns="25400" rIns="25400" bIns="25400" rtlCol="0" anchor="t">
            <a:normAutofit/>
          </a:bodyPr>
          <a:lstStyle/>
          <a:p>
            <a:pPr algn="l" indent="0" marL="0">
              <a:buNone/>
            </a:pPr>
            <a:r>
              <a:rPr lang="en-US" sz="638" b="1" spc="38" kern="0" dirty="0">
                <a:solidFill>
                  <a:srgbClr val="8A8479"/>
                </a:solidFill>
                <a:latin typeface="Courier New" pitchFamily="34" charset="0"/>
                <a:ea typeface="Courier New" pitchFamily="34" charset="-122"/>
                <a:cs typeface="Courier New" pitchFamily="34" charset="-120"/>
              </a:rPr>
              <a:t>1 · THE GOAL, SSH PATTERN</a:t>
            </a:r>
            <a:endParaRPr lang="en-US" sz="638" dirty="0"/>
          </a:p>
        </p:txBody>
      </p:sp>
      <p:sp>
        <p:nvSpPr>
          <p:cNvPr id="14" name="Text 12"/>
          <p:cNvSpPr/>
          <p:nvPr/>
        </p:nvSpPr>
        <p:spPr>
          <a:xfrm>
            <a:off x="985838" y="4167932"/>
            <a:ext cx="2707767"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objective — an outcome hypothesis</a:t>
            </a:r>
            <a:endParaRPr lang="en-US" sz="713" dirty="0"/>
          </a:p>
        </p:txBody>
      </p:sp>
      <p:sp>
        <p:nvSpPr>
          <p:cNvPr id="15" name="Shape 13"/>
          <p:cNvSpPr/>
          <p:nvPr/>
        </p:nvSpPr>
        <p:spPr>
          <a:xfrm>
            <a:off x="985838" y="4500116"/>
            <a:ext cx="2628900" cy="100013"/>
          </a:xfrm>
          <a:prstGeom prst="roundRect">
            <a:avLst>
              <a:gd name="adj" fmla="val 38095"/>
            </a:avLst>
          </a:prstGeom>
          <a:solidFill>
            <a:srgbClr val="DAD7D1"/>
          </a:solidFill>
          <a:ln/>
        </p:spPr>
      </p:sp>
      <p:sp>
        <p:nvSpPr>
          <p:cNvPr id="16" name="Shape 14"/>
          <p:cNvSpPr/>
          <p:nvPr/>
        </p:nvSpPr>
        <p:spPr>
          <a:xfrm>
            <a:off x="985838" y="4728716"/>
            <a:ext cx="1892796" cy="100013"/>
          </a:xfrm>
          <a:prstGeom prst="roundRect">
            <a:avLst>
              <a:gd name="adj" fmla="val 38095"/>
            </a:avLst>
          </a:prstGeom>
          <a:solidFill>
            <a:srgbClr val="DAD7D1"/>
          </a:solidFill>
          <a:ln/>
        </p:spPr>
      </p:sp>
      <p:sp>
        <p:nvSpPr>
          <p:cNvPr id="17" name="Text 15"/>
          <p:cNvSpPr/>
          <p:nvPr/>
        </p:nvSpPr>
        <p:spPr>
          <a:xfrm>
            <a:off x="985838" y="4957316"/>
            <a:ext cx="2707767" cy="445294"/>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4 key results · 3 leading, 1 lagging</a:t>
            </a:r>
            <a:endParaRPr lang="en-US" sz="713" dirty="0"/>
          </a:p>
        </p:txBody>
      </p:sp>
      <p:sp>
        <p:nvSpPr>
          <p:cNvPr id="18" name="Shape 16"/>
          <p:cNvSpPr/>
          <p:nvPr/>
        </p:nvSpPr>
        <p:spPr>
          <a:xfrm>
            <a:off x="985838" y="5493097"/>
            <a:ext cx="2628900" cy="100013"/>
          </a:xfrm>
          <a:prstGeom prst="roundRect">
            <a:avLst>
              <a:gd name="adj" fmla="val 38095"/>
            </a:avLst>
          </a:prstGeom>
          <a:solidFill>
            <a:srgbClr val="DAD7D1"/>
          </a:solidFill>
          <a:ln/>
        </p:spPr>
      </p:sp>
      <p:sp>
        <p:nvSpPr>
          <p:cNvPr id="19" name="Shape 17"/>
          <p:cNvSpPr/>
          <p:nvPr/>
        </p:nvSpPr>
        <p:spPr>
          <a:xfrm>
            <a:off x="985838" y="5721697"/>
            <a:ext cx="1577280" cy="100013"/>
          </a:xfrm>
          <a:prstGeom prst="roundRect">
            <a:avLst>
              <a:gd name="adj" fmla="val 38095"/>
            </a:avLst>
          </a:prstGeom>
          <a:solidFill>
            <a:srgbClr val="DAD7D1"/>
          </a:solidFill>
          <a:ln/>
        </p:spPr>
      </p:sp>
      <p:sp>
        <p:nvSpPr>
          <p:cNvPr id="20" name="Shape 18"/>
          <p:cNvSpPr/>
          <p:nvPr/>
        </p:nvSpPr>
        <p:spPr>
          <a:xfrm>
            <a:off x="985838" y="5950297"/>
            <a:ext cx="2155627" cy="100013"/>
          </a:xfrm>
          <a:prstGeom prst="roundRect">
            <a:avLst>
              <a:gd name="adj" fmla="val 38095"/>
            </a:avLst>
          </a:prstGeom>
          <a:solidFill>
            <a:srgbClr val="DAD7D1"/>
          </a:solidFill>
          <a:ln/>
        </p:spPr>
      </p:sp>
      <p:sp>
        <p:nvSpPr>
          <p:cNvPr id="21" name="Shape 19"/>
          <p:cNvSpPr/>
          <p:nvPr/>
        </p:nvSpPr>
        <p:spPr>
          <a:xfrm>
            <a:off x="3905250" y="3777407"/>
            <a:ext cx="2609850" cy="2536031"/>
          </a:xfrm>
          <a:prstGeom prst="roundRect">
            <a:avLst>
              <a:gd name="adj" fmla="val 3380"/>
            </a:avLst>
          </a:prstGeom>
          <a:ln w="12700">
            <a:solidFill>
              <a:srgbClr val="B3AEA6"/>
            </a:solidFill>
            <a:prstDash val="dash"/>
          </a:ln>
        </p:spPr>
      </p:sp>
      <p:sp>
        <p:nvSpPr>
          <p:cNvPr id="22" name="Text 20"/>
          <p:cNvSpPr/>
          <p:nvPr/>
        </p:nvSpPr>
        <p:spPr>
          <a:xfrm>
            <a:off x="4067175" y="3939332"/>
            <a:ext cx="2362200" cy="180975"/>
          </a:xfrm>
          <a:prstGeom prst="rect">
            <a:avLst/>
          </a:prstGeom>
          <a:noFill/>
          <a:ln/>
        </p:spPr>
        <p:txBody>
          <a:bodyPr wrap="square" lIns="25400" tIns="25400" rIns="25400" bIns="25400" rtlCol="0" anchor="t">
            <a:normAutofit/>
          </a:bodyPr>
          <a:lstStyle/>
          <a:p>
            <a:pPr algn="l" indent="0" marL="0">
              <a:buNone/>
            </a:pPr>
            <a:r>
              <a:rPr lang="en-US" sz="638" b="1" spc="38" kern="0" dirty="0">
                <a:solidFill>
                  <a:srgbClr val="8A8479"/>
                </a:solidFill>
                <a:latin typeface="Courier New" pitchFamily="34" charset="0"/>
                <a:ea typeface="Courier New" pitchFamily="34" charset="-122"/>
                <a:cs typeface="Courier New" pitchFamily="34" charset="-120"/>
              </a:rPr>
              <a:t>2 · THE CANVAS, GAPS AND ALL</a:t>
            </a:r>
            <a:endParaRPr lang="en-US" sz="638" dirty="0"/>
          </a:p>
        </p:txBody>
      </p:sp>
      <p:sp>
        <p:nvSpPr>
          <p:cNvPr id="23" name="Shape 21"/>
          <p:cNvSpPr/>
          <p:nvPr/>
        </p:nvSpPr>
        <p:spPr>
          <a:xfrm>
            <a:off x="4067175" y="4167932"/>
            <a:ext cx="1114425" cy="560784"/>
          </a:xfrm>
          <a:prstGeom prst="roundRect">
            <a:avLst>
              <a:gd name="adj" fmla="val 13588"/>
            </a:avLst>
          </a:prstGeom>
          <a:ln w="12700">
            <a:solidFill>
              <a:srgbClr val="C3BEB5"/>
            </a:solidFill>
            <a:prstDash val="solid"/>
          </a:ln>
        </p:spPr>
      </p:sp>
      <p:sp>
        <p:nvSpPr>
          <p:cNvPr id="24" name="Shape 22"/>
          <p:cNvSpPr/>
          <p:nvPr/>
        </p:nvSpPr>
        <p:spPr>
          <a:xfrm>
            <a:off x="4143375" y="4244132"/>
            <a:ext cx="962025" cy="408384"/>
          </a:xfrm>
          <a:prstGeom prst="roundRect">
            <a:avLst>
              <a:gd name="adj" fmla="val 4665"/>
            </a:avLst>
          </a:prstGeom>
          <a:solidFill>
            <a:srgbClr val="FFF6BF"/>
          </a:solidFill>
          <a:ln w="6350">
            <a:solidFill>
              <a:srgbClr val="E3D489"/>
            </a:solidFill>
            <a:prstDash val="solid"/>
          </a:ln>
          <a:effectLst>
            <a:outerShdw sx="100000" sy="100000" kx="0" ky="0" algn="bl" rotWithShape="0" blurRad="101600" dist="13470" dir="2700000">
              <a:srgbClr val="000000">
                <a:alpha val="8000"/>
              </a:srgbClr>
            </a:outerShdw>
          </a:effectLst>
        </p:spPr>
      </p:sp>
      <p:sp>
        <p:nvSpPr>
          <p:cNvPr id="25" name="Text 23"/>
          <p:cNvSpPr/>
          <p:nvPr/>
        </p:nvSpPr>
        <p:spPr>
          <a:xfrm>
            <a:off x="4187825" y="4279057"/>
            <a:ext cx="949325" cy="376634"/>
          </a:xfrm>
          <a:prstGeom prst="rect">
            <a:avLst/>
          </a:prstGeom>
          <a:noFill/>
          <a:ln/>
        </p:spPr>
        <p:txBody>
          <a:bodyPr wrap="square" lIns="25400" tIns="25400" rIns="25400" bIns="25400" rtlCol="0" anchor="t">
            <a:normAutofit/>
          </a:bodyPr>
          <a:lstStyle/>
          <a:p>
            <a:pPr algn="l" indent="0" marL="0">
              <a:lnSpc>
                <a:spcPct val="106250"/>
              </a:lnSpc>
              <a:buNone/>
            </a:pPr>
            <a:r>
              <a:rPr lang="en-US" sz="638" dirty="0">
                <a:solidFill>
                  <a:srgbClr val="2B2620"/>
                </a:solidFill>
                <a:latin typeface="Arial" pitchFamily="34" charset="0"/>
                <a:ea typeface="Arial" pitchFamily="34" charset="-122"/>
                <a:cs typeface="Arial" pitchFamily="34" charset="-120"/>
              </a:rPr>
              <a:t>3 hr night counts</a:t>
            </a:r>
            <a:endParaRPr lang="en-US" sz="638" dirty="0"/>
          </a:p>
        </p:txBody>
      </p:sp>
      <p:sp>
        <p:nvSpPr>
          <p:cNvPr id="26" name="Shape 24"/>
          <p:cNvSpPr/>
          <p:nvPr/>
        </p:nvSpPr>
        <p:spPr>
          <a:xfrm>
            <a:off x="5238750" y="4167932"/>
            <a:ext cx="1114425" cy="560784"/>
          </a:xfrm>
          <a:prstGeom prst="roundRect">
            <a:avLst>
              <a:gd name="adj" fmla="val 13588"/>
            </a:avLst>
          </a:prstGeom>
          <a:ln w="12700">
            <a:solidFill>
              <a:srgbClr val="C3BEB5"/>
            </a:solidFill>
            <a:prstDash val="solid"/>
          </a:ln>
        </p:spPr>
      </p:sp>
      <p:sp>
        <p:nvSpPr>
          <p:cNvPr id="27" name="Shape 25"/>
          <p:cNvSpPr/>
          <p:nvPr/>
        </p:nvSpPr>
        <p:spPr>
          <a:xfrm>
            <a:off x="5314950" y="4244132"/>
            <a:ext cx="962025" cy="408384"/>
          </a:xfrm>
          <a:prstGeom prst="roundRect">
            <a:avLst>
              <a:gd name="adj" fmla="val 4665"/>
            </a:avLst>
          </a:prstGeom>
          <a:solidFill>
            <a:srgbClr val="FFF6BF"/>
          </a:solidFill>
          <a:ln w="6350">
            <a:solidFill>
              <a:srgbClr val="E3D489"/>
            </a:solidFill>
            <a:prstDash val="solid"/>
          </a:ln>
          <a:effectLst>
            <a:outerShdw sx="100000" sy="100000" kx="0" ky="0" algn="bl" rotWithShape="0" blurRad="101600" dist="13470" dir="2700000">
              <a:srgbClr val="000000">
                <a:alpha val="8000"/>
              </a:srgbClr>
            </a:outerShdw>
          </a:effectLst>
        </p:spPr>
      </p:sp>
      <p:sp>
        <p:nvSpPr>
          <p:cNvPr id="28" name="Text 26"/>
          <p:cNvSpPr/>
          <p:nvPr/>
        </p:nvSpPr>
        <p:spPr>
          <a:xfrm>
            <a:off x="5359400" y="4279057"/>
            <a:ext cx="949325" cy="376634"/>
          </a:xfrm>
          <a:prstGeom prst="rect">
            <a:avLst/>
          </a:prstGeom>
          <a:noFill/>
          <a:ln/>
        </p:spPr>
        <p:txBody>
          <a:bodyPr wrap="square" lIns="25400" tIns="25400" rIns="25400" bIns="25400" rtlCol="0" anchor="t">
            <a:normAutofit/>
          </a:bodyPr>
          <a:lstStyle/>
          <a:p>
            <a:pPr algn="l" indent="0" marL="0">
              <a:lnSpc>
                <a:spcPct val="106250"/>
              </a:lnSpc>
              <a:buNone/>
            </a:pPr>
            <a:r>
              <a:rPr lang="en-US" sz="638" dirty="0">
                <a:solidFill>
                  <a:srgbClr val="2B2620"/>
                </a:solidFill>
                <a:latin typeface="Arial" pitchFamily="34" charset="0"/>
                <a:ea typeface="Arial" pitchFamily="34" charset="-122"/>
                <a:cs typeface="Arial" pitchFamily="34" charset="-120"/>
              </a:rPr>
              <a:t>self-serve counts</a:t>
            </a:r>
            <a:endParaRPr lang="en-US" sz="638" dirty="0"/>
          </a:p>
        </p:txBody>
      </p:sp>
      <p:sp>
        <p:nvSpPr>
          <p:cNvPr id="29" name="Shape 27"/>
          <p:cNvSpPr/>
          <p:nvPr/>
        </p:nvSpPr>
        <p:spPr>
          <a:xfrm>
            <a:off x="4067175" y="4785866"/>
            <a:ext cx="2286000" cy="408980"/>
          </a:xfrm>
          <a:prstGeom prst="roundRect">
            <a:avLst>
              <a:gd name="adj" fmla="val 18632"/>
            </a:avLst>
          </a:prstGeom>
          <a:solidFill>
            <a:srgbClr val="FAF8F4"/>
          </a:solidFill>
          <a:ln w="12700">
            <a:solidFill>
              <a:srgbClr val="1B1B1B"/>
            </a:solidFill>
            <a:prstDash val="solid"/>
          </a:ln>
        </p:spPr>
      </p:sp>
      <p:sp>
        <p:nvSpPr>
          <p:cNvPr id="30" name="Shape 28"/>
          <p:cNvSpPr/>
          <p:nvPr/>
        </p:nvSpPr>
        <p:spPr>
          <a:xfrm>
            <a:off x="4143375" y="4862066"/>
            <a:ext cx="2133600" cy="256580"/>
          </a:xfrm>
          <a:prstGeom prst="roundRect">
            <a:avLst>
              <a:gd name="adj" fmla="val 7425"/>
            </a:avLst>
          </a:prstGeom>
          <a:solidFill>
            <a:srgbClr val="FFF6BF"/>
          </a:solidFill>
          <a:ln w="6350">
            <a:solidFill>
              <a:srgbClr val="E3D489"/>
            </a:solidFill>
            <a:prstDash val="solid"/>
          </a:ln>
          <a:effectLst>
            <a:outerShdw sx="100000" sy="100000" kx="0" ky="0" algn="bl" rotWithShape="0" blurRad="101600" dist="13470" dir="2700000">
              <a:srgbClr val="000000">
                <a:alpha val="8000"/>
              </a:srgbClr>
            </a:outerShdw>
          </a:effectLst>
        </p:spPr>
      </p:sp>
      <p:sp>
        <p:nvSpPr>
          <p:cNvPr id="31" name="Text 29"/>
          <p:cNvSpPr/>
          <p:nvPr/>
        </p:nvSpPr>
        <p:spPr>
          <a:xfrm>
            <a:off x="4187825" y="4896991"/>
            <a:ext cx="2120900" cy="224830"/>
          </a:xfrm>
          <a:prstGeom prst="rect">
            <a:avLst/>
          </a:prstGeom>
          <a:noFill/>
          <a:ln/>
        </p:spPr>
        <p:txBody>
          <a:bodyPr wrap="square" lIns="25400" tIns="25400" rIns="25400" bIns="25400" rtlCol="0" anchor="t">
            <a:normAutofit/>
          </a:bodyPr>
          <a:lstStyle/>
          <a:p>
            <a:pPr algn="l" indent="0" marL="0">
              <a:lnSpc>
                <a:spcPct val="106250"/>
              </a:lnSpc>
              <a:buNone/>
            </a:pPr>
            <a:r>
              <a:rPr lang="en-US" sz="638" dirty="0">
                <a:solidFill>
                  <a:srgbClr val="2B2620"/>
                </a:solidFill>
                <a:latin typeface="Arial" pitchFamily="34" charset="0"/>
                <a:ea typeface="Arial" pitchFamily="34" charset="-122"/>
                <a:cs typeface="Arial" pitchFamily="34" charset="-120"/>
              </a:rPr>
              <a:t>district managers · daylight</a:t>
            </a:r>
            <a:endParaRPr lang="en-US" sz="638" dirty="0"/>
          </a:p>
        </p:txBody>
      </p:sp>
      <p:sp>
        <p:nvSpPr>
          <p:cNvPr id="32" name="Shape 30"/>
          <p:cNvSpPr/>
          <p:nvPr/>
        </p:nvSpPr>
        <p:spPr>
          <a:xfrm>
            <a:off x="4067175" y="5251996"/>
            <a:ext cx="1114425" cy="408980"/>
          </a:xfrm>
          <a:prstGeom prst="roundRect">
            <a:avLst>
              <a:gd name="adj" fmla="val 18632"/>
            </a:avLst>
          </a:prstGeom>
          <a:ln w="12700">
            <a:solidFill>
              <a:srgbClr val="C3BEB5"/>
            </a:solidFill>
            <a:prstDash val="solid"/>
          </a:ln>
        </p:spPr>
      </p:sp>
      <p:sp>
        <p:nvSpPr>
          <p:cNvPr id="33" name="Text 31"/>
          <p:cNvSpPr/>
          <p:nvPr/>
        </p:nvSpPr>
        <p:spPr>
          <a:xfrm>
            <a:off x="4143375" y="5328196"/>
            <a:ext cx="1038225" cy="214461"/>
          </a:xfrm>
          <a:prstGeom prst="rect">
            <a:avLst/>
          </a:prstGeom>
          <a:noFill/>
          <a:ln/>
        </p:spPr>
        <p:txBody>
          <a:bodyPr wrap="square" lIns="25400" tIns="25400" rIns="25400" bIns="25400" rtlCol="0" anchor="t">
            <a:normAutofit/>
          </a:bodyPr>
          <a:lstStyle/>
          <a:p>
            <a:pPr algn="l" indent="0" marL="0">
              <a:lnSpc>
                <a:spcPct val="112273"/>
              </a:lnSpc>
              <a:buNone/>
            </a:pPr>
            <a:r>
              <a:rPr lang="en-US" sz="713" dirty="0">
                <a:solidFill>
                  <a:srgbClr val="87817A"/>
                </a:solidFill>
                <a:latin typeface="Arial" pitchFamily="34" charset="0"/>
                <a:ea typeface="Arial" pitchFamily="34" charset="-122"/>
                <a:cs typeface="Arial" pitchFamily="34" charset="-120"/>
              </a:rPr>
              <a:t>left open</a:t>
            </a:r>
            <a:endParaRPr lang="en-US" sz="713" dirty="0"/>
          </a:p>
        </p:txBody>
      </p:sp>
      <p:sp>
        <p:nvSpPr>
          <p:cNvPr id="34" name="Shape 32"/>
          <p:cNvSpPr/>
          <p:nvPr/>
        </p:nvSpPr>
        <p:spPr>
          <a:xfrm>
            <a:off x="5238750" y="5251996"/>
            <a:ext cx="1114425" cy="408980"/>
          </a:xfrm>
          <a:prstGeom prst="roundRect">
            <a:avLst>
              <a:gd name="adj" fmla="val 18632"/>
            </a:avLst>
          </a:prstGeom>
          <a:ln w="12700">
            <a:solidFill>
              <a:srgbClr val="C3BEB5"/>
            </a:solidFill>
            <a:prstDash val="solid"/>
          </a:ln>
        </p:spPr>
      </p:sp>
      <p:sp>
        <p:nvSpPr>
          <p:cNvPr id="35" name="Shape 33"/>
          <p:cNvSpPr/>
          <p:nvPr/>
        </p:nvSpPr>
        <p:spPr>
          <a:xfrm>
            <a:off x="5314950" y="5328196"/>
            <a:ext cx="962025" cy="256580"/>
          </a:xfrm>
          <a:prstGeom prst="roundRect">
            <a:avLst>
              <a:gd name="adj" fmla="val 7425"/>
            </a:avLst>
          </a:prstGeom>
          <a:solidFill>
            <a:srgbClr val="E2ECF6"/>
          </a:solidFill>
          <a:ln w="6350">
            <a:solidFill>
              <a:srgbClr val="B9CFE4"/>
            </a:solidFill>
            <a:prstDash val="solid"/>
          </a:ln>
          <a:effectLst>
            <a:outerShdw sx="100000" sy="100000" kx="0" ky="0" algn="bl" rotWithShape="0" blurRad="101600" dist="13470" dir="2700000">
              <a:srgbClr val="000000">
                <a:alpha val="8000"/>
              </a:srgbClr>
            </a:outerShdw>
          </a:effectLst>
        </p:spPr>
      </p:sp>
      <p:sp>
        <p:nvSpPr>
          <p:cNvPr id="36" name="Text 34"/>
          <p:cNvSpPr/>
          <p:nvPr/>
        </p:nvSpPr>
        <p:spPr>
          <a:xfrm>
            <a:off x="5359400" y="5363121"/>
            <a:ext cx="949325" cy="224830"/>
          </a:xfrm>
          <a:prstGeom prst="rect">
            <a:avLst/>
          </a:prstGeom>
          <a:noFill/>
          <a:ln/>
        </p:spPr>
        <p:txBody>
          <a:bodyPr wrap="square" lIns="25400" tIns="25400" rIns="25400" bIns="25400" rtlCol="0" anchor="t">
            <a:normAutofit/>
          </a:bodyPr>
          <a:lstStyle/>
          <a:p>
            <a:pPr algn="l" indent="0" marL="0">
              <a:lnSpc>
                <a:spcPct val="106250"/>
              </a:lnSpc>
              <a:buNone/>
            </a:pPr>
            <a:r>
              <a:rPr lang="en-US" sz="638" dirty="0">
                <a:solidFill>
                  <a:srgbClr val="2B2620"/>
                </a:solidFill>
                <a:latin typeface="Arial" pitchFamily="34" charset="0"/>
                <a:ea typeface="Arial" pitchFamily="34" charset="-122"/>
                <a:cs typeface="Arial" pitchFamily="34" charset="-120"/>
              </a:rPr>
              <a:t>no baseline</a:t>
            </a:r>
            <a:endParaRPr lang="en-US" sz="638" dirty="0"/>
          </a:p>
        </p:txBody>
      </p:sp>
      <p:sp>
        <p:nvSpPr>
          <p:cNvPr id="37" name="Shape 35"/>
          <p:cNvSpPr/>
          <p:nvPr/>
        </p:nvSpPr>
        <p:spPr>
          <a:xfrm>
            <a:off x="6643688" y="3777407"/>
            <a:ext cx="2609850" cy="2536031"/>
          </a:xfrm>
          <a:prstGeom prst="roundRect">
            <a:avLst>
              <a:gd name="adj" fmla="val 3380"/>
            </a:avLst>
          </a:prstGeom>
          <a:ln w="12700">
            <a:solidFill>
              <a:srgbClr val="B3AEA6"/>
            </a:solidFill>
            <a:prstDash val="dash"/>
          </a:ln>
        </p:spPr>
      </p:sp>
      <p:sp>
        <p:nvSpPr>
          <p:cNvPr id="38" name="Text 36"/>
          <p:cNvSpPr/>
          <p:nvPr/>
        </p:nvSpPr>
        <p:spPr>
          <a:xfrm>
            <a:off x="6805613" y="3939332"/>
            <a:ext cx="2362200" cy="180975"/>
          </a:xfrm>
          <a:prstGeom prst="rect">
            <a:avLst/>
          </a:prstGeom>
          <a:noFill/>
          <a:ln/>
        </p:spPr>
        <p:txBody>
          <a:bodyPr wrap="square" lIns="25400" tIns="25400" rIns="25400" bIns="25400" rtlCol="0" anchor="t">
            <a:normAutofit/>
          </a:bodyPr>
          <a:lstStyle/>
          <a:p>
            <a:pPr algn="l" indent="0" marL="0">
              <a:buNone/>
            </a:pPr>
            <a:r>
              <a:rPr lang="en-US" sz="638" b="1" spc="38" kern="0" dirty="0">
                <a:solidFill>
                  <a:srgbClr val="8A8479"/>
                </a:solidFill>
                <a:latin typeface="Courier New" pitchFamily="34" charset="0"/>
                <a:ea typeface="Courier New" pitchFamily="34" charset="-122"/>
                <a:cs typeface="Courier New" pitchFamily="34" charset="-120"/>
              </a:rPr>
              <a:t>3 · CARRY ON ELSEWHERE</a:t>
            </a:r>
            <a:endParaRPr lang="en-US" sz="638" dirty="0"/>
          </a:p>
        </p:txBody>
      </p:sp>
      <p:sp>
        <p:nvSpPr>
          <p:cNvPr id="39" name="Shape 37"/>
          <p:cNvSpPr/>
          <p:nvPr/>
        </p:nvSpPr>
        <p:spPr>
          <a:xfrm>
            <a:off x="6805613" y="4167932"/>
            <a:ext cx="2286000" cy="100013"/>
          </a:xfrm>
          <a:prstGeom prst="roundRect">
            <a:avLst>
              <a:gd name="adj" fmla="val 38095"/>
            </a:avLst>
          </a:prstGeom>
          <a:solidFill>
            <a:srgbClr val="DAD7D1"/>
          </a:solidFill>
          <a:ln/>
        </p:spPr>
      </p:sp>
      <p:sp>
        <p:nvSpPr>
          <p:cNvPr id="40" name="Shape 38"/>
          <p:cNvSpPr/>
          <p:nvPr/>
        </p:nvSpPr>
        <p:spPr>
          <a:xfrm>
            <a:off x="6805613" y="4396532"/>
            <a:ext cx="1554361" cy="100013"/>
          </a:xfrm>
          <a:prstGeom prst="roundRect">
            <a:avLst>
              <a:gd name="adj" fmla="val 38095"/>
            </a:avLst>
          </a:prstGeom>
          <a:solidFill>
            <a:srgbClr val="DAD7D1"/>
          </a:solidFill>
          <a:ln/>
        </p:spPr>
      </p:sp>
      <p:sp>
        <p:nvSpPr>
          <p:cNvPr id="41" name="Shape 39"/>
          <p:cNvSpPr/>
          <p:nvPr/>
        </p:nvSpPr>
        <p:spPr>
          <a:xfrm>
            <a:off x="6805613" y="4625132"/>
            <a:ext cx="2286000" cy="100013"/>
          </a:xfrm>
          <a:prstGeom prst="roundRect">
            <a:avLst>
              <a:gd name="adj" fmla="val 38095"/>
            </a:avLst>
          </a:prstGeom>
          <a:solidFill>
            <a:srgbClr val="DAD7D1"/>
          </a:solidFill>
          <a:ln/>
        </p:spPr>
      </p:sp>
      <p:sp>
        <p:nvSpPr>
          <p:cNvPr id="42" name="Shape 40"/>
          <p:cNvSpPr/>
          <p:nvPr/>
        </p:nvSpPr>
        <p:spPr>
          <a:xfrm>
            <a:off x="6805613" y="4853732"/>
            <a:ext cx="1028700" cy="100013"/>
          </a:xfrm>
          <a:prstGeom prst="roundRect">
            <a:avLst>
              <a:gd name="adj" fmla="val 38095"/>
            </a:avLst>
          </a:prstGeom>
          <a:solidFill>
            <a:srgbClr val="DAD7D1"/>
          </a:solidFill>
          <a:ln/>
        </p:spPr>
      </p:sp>
      <p:sp>
        <p:nvSpPr>
          <p:cNvPr id="43" name="Text 41"/>
          <p:cNvSpPr/>
          <p:nvPr/>
        </p:nvSpPr>
        <p:spPr>
          <a:xfrm>
            <a:off x="6805613" y="5039469"/>
            <a:ext cx="2362200" cy="445294"/>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a prompt with your canvas in it</a:t>
            </a:r>
            <a:endParaRPr lang="en-US" sz="713" dirty="0"/>
          </a:p>
        </p:txBody>
      </p:sp>
      <p:sp>
        <p:nvSpPr>
          <p:cNvPr id="44" name="Shape 42"/>
          <p:cNvSpPr/>
          <p:nvPr/>
        </p:nvSpPr>
        <p:spPr>
          <a:xfrm>
            <a:off x="6805613" y="5532388"/>
            <a:ext cx="2286000" cy="619125"/>
          </a:xfrm>
          <a:prstGeom prst="roundRect">
            <a:avLst>
              <a:gd name="adj" fmla="val 13846"/>
            </a:avLst>
          </a:prstGeom>
          <a:ln w="19050">
            <a:solidFill>
              <a:srgbClr val="1B1B1B"/>
            </a:solidFill>
            <a:prstDash val="solid"/>
          </a:ln>
        </p:spPr>
      </p:sp>
      <p:sp>
        <p:nvSpPr>
          <p:cNvPr id="45" name="Text 43"/>
          <p:cNvSpPr/>
          <p:nvPr/>
        </p:nvSpPr>
        <p:spPr>
          <a:xfrm>
            <a:off x="6891338" y="5646688"/>
            <a:ext cx="2114550" cy="428625"/>
          </a:xfrm>
          <a:prstGeom prst="rect">
            <a:avLst/>
          </a:prstGeom>
          <a:noFill/>
          <a:ln/>
        </p:spPr>
        <p:txBody>
          <a:bodyPr wrap="square" lIns="25400" tIns="25400" rIns="25400" bIns="25400" rtlCol="0" anchor="t">
            <a:normAutofit/>
          </a:bodyPr>
          <a:lstStyle/>
          <a:p>
            <a:pPr algn="ctr" indent="0" marL="0">
              <a:buNone/>
            </a:pPr>
            <a:r>
              <a:rPr lang="en-US" sz="1200" dirty="0">
                <a:solidFill>
                  <a:srgbClr val="1B1B1B"/>
                </a:solidFill>
                <a:latin typeface="Arial" pitchFamily="34" charset="0"/>
                <a:ea typeface="Arial" pitchFamily="34" charset="-122"/>
                <a:cs typeface="Arial" pitchFamily="34" charset="-120"/>
              </a:rPr>
              <a:t>⧉ Copy</a:t>
            </a:r>
            <a:endParaRPr lang="en-US" sz="1200" dirty="0"/>
          </a:p>
        </p:txBody>
      </p:sp>
      <p:sp>
        <p:nvSpPr>
          <p:cNvPr id="46" name="Shape 44"/>
          <p:cNvSpPr/>
          <p:nvPr/>
        </p:nvSpPr>
        <p:spPr>
          <a:xfrm>
            <a:off x="823913" y="6456313"/>
            <a:ext cx="2724150" cy="619125"/>
          </a:xfrm>
          <a:prstGeom prst="roundRect">
            <a:avLst>
              <a:gd name="adj" fmla="val 13846"/>
            </a:avLst>
          </a:prstGeom>
          <a:solidFill>
            <a:srgbClr val="1B1B1B"/>
          </a:solidFill>
          <a:ln w="19050">
            <a:solidFill>
              <a:srgbClr val="1B1B1B"/>
            </a:solidFill>
            <a:prstDash val="solid"/>
          </a:ln>
        </p:spPr>
      </p:sp>
      <p:sp>
        <p:nvSpPr>
          <p:cNvPr id="47" name="Text 45"/>
          <p:cNvSpPr/>
          <p:nvPr/>
        </p:nvSpPr>
        <p:spPr>
          <a:xfrm>
            <a:off x="906875" y="6570613"/>
            <a:ext cx="2558224" cy="428625"/>
          </a:xfrm>
          <a:prstGeom prst="rect">
            <a:avLst/>
          </a:prstGeom>
          <a:noFill/>
          <a:ln/>
        </p:spPr>
        <p:txBody>
          <a:bodyPr wrap="square" lIns="25400" tIns="25400" rIns="25400" bIns="25400" rtlCol="0" anchor="t">
            <a:normAutofit/>
          </a:bodyPr>
          <a:lstStyle/>
          <a:p>
            <a:pPr algn="ctr" indent="0" marL="0">
              <a:buNone/>
            </a:pPr>
            <a:r>
              <a:rPr lang="en-US" sz="1200" dirty="0">
                <a:solidFill>
                  <a:srgbClr val="FFFFFF"/>
                </a:solidFill>
                <a:latin typeface="Arial" pitchFamily="34" charset="0"/>
                <a:ea typeface="Arial" pitchFamily="34" charset="-122"/>
                <a:cs typeface="Arial" pitchFamily="34" charset="-120"/>
              </a:rPr>
              <a:t>⤓ Download all three</a:t>
            </a:r>
            <a:endParaRPr lang="en-US" sz="1200" dirty="0"/>
          </a:p>
        </p:txBody>
      </p:sp>
      <p:sp>
        <p:nvSpPr>
          <p:cNvPr id="48" name="Shape 46"/>
          <p:cNvSpPr/>
          <p:nvPr/>
        </p:nvSpPr>
        <p:spPr>
          <a:xfrm>
            <a:off x="3676650" y="6456313"/>
            <a:ext cx="2724150" cy="619125"/>
          </a:xfrm>
          <a:prstGeom prst="roundRect">
            <a:avLst>
              <a:gd name="adj" fmla="val 13846"/>
            </a:avLst>
          </a:prstGeom>
          <a:ln w="19050">
            <a:solidFill>
              <a:srgbClr val="1B1B1B"/>
            </a:solidFill>
            <a:prstDash val="solid"/>
          </a:ln>
        </p:spPr>
      </p:sp>
      <p:sp>
        <p:nvSpPr>
          <p:cNvPr id="49" name="Text 47"/>
          <p:cNvSpPr/>
          <p:nvPr/>
        </p:nvSpPr>
        <p:spPr>
          <a:xfrm>
            <a:off x="3759613" y="6570613"/>
            <a:ext cx="2558224" cy="428625"/>
          </a:xfrm>
          <a:prstGeom prst="rect">
            <a:avLst/>
          </a:prstGeom>
          <a:noFill/>
          <a:ln/>
        </p:spPr>
        <p:txBody>
          <a:bodyPr wrap="square" lIns="25400" tIns="25400" rIns="25400" bIns="25400" rtlCol="0" anchor="t">
            <a:normAutofit/>
          </a:bodyPr>
          <a:lstStyle/>
          <a:p>
            <a:pPr algn="ctr" indent="0" marL="0">
              <a:buNone/>
            </a:pPr>
            <a:r>
              <a:rPr lang="en-US" sz="1200" dirty="0">
                <a:solidFill>
                  <a:srgbClr val="1B1B1B"/>
                </a:solidFill>
                <a:latin typeface="Arial" pitchFamily="34" charset="0"/>
                <a:ea typeface="Arial" pitchFamily="34" charset="-122"/>
                <a:cs typeface="Arial" pitchFamily="34" charset="-120"/>
              </a:rPr>
              <a:t>⧉ Copy as text</a:t>
            </a:r>
            <a:endParaRPr lang="en-US" sz="1200" dirty="0"/>
          </a:p>
        </p:txBody>
      </p:sp>
      <p:sp>
        <p:nvSpPr>
          <p:cNvPr id="50" name="Shape 48"/>
          <p:cNvSpPr/>
          <p:nvPr/>
        </p:nvSpPr>
        <p:spPr>
          <a:xfrm>
            <a:off x="6529388" y="6456313"/>
            <a:ext cx="2724150" cy="619125"/>
          </a:xfrm>
          <a:prstGeom prst="roundRect">
            <a:avLst>
              <a:gd name="adj" fmla="val 13846"/>
            </a:avLst>
          </a:prstGeom>
          <a:ln w="19050">
            <a:solidFill>
              <a:srgbClr val="1B1B1B"/>
            </a:solidFill>
            <a:prstDash val="solid"/>
          </a:ln>
        </p:spPr>
      </p:sp>
      <p:sp>
        <p:nvSpPr>
          <p:cNvPr id="51" name="Text 49"/>
          <p:cNvSpPr/>
          <p:nvPr/>
        </p:nvSpPr>
        <p:spPr>
          <a:xfrm>
            <a:off x="6612350" y="6570613"/>
            <a:ext cx="2558224" cy="428625"/>
          </a:xfrm>
          <a:prstGeom prst="rect">
            <a:avLst/>
          </a:prstGeom>
          <a:noFill/>
          <a:ln/>
        </p:spPr>
        <p:txBody>
          <a:bodyPr wrap="square" lIns="25400" tIns="25400" rIns="25400" bIns="25400" rtlCol="0" anchor="t">
            <a:normAutofit/>
          </a:bodyPr>
          <a:lstStyle/>
          <a:p>
            <a:pPr algn="ctr" indent="0" marL="0">
              <a:buNone/>
            </a:pPr>
            <a:r>
              <a:rPr lang="en-US" sz="1200" dirty="0">
                <a:solidFill>
                  <a:srgbClr val="1B1B1B"/>
                </a:solidFill>
                <a:latin typeface="Arial" pitchFamily="34" charset="0"/>
                <a:ea typeface="Arial" pitchFamily="34" charset="-122"/>
                <a:cs typeface="Arial" pitchFamily="34" charset="-120"/>
              </a:rPr>
              <a:t>⎙ Print the canvas</a:t>
            </a:r>
            <a:endParaRPr lang="en-US" sz="1200" dirty="0"/>
          </a:p>
        </p:txBody>
      </p:sp>
      <p:sp>
        <p:nvSpPr>
          <p:cNvPr id="52" name="Text 50"/>
          <p:cNvSpPr/>
          <p:nvPr/>
        </p:nvSpPr>
        <p:spPr>
          <a:xfrm>
            <a:off x="823913" y="7218313"/>
            <a:ext cx="8682514"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Two open questions travel with it, marked as questions — not as blanks.</a:t>
            </a:r>
            <a:endParaRPr lang="en-US" sz="713" dirty="0"/>
          </a:p>
        </p:txBody>
      </p:sp>
      <p:sp>
        <p:nvSpPr>
          <p:cNvPr id="53" name="Text 51"/>
          <p:cNvSpPr/>
          <p:nvPr/>
        </p:nvSpPr>
        <p:spPr>
          <a:xfrm>
            <a:off x="9725025" y="2393007"/>
            <a:ext cx="4355973" cy="219075"/>
          </a:xfrm>
          <a:prstGeom prst="rect">
            <a:avLst/>
          </a:prstGeom>
          <a:noFill/>
          <a:ln/>
        </p:spPr>
        <p:txBody>
          <a:bodyPr wrap="square" lIns="25400" tIns="25400" rIns="25400" bIns="25400" rtlCol="0" anchor="t">
            <a:normAutofit/>
          </a:bodyPr>
          <a:lstStyle/>
          <a:p>
            <a:pPr algn="l" indent="0" marL="0">
              <a:buNone/>
            </a:pPr>
            <a:r>
              <a:rPr lang="en-US" sz="825" b="1" spc="66" kern="0" dirty="0">
                <a:solidFill>
                  <a:srgbClr val="1B1B1B">
                    <a:alpha val="50000"/>
                  </a:srgbClr>
                </a:solidFill>
                <a:latin typeface="Courier New" pitchFamily="34" charset="0"/>
                <a:ea typeface="Courier New" pitchFamily="34" charset="-122"/>
                <a:cs typeface="Courier New" pitchFamily="34" charset="-120"/>
              </a:rPr>
              <a:t>MOBILE</a:t>
            </a:r>
            <a:endParaRPr lang="en-US" sz="825" dirty="0"/>
          </a:p>
        </p:txBody>
      </p:sp>
      <p:sp>
        <p:nvSpPr>
          <p:cNvPr id="54" name="Shape 52"/>
          <p:cNvSpPr/>
          <p:nvPr/>
        </p:nvSpPr>
        <p:spPr>
          <a:xfrm>
            <a:off x="9725025" y="2688282"/>
            <a:ext cx="4229100" cy="6062960"/>
          </a:xfrm>
          <a:prstGeom prst="roundRect">
            <a:avLst>
              <a:gd name="adj" fmla="val 2703"/>
            </a:avLst>
          </a:prstGeom>
          <a:solidFill>
            <a:srgbClr val="FFFFFF"/>
          </a:solidFill>
          <a:ln w="19050">
            <a:solidFill>
              <a:srgbClr val="1B1B1B"/>
            </a:solidFill>
            <a:prstDash val="solid"/>
          </a:ln>
        </p:spPr>
      </p:sp>
      <p:sp>
        <p:nvSpPr>
          <p:cNvPr id="55" name="Text 53"/>
          <p:cNvSpPr/>
          <p:nvPr/>
        </p:nvSpPr>
        <p:spPr>
          <a:xfrm>
            <a:off x="9939338" y="2902595"/>
            <a:ext cx="3914489" cy="770037"/>
          </a:xfrm>
          <a:prstGeom prst="rect">
            <a:avLst/>
          </a:prstGeom>
          <a:noFill/>
          <a:ln/>
        </p:spPr>
        <p:txBody>
          <a:bodyPr wrap="square" lIns="25400" tIns="25400" rIns="25400" bIns="25400" rtlCol="0" anchor="t">
            <a:normAutofit/>
          </a:bodyPr>
          <a:lstStyle/>
          <a:p>
            <a:pPr algn="l" indent="0" marL="0">
              <a:lnSpc>
                <a:spcPct val="106750"/>
              </a:lnSpc>
              <a:buNone/>
            </a:pPr>
            <a:r>
              <a:rPr lang="en-US" sz="1575" dirty="0">
                <a:solidFill>
                  <a:srgbClr val="1B1B1B"/>
                </a:solidFill>
                <a:latin typeface="Arial" pitchFamily="34" charset="0"/>
                <a:ea typeface="Arial" pitchFamily="34" charset="-122"/>
                <a:cs typeface="Arial" pitchFamily="34" charset="-120"/>
              </a:rPr>
              <a:t>Take this now — I don't keep a copy.</a:t>
            </a:r>
            <a:endParaRPr lang="en-US" sz="1575" dirty="0"/>
          </a:p>
        </p:txBody>
      </p:sp>
      <p:sp>
        <p:nvSpPr>
          <p:cNvPr id="56" name="Text 54"/>
          <p:cNvSpPr/>
          <p:nvPr/>
        </p:nvSpPr>
        <p:spPr>
          <a:xfrm>
            <a:off x="9939338" y="3777407"/>
            <a:ext cx="3914489"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no account · no database · closing the tab ends it</a:t>
            </a:r>
            <a:endParaRPr lang="en-US" sz="713" dirty="0"/>
          </a:p>
        </p:txBody>
      </p:sp>
      <p:sp>
        <p:nvSpPr>
          <p:cNvPr id="57" name="Shape 55"/>
          <p:cNvSpPr/>
          <p:nvPr/>
        </p:nvSpPr>
        <p:spPr>
          <a:xfrm>
            <a:off x="9939338" y="4123879"/>
            <a:ext cx="3800475" cy="1095375"/>
          </a:xfrm>
          <a:prstGeom prst="roundRect">
            <a:avLst>
              <a:gd name="adj" fmla="val 7826"/>
            </a:avLst>
          </a:prstGeom>
          <a:ln w="12700">
            <a:solidFill>
              <a:srgbClr val="B3AEA6"/>
            </a:solidFill>
            <a:prstDash val="dash"/>
          </a:ln>
        </p:spPr>
      </p:sp>
      <p:sp>
        <p:nvSpPr>
          <p:cNvPr id="58" name="Text 56"/>
          <p:cNvSpPr/>
          <p:nvPr/>
        </p:nvSpPr>
        <p:spPr>
          <a:xfrm>
            <a:off x="10101263" y="4285804"/>
            <a:ext cx="3580924" cy="180975"/>
          </a:xfrm>
          <a:prstGeom prst="rect">
            <a:avLst/>
          </a:prstGeom>
          <a:noFill/>
          <a:ln/>
        </p:spPr>
        <p:txBody>
          <a:bodyPr wrap="square" lIns="25400" tIns="25400" rIns="25400" bIns="25400" rtlCol="0" anchor="t">
            <a:normAutofit/>
          </a:bodyPr>
          <a:lstStyle/>
          <a:p>
            <a:pPr algn="l" indent="0" marL="0">
              <a:buNone/>
            </a:pPr>
            <a:r>
              <a:rPr lang="en-US" sz="638" b="1" spc="38" kern="0" dirty="0">
                <a:solidFill>
                  <a:srgbClr val="8A8479"/>
                </a:solidFill>
                <a:latin typeface="Courier New" pitchFamily="34" charset="0"/>
                <a:ea typeface="Courier New" pitchFamily="34" charset="-122"/>
                <a:cs typeface="Courier New" pitchFamily="34" charset="-120"/>
              </a:rPr>
              <a:t>THE GOAL, SSH PATTERN</a:t>
            </a:r>
            <a:endParaRPr lang="en-US" sz="638" dirty="0"/>
          </a:p>
        </p:txBody>
      </p:sp>
      <p:sp>
        <p:nvSpPr>
          <p:cNvPr id="59" name="Shape 57"/>
          <p:cNvSpPr/>
          <p:nvPr/>
        </p:nvSpPr>
        <p:spPr>
          <a:xfrm>
            <a:off x="10101263" y="4500116"/>
            <a:ext cx="3476625" cy="100013"/>
          </a:xfrm>
          <a:prstGeom prst="roundRect">
            <a:avLst>
              <a:gd name="adj" fmla="val 38095"/>
            </a:avLst>
          </a:prstGeom>
          <a:solidFill>
            <a:srgbClr val="DAD7D1"/>
          </a:solidFill>
          <a:ln/>
        </p:spPr>
      </p:sp>
      <p:sp>
        <p:nvSpPr>
          <p:cNvPr id="60" name="Shape 58"/>
          <p:cNvSpPr/>
          <p:nvPr/>
        </p:nvSpPr>
        <p:spPr>
          <a:xfrm>
            <a:off x="10101263" y="4728716"/>
            <a:ext cx="2433638" cy="100013"/>
          </a:xfrm>
          <a:prstGeom prst="roundRect">
            <a:avLst>
              <a:gd name="adj" fmla="val 38095"/>
            </a:avLst>
          </a:prstGeom>
          <a:solidFill>
            <a:srgbClr val="DAD7D1"/>
          </a:solidFill>
          <a:ln/>
        </p:spPr>
      </p:sp>
      <p:sp>
        <p:nvSpPr>
          <p:cNvPr id="61" name="Shape 59"/>
          <p:cNvSpPr/>
          <p:nvPr/>
        </p:nvSpPr>
        <p:spPr>
          <a:xfrm>
            <a:off x="10101263" y="4957316"/>
            <a:ext cx="3476625" cy="100013"/>
          </a:xfrm>
          <a:prstGeom prst="roundRect">
            <a:avLst>
              <a:gd name="adj" fmla="val 38095"/>
            </a:avLst>
          </a:prstGeom>
          <a:solidFill>
            <a:srgbClr val="DAD7D1"/>
          </a:solidFill>
          <a:ln/>
        </p:spPr>
      </p:sp>
      <p:sp>
        <p:nvSpPr>
          <p:cNvPr id="62" name="Shape 60"/>
          <p:cNvSpPr/>
          <p:nvPr/>
        </p:nvSpPr>
        <p:spPr>
          <a:xfrm>
            <a:off x="9939338" y="5347841"/>
            <a:ext cx="3800475" cy="794742"/>
          </a:xfrm>
          <a:prstGeom prst="roundRect">
            <a:avLst>
              <a:gd name="adj" fmla="val 10787"/>
            </a:avLst>
          </a:prstGeom>
          <a:ln w="12700">
            <a:solidFill>
              <a:srgbClr val="B3AEA6"/>
            </a:solidFill>
            <a:prstDash val="dash"/>
          </a:ln>
        </p:spPr>
      </p:sp>
      <p:sp>
        <p:nvSpPr>
          <p:cNvPr id="63" name="Text 61"/>
          <p:cNvSpPr/>
          <p:nvPr/>
        </p:nvSpPr>
        <p:spPr>
          <a:xfrm>
            <a:off x="10101263" y="5509766"/>
            <a:ext cx="3580924" cy="180975"/>
          </a:xfrm>
          <a:prstGeom prst="rect">
            <a:avLst/>
          </a:prstGeom>
          <a:noFill/>
          <a:ln/>
        </p:spPr>
        <p:txBody>
          <a:bodyPr wrap="square" lIns="25400" tIns="25400" rIns="25400" bIns="25400" rtlCol="0" anchor="t">
            <a:normAutofit/>
          </a:bodyPr>
          <a:lstStyle/>
          <a:p>
            <a:pPr algn="l" indent="0" marL="0">
              <a:buNone/>
            </a:pPr>
            <a:r>
              <a:rPr lang="en-US" sz="638" b="1" spc="38" kern="0" dirty="0">
                <a:solidFill>
                  <a:srgbClr val="8A8479"/>
                </a:solidFill>
                <a:latin typeface="Courier New" pitchFamily="34" charset="0"/>
                <a:ea typeface="Courier New" pitchFamily="34" charset="-122"/>
                <a:cs typeface="Courier New" pitchFamily="34" charset="-120"/>
              </a:rPr>
              <a:t>THE CANVAS, GAPS AND ALL</a:t>
            </a:r>
            <a:endParaRPr lang="en-US" sz="638" dirty="0"/>
          </a:p>
        </p:txBody>
      </p:sp>
      <p:sp>
        <p:nvSpPr>
          <p:cNvPr id="64" name="Shape 62"/>
          <p:cNvSpPr/>
          <p:nvPr/>
        </p:nvSpPr>
        <p:spPr>
          <a:xfrm>
            <a:off x="10101263" y="5724079"/>
            <a:ext cx="786854" cy="256580"/>
          </a:xfrm>
          <a:prstGeom prst="roundRect">
            <a:avLst>
              <a:gd name="adj" fmla="val 7425"/>
            </a:avLst>
          </a:prstGeom>
          <a:solidFill>
            <a:srgbClr val="FFF6BF"/>
          </a:solidFill>
          <a:ln w="6350">
            <a:solidFill>
              <a:srgbClr val="E3D489"/>
            </a:solidFill>
            <a:prstDash val="solid"/>
          </a:ln>
          <a:effectLst>
            <a:outerShdw sx="100000" sy="100000" kx="0" ky="0" algn="bl" rotWithShape="0" blurRad="101600" dist="13470" dir="2700000">
              <a:srgbClr val="000000">
                <a:alpha val="8000"/>
              </a:srgbClr>
            </a:outerShdw>
          </a:effectLst>
        </p:spPr>
      </p:sp>
      <p:sp>
        <p:nvSpPr>
          <p:cNvPr id="65" name="Text 63"/>
          <p:cNvSpPr/>
          <p:nvPr/>
        </p:nvSpPr>
        <p:spPr>
          <a:xfrm>
            <a:off x="10145713" y="5759004"/>
            <a:ext cx="774154" cy="224830"/>
          </a:xfrm>
          <a:prstGeom prst="rect">
            <a:avLst/>
          </a:prstGeom>
          <a:noFill/>
          <a:ln/>
        </p:spPr>
        <p:txBody>
          <a:bodyPr wrap="square" lIns="25400" tIns="25400" rIns="25400" bIns="25400" rtlCol="0" anchor="t">
            <a:normAutofit/>
          </a:bodyPr>
          <a:lstStyle/>
          <a:p>
            <a:pPr algn="l" indent="0" marL="0">
              <a:lnSpc>
                <a:spcPct val="106250"/>
              </a:lnSpc>
              <a:buNone/>
            </a:pPr>
            <a:r>
              <a:rPr lang="en-US" sz="638" dirty="0">
                <a:solidFill>
                  <a:srgbClr val="2B2620"/>
                </a:solidFill>
                <a:latin typeface="Arial" pitchFamily="34" charset="0"/>
                <a:ea typeface="Arial" pitchFamily="34" charset="-122"/>
                <a:cs typeface="Arial" pitchFamily="34" charset="-120"/>
              </a:rPr>
              <a:t>district mgrs</a:t>
            </a:r>
            <a:endParaRPr lang="en-US" sz="638" dirty="0"/>
          </a:p>
        </p:txBody>
      </p:sp>
      <p:sp>
        <p:nvSpPr>
          <p:cNvPr id="66" name="Shape 64"/>
          <p:cNvSpPr/>
          <p:nvPr/>
        </p:nvSpPr>
        <p:spPr>
          <a:xfrm>
            <a:off x="10945267" y="5724079"/>
            <a:ext cx="916037" cy="256580"/>
          </a:xfrm>
          <a:prstGeom prst="roundRect">
            <a:avLst>
              <a:gd name="adj" fmla="val 7425"/>
            </a:avLst>
          </a:prstGeom>
          <a:solidFill>
            <a:srgbClr val="FFF6BF"/>
          </a:solidFill>
          <a:ln w="6350">
            <a:solidFill>
              <a:srgbClr val="E3D489"/>
            </a:solidFill>
            <a:prstDash val="solid"/>
          </a:ln>
          <a:effectLst>
            <a:outerShdw sx="100000" sy="100000" kx="0" ky="0" algn="bl" rotWithShape="0" blurRad="101600" dist="13470" dir="2700000">
              <a:srgbClr val="000000">
                <a:alpha val="8000"/>
              </a:srgbClr>
            </a:outerShdw>
          </a:effectLst>
        </p:spPr>
      </p:sp>
      <p:sp>
        <p:nvSpPr>
          <p:cNvPr id="67" name="Text 65"/>
          <p:cNvSpPr/>
          <p:nvPr/>
        </p:nvSpPr>
        <p:spPr>
          <a:xfrm>
            <a:off x="10989717" y="5759004"/>
            <a:ext cx="903337" cy="224830"/>
          </a:xfrm>
          <a:prstGeom prst="rect">
            <a:avLst/>
          </a:prstGeom>
          <a:noFill/>
          <a:ln/>
        </p:spPr>
        <p:txBody>
          <a:bodyPr wrap="square" lIns="25400" tIns="25400" rIns="25400" bIns="25400" rtlCol="0" anchor="t">
            <a:normAutofit/>
          </a:bodyPr>
          <a:lstStyle/>
          <a:p>
            <a:pPr algn="l" indent="0" marL="0">
              <a:lnSpc>
                <a:spcPct val="106250"/>
              </a:lnSpc>
              <a:buNone/>
            </a:pPr>
            <a:r>
              <a:rPr lang="en-US" sz="638" dirty="0">
                <a:solidFill>
                  <a:srgbClr val="2B2620"/>
                </a:solidFill>
                <a:latin typeface="Arial" pitchFamily="34" charset="0"/>
                <a:ea typeface="Arial" pitchFamily="34" charset="-122"/>
                <a:cs typeface="Arial" pitchFamily="34" charset="-120"/>
              </a:rPr>
              <a:t>daylight counts</a:t>
            </a:r>
            <a:endParaRPr lang="en-US" sz="638" dirty="0"/>
          </a:p>
        </p:txBody>
      </p:sp>
      <p:sp>
        <p:nvSpPr>
          <p:cNvPr id="68" name="Shape 66"/>
          <p:cNvSpPr/>
          <p:nvPr/>
        </p:nvSpPr>
        <p:spPr>
          <a:xfrm>
            <a:off x="11918454" y="5724079"/>
            <a:ext cx="706934" cy="256580"/>
          </a:xfrm>
          <a:prstGeom prst="roundRect">
            <a:avLst>
              <a:gd name="adj" fmla="val 7425"/>
            </a:avLst>
          </a:prstGeom>
          <a:solidFill>
            <a:srgbClr val="E2ECF6"/>
          </a:solidFill>
          <a:ln w="6350">
            <a:solidFill>
              <a:srgbClr val="B9CFE4"/>
            </a:solidFill>
            <a:prstDash val="solid"/>
          </a:ln>
          <a:effectLst>
            <a:outerShdw sx="100000" sy="100000" kx="0" ky="0" algn="bl" rotWithShape="0" blurRad="101600" dist="13470" dir="2700000">
              <a:srgbClr val="000000">
                <a:alpha val="8000"/>
              </a:srgbClr>
            </a:outerShdw>
          </a:effectLst>
        </p:spPr>
      </p:sp>
      <p:sp>
        <p:nvSpPr>
          <p:cNvPr id="69" name="Text 67"/>
          <p:cNvSpPr/>
          <p:nvPr/>
        </p:nvSpPr>
        <p:spPr>
          <a:xfrm>
            <a:off x="11962904" y="5759004"/>
            <a:ext cx="694234" cy="224830"/>
          </a:xfrm>
          <a:prstGeom prst="rect">
            <a:avLst/>
          </a:prstGeom>
          <a:noFill/>
          <a:ln/>
        </p:spPr>
        <p:txBody>
          <a:bodyPr wrap="square" lIns="25400" tIns="25400" rIns="25400" bIns="25400" rtlCol="0" anchor="t">
            <a:normAutofit/>
          </a:bodyPr>
          <a:lstStyle/>
          <a:p>
            <a:pPr algn="l" indent="0" marL="0">
              <a:lnSpc>
                <a:spcPct val="106250"/>
              </a:lnSpc>
              <a:buNone/>
            </a:pPr>
            <a:r>
              <a:rPr lang="en-US" sz="638" dirty="0">
                <a:solidFill>
                  <a:srgbClr val="2B2620"/>
                </a:solidFill>
                <a:latin typeface="Arial" pitchFamily="34" charset="0"/>
                <a:ea typeface="Arial" pitchFamily="34" charset="-122"/>
                <a:cs typeface="Arial" pitchFamily="34" charset="-120"/>
              </a:rPr>
              <a:t>no baseline</a:t>
            </a:r>
            <a:endParaRPr lang="en-US" sz="638" dirty="0"/>
          </a:p>
        </p:txBody>
      </p:sp>
      <p:sp>
        <p:nvSpPr>
          <p:cNvPr id="70" name="Shape 68"/>
          <p:cNvSpPr/>
          <p:nvPr/>
        </p:nvSpPr>
        <p:spPr>
          <a:xfrm>
            <a:off x="9939338" y="6271171"/>
            <a:ext cx="3800475" cy="741759"/>
          </a:xfrm>
          <a:prstGeom prst="roundRect">
            <a:avLst>
              <a:gd name="adj" fmla="val 11557"/>
            </a:avLst>
          </a:prstGeom>
          <a:ln w="12700">
            <a:solidFill>
              <a:srgbClr val="B3AEA6"/>
            </a:solidFill>
            <a:prstDash val="dash"/>
          </a:ln>
        </p:spPr>
      </p:sp>
      <p:sp>
        <p:nvSpPr>
          <p:cNvPr id="71" name="Text 69"/>
          <p:cNvSpPr/>
          <p:nvPr/>
        </p:nvSpPr>
        <p:spPr>
          <a:xfrm>
            <a:off x="10101263" y="6433096"/>
            <a:ext cx="3580924" cy="180975"/>
          </a:xfrm>
          <a:prstGeom prst="rect">
            <a:avLst/>
          </a:prstGeom>
          <a:noFill/>
          <a:ln/>
        </p:spPr>
        <p:txBody>
          <a:bodyPr wrap="square" lIns="25400" tIns="25400" rIns="25400" bIns="25400" rtlCol="0" anchor="t">
            <a:normAutofit/>
          </a:bodyPr>
          <a:lstStyle/>
          <a:p>
            <a:pPr algn="l" indent="0" marL="0">
              <a:buNone/>
            </a:pPr>
            <a:r>
              <a:rPr lang="en-US" sz="638" b="1" spc="38" kern="0" dirty="0">
                <a:solidFill>
                  <a:srgbClr val="8A8479"/>
                </a:solidFill>
                <a:latin typeface="Courier New" pitchFamily="34" charset="0"/>
                <a:ea typeface="Courier New" pitchFamily="34" charset="-122"/>
                <a:cs typeface="Courier New" pitchFamily="34" charset="-120"/>
              </a:rPr>
              <a:t>CARRY ON ELSEWHERE</a:t>
            </a:r>
            <a:endParaRPr lang="en-US" sz="638" dirty="0"/>
          </a:p>
        </p:txBody>
      </p:sp>
      <p:sp>
        <p:nvSpPr>
          <p:cNvPr id="72" name="Text 70"/>
          <p:cNvSpPr/>
          <p:nvPr/>
        </p:nvSpPr>
        <p:spPr>
          <a:xfrm>
            <a:off x="10101263" y="6647408"/>
            <a:ext cx="3580924" cy="241697"/>
          </a:xfrm>
          <a:prstGeom prst="rect">
            <a:avLst/>
          </a:prstGeom>
          <a:noFill/>
          <a:ln/>
        </p:spPr>
        <p:txBody>
          <a:bodyPr wrap="square" lIns="25400" tIns="25400" rIns="25400" bIns="25400" rtlCol="0" anchor="t">
            <a:normAutofit/>
          </a:bodyPr>
          <a:lstStyle/>
          <a:p>
            <a:pPr algn="l" indent="0" marL="0">
              <a:lnSpc>
                <a:spcPct val="129545"/>
              </a:lnSpc>
              <a:buNone/>
            </a:pPr>
            <a:r>
              <a:rPr lang="en-US" sz="713" dirty="0">
                <a:solidFill>
                  <a:srgbClr val="6B665E"/>
                </a:solidFill>
                <a:latin typeface="Courier New" pitchFamily="34" charset="0"/>
                <a:ea typeface="Courier New" pitchFamily="34" charset="-122"/>
                <a:cs typeface="Courier New" pitchFamily="34" charset="-120"/>
              </a:rPr>
              <a:t>a prompt with your canvas in it</a:t>
            </a:r>
            <a:endParaRPr lang="en-US" sz="713" dirty="0"/>
          </a:p>
        </p:txBody>
      </p:sp>
      <p:sp>
        <p:nvSpPr>
          <p:cNvPr id="73" name="Shape 71"/>
          <p:cNvSpPr/>
          <p:nvPr/>
        </p:nvSpPr>
        <p:spPr>
          <a:xfrm>
            <a:off x="9939338" y="7155805"/>
            <a:ext cx="3800475" cy="619125"/>
          </a:xfrm>
          <a:prstGeom prst="roundRect">
            <a:avLst>
              <a:gd name="adj" fmla="val 13846"/>
            </a:avLst>
          </a:prstGeom>
          <a:solidFill>
            <a:srgbClr val="1B1B1B"/>
          </a:solidFill>
          <a:ln w="19050">
            <a:solidFill>
              <a:srgbClr val="1B1B1B"/>
            </a:solidFill>
            <a:prstDash val="solid"/>
          </a:ln>
        </p:spPr>
      </p:sp>
      <p:sp>
        <p:nvSpPr>
          <p:cNvPr id="74" name="Text 72"/>
          <p:cNvSpPr/>
          <p:nvPr/>
        </p:nvSpPr>
        <p:spPr>
          <a:xfrm>
            <a:off x="10006155" y="7270105"/>
            <a:ext cx="3666839" cy="428625"/>
          </a:xfrm>
          <a:prstGeom prst="rect">
            <a:avLst/>
          </a:prstGeom>
          <a:noFill/>
          <a:ln/>
        </p:spPr>
        <p:txBody>
          <a:bodyPr wrap="square" lIns="25400" tIns="25400" rIns="25400" bIns="25400" rtlCol="0" anchor="t">
            <a:normAutofit/>
          </a:bodyPr>
          <a:lstStyle/>
          <a:p>
            <a:pPr algn="ctr" indent="0" marL="0">
              <a:buNone/>
            </a:pPr>
            <a:r>
              <a:rPr lang="en-US" sz="1200" dirty="0">
                <a:solidFill>
                  <a:srgbClr val="FFFFFF"/>
                </a:solidFill>
                <a:latin typeface="Arial" pitchFamily="34" charset="0"/>
                <a:ea typeface="Arial" pitchFamily="34" charset="-122"/>
                <a:cs typeface="Arial" pitchFamily="34" charset="-120"/>
              </a:rPr>
              <a:t>⤓ Download all three</a:t>
            </a:r>
            <a:endParaRPr lang="en-US" sz="1200" dirty="0"/>
          </a:p>
        </p:txBody>
      </p:sp>
      <p:sp>
        <p:nvSpPr>
          <p:cNvPr id="75" name="Shape 73"/>
          <p:cNvSpPr/>
          <p:nvPr/>
        </p:nvSpPr>
        <p:spPr>
          <a:xfrm>
            <a:off x="9939338" y="7917805"/>
            <a:ext cx="1835944" cy="619125"/>
          </a:xfrm>
          <a:prstGeom prst="roundRect">
            <a:avLst>
              <a:gd name="adj" fmla="val 13846"/>
            </a:avLst>
          </a:prstGeom>
          <a:ln w="19050">
            <a:solidFill>
              <a:srgbClr val="1B1B1B"/>
            </a:solidFill>
            <a:prstDash val="solid"/>
          </a:ln>
        </p:spPr>
      </p:sp>
      <p:sp>
        <p:nvSpPr>
          <p:cNvPr id="76" name="Text 74"/>
          <p:cNvSpPr/>
          <p:nvPr/>
        </p:nvSpPr>
        <p:spPr>
          <a:xfrm>
            <a:off x="10025063" y="8032105"/>
            <a:ext cx="1664494" cy="428625"/>
          </a:xfrm>
          <a:prstGeom prst="rect">
            <a:avLst/>
          </a:prstGeom>
          <a:noFill/>
          <a:ln/>
        </p:spPr>
        <p:txBody>
          <a:bodyPr wrap="square" lIns="25400" tIns="25400" rIns="25400" bIns="25400" rtlCol="0" anchor="t">
            <a:normAutofit/>
          </a:bodyPr>
          <a:lstStyle/>
          <a:p>
            <a:pPr algn="ctr" indent="0" marL="0">
              <a:buNone/>
            </a:pPr>
            <a:r>
              <a:rPr lang="en-US" sz="1200" dirty="0">
                <a:solidFill>
                  <a:srgbClr val="1B1B1B"/>
                </a:solidFill>
                <a:latin typeface="Arial" pitchFamily="34" charset="0"/>
                <a:ea typeface="Arial" pitchFamily="34" charset="-122"/>
                <a:cs typeface="Arial" pitchFamily="34" charset="-120"/>
              </a:rPr>
              <a:t>⧉ Copy</a:t>
            </a:r>
            <a:endParaRPr lang="en-US" sz="1200" dirty="0"/>
          </a:p>
        </p:txBody>
      </p:sp>
      <p:sp>
        <p:nvSpPr>
          <p:cNvPr id="77" name="Shape 75"/>
          <p:cNvSpPr/>
          <p:nvPr/>
        </p:nvSpPr>
        <p:spPr>
          <a:xfrm>
            <a:off x="11903869" y="7917805"/>
            <a:ext cx="1835944" cy="619125"/>
          </a:xfrm>
          <a:prstGeom prst="roundRect">
            <a:avLst>
              <a:gd name="adj" fmla="val 13846"/>
            </a:avLst>
          </a:prstGeom>
          <a:ln w="19050">
            <a:solidFill>
              <a:srgbClr val="1B1B1B"/>
            </a:solidFill>
            <a:prstDash val="solid"/>
          </a:ln>
        </p:spPr>
      </p:sp>
      <p:sp>
        <p:nvSpPr>
          <p:cNvPr id="78" name="Text 76"/>
          <p:cNvSpPr/>
          <p:nvPr/>
        </p:nvSpPr>
        <p:spPr>
          <a:xfrm>
            <a:off x="11989594" y="8032105"/>
            <a:ext cx="1664494" cy="428625"/>
          </a:xfrm>
          <a:prstGeom prst="rect">
            <a:avLst/>
          </a:prstGeom>
          <a:noFill/>
          <a:ln/>
        </p:spPr>
        <p:txBody>
          <a:bodyPr wrap="square" lIns="25400" tIns="25400" rIns="25400" bIns="25400" rtlCol="0" anchor="t">
            <a:normAutofit/>
          </a:bodyPr>
          <a:lstStyle/>
          <a:p>
            <a:pPr algn="ctr" indent="0" marL="0">
              <a:buNone/>
            </a:pPr>
            <a:r>
              <a:rPr lang="en-US" sz="1200" dirty="0">
                <a:solidFill>
                  <a:srgbClr val="1B1B1B"/>
                </a:solidFill>
                <a:latin typeface="Arial" pitchFamily="34" charset="0"/>
                <a:ea typeface="Arial" pitchFamily="34" charset="-122"/>
                <a:cs typeface="Arial" pitchFamily="34" charset="-120"/>
              </a:rPr>
              <a:t>⎙ Print</a:t>
            </a:r>
            <a:endParaRPr lang="en-US" sz="1200" dirty="0"/>
          </a:p>
        </p:txBody>
      </p:sp>
      <p:sp>
        <p:nvSpPr>
          <p:cNvPr id="79" name="Text 77"/>
          <p:cNvSpPr/>
          <p:nvPr/>
        </p:nvSpPr>
        <p:spPr>
          <a:xfrm>
            <a:off x="14335125" y="4043511"/>
            <a:ext cx="3443573" cy="1252538"/>
          </a:xfrm>
          <a:prstGeom prst="rect">
            <a:avLst/>
          </a:prstGeom>
          <a:noFill/>
          <a:ln/>
        </p:spPr>
        <p:txBody>
          <a:bodyPr wrap="square" lIns="25400" tIns="25400" rIns="25400" bIns="25400" rtlCol="0" anchor="t">
            <a:normAutofit/>
          </a:bodyPr>
          <a:lstStyle/>
          <a:p>
            <a:pPr algn="l" indent="0" marL="0">
              <a:lnSpc>
                <a:spcPct val="108974"/>
              </a:lnSpc>
              <a:buNone/>
            </a:pPr>
            <a:r>
              <a:rPr lang="en-US" sz="2550" dirty="0">
                <a:solidFill>
                  <a:srgbClr val="1B1B1B"/>
                </a:solidFill>
                <a:latin typeface="Arial" pitchFamily="34" charset="0"/>
                <a:ea typeface="Arial" pitchFamily="34" charset="-122"/>
                <a:cs typeface="Arial" pitchFamily="34" charset="-120"/>
              </a:rPr>
              <a:t>nothing is stored — if they don't take it here, it's gone</a:t>
            </a:r>
            <a:endParaRPr lang="en-US" sz="2550" dirty="0"/>
          </a:p>
        </p:txBody>
      </p:sp>
      <p:sp>
        <p:nvSpPr>
          <p:cNvPr id="80" name="Text 78"/>
          <p:cNvSpPr/>
          <p:nvPr/>
        </p:nvSpPr>
        <p:spPr>
          <a:xfrm>
            <a:off x="14335125" y="5429399"/>
            <a:ext cx="3443573" cy="1709440"/>
          </a:xfrm>
          <a:prstGeom prst="rect">
            <a:avLst/>
          </a:prstGeom>
          <a:noFill/>
          <a:ln/>
        </p:spPr>
        <p:txBody>
          <a:bodyPr wrap="square" lIns="25400" tIns="25400" rIns="25400" bIns="25400" rtlCol="0" anchor="t">
            <a:normAutofit/>
          </a:bodyPr>
          <a:lstStyle/>
          <a:p>
            <a:pPr algn="l" indent="0" marL="0">
              <a:lnSpc>
                <a:spcPct val="113226"/>
              </a:lnSpc>
              <a:buNone/>
            </a:pPr>
            <a:r>
              <a:rPr lang="en-US" sz="1950" dirty="0">
                <a:solidFill>
                  <a:srgbClr val="1F6BB8"/>
                </a:solidFill>
                <a:latin typeface="Arial" pitchFamily="34" charset="0"/>
                <a:ea typeface="Arial" pitchFamily="34" charset="-122"/>
                <a:cs typeface="Arial" pitchFamily="34" charset="-120"/>
              </a:rPr>
              <a:t>Download-first, and pushed again if they linger — this is the one place I'd allow a mild interruption, because there is no “come back later”.</a:t>
            </a:r>
            <a:endParaRPr lang="en-US" sz="1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FECE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FECE6"/>
          </a:solidFill>
          <a:ln/>
        </p:spPr>
      </p:sp>
      <p:sp>
        <p:nvSpPr>
          <p:cNvPr id="3" name="Shape 1"/>
          <p:cNvSpPr/>
          <p:nvPr/>
        </p:nvSpPr>
        <p:spPr>
          <a:xfrm>
            <a:off x="609600" y="1066800"/>
            <a:ext cx="17068800" cy="19050"/>
          </a:xfrm>
          <a:prstGeom prst="rect">
            <a:avLst/>
          </a:prstGeom>
          <a:solidFill>
            <a:srgbClr val="1B1B1B"/>
          </a:solidFill>
          <a:ln/>
        </p:spPr>
      </p:sp>
      <p:sp>
        <p:nvSpPr>
          <p:cNvPr id="4" name="Text 2"/>
          <p:cNvSpPr/>
          <p:nvPr/>
        </p:nvSpPr>
        <p:spPr>
          <a:xfrm>
            <a:off x="609600" y="495300"/>
            <a:ext cx="4750891" cy="476250"/>
          </a:xfrm>
          <a:prstGeom prst="rect">
            <a:avLst/>
          </a:prstGeom>
          <a:noFill/>
          <a:ln/>
        </p:spPr>
        <p:txBody>
          <a:bodyPr wrap="square" lIns="25400" tIns="25400" rIns="25400" bIns="25400" rtlCol="0" anchor="t">
            <a:normAutofit/>
          </a:bodyPr>
          <a:lstStyle/>
          <a:p>
            <a:pPr algn="l" indent="0" marL="0">
              <a:lnSpc>
                <a:spcPct val="102222"/>
              </a:lnSpc>
              <a:buNone/>
            </a:pPr>
            <a:r>
              <a:rPr lang="en-US" sz="3000" b="1" dirty="0">
                <a:solidFill>
                  <a:srgbClr val="1B1B1B"/>
                </a:solidFill>
                <a:latin typeface="Helvetica" pitchFamily="34" charset="0"/>
                <a:ea typeface="Helvetica" pitchFamily="34" charset="-122"/>
                <a:cs typeface="Helvetica" pitchFamily="34" charset="-120"/>
              </a:rPr>
              <a:t>Where the stitch strains</a:t>
            </a:r>
            <a:endParaRPr lang="en-US" sz="3000" dirty="0"/>
          </a:p>
        </p:txBody>
      </p:sp>
      <p:sp>
        <p:nvSpPr>
          <p:cNvPr id="5" name="Text 3"/>
          <p:cNvSpPr/>
          <p:nvPr/>
        </p:nvSpPr>
        <p:spPr>
          <a:xfrm>
            <a:off x="13469541" y="695325"/>
            <a:ext cx="4629745" cy="228600"/>
          </a:xfrm>
          <a:prstGeom prst="rect">
            <a:avLst/>
          </a:prstGeom>
          <a:noFill/>
          <a:ln/>
        </p:spPr>
        <p:txBody>
          <a:bodyPr wrap="none" lIns="25400" tIns="25400" rIns="25400" bIns="25400" rtlCol="0" anchor="t">
            <a:normAutofit/>
          </a:bodyPr>
          <a:lstStyle/>
          <a:p>
            <a:pPr algn="l" indent="0" marL="0">
              <a:lnSpc>
                <a:spcPct val="86957"/>
              </a:lnSpc>
              <a:buNone/>
            </a:pPr>
            <a:r>
              <a:rPr lang="en-US" sz="1500" b="1" spc="150" kern="0" dirty="0">
                <a:solidFill>
                  <a:srgbClr val="8A8479"/>
                </a:solidFill>
                <a:latin typeface="Courier New" pitchFamily="34" charset="0"/>
                <a:ea typeface="Courier New" pitchFamily="34" charset="-122"/>
                <a:cs typeface="Courier New" pitchFamily="34" charset="-120"/>
              </a:rPr>
              <a:t>FOUR THINGS NEITHER PACK HAD ALONE</a:t>
            </a:r>
            <a:endParaRPr lang="en-US" sz="1500" dirty="0"/>
          </a:p>
        </p:txBody>
      </p:sp>
      <p:sp>
        <p:nvSpPr>
          <p:cNvPr id="6" name="Shape 4"/>
          <p:cNvSpPr/>
          <p:nvPr/>
        </p:nvSpPr>
        <p:spPr>
          <a:xfrm>
            <a:off x="609600" y="1314450"/>
            <a:ext cx="4110038" cy="8477250"/>
          </a:xfrm>
          <a:prstGeom prst="roundRect">
            <a:avLst>
              <a:gd name="adj" fmla="val 2781"/>
            </a:avLst>
          </a:prstGeom>
          <a:solidFill>
            <a:srgbClr val="FFFAF0"/>
          </a:solidFill>
          <a:ln w="9525">
            <a:solidFill>
              <a:srgbClr val="E8D9B4"/>
            </a:solidFill>
            <a:prstDash val="solid"/>
          </a:ln>
        </p:spPr>
      </p:sp>
      <p:sp>
        <p:nvSpPr>
          <p:cNvPr id="7" name="Text 5"/>
          <p:cNvSpPr/>
          <p:nvPr/>
        </p:nvSpPr>
        <p:spPr>
          <a:xfrm>
            <a:off x="866775" y="1552575"/>
            <a:ext cx="3703558" cy="633412"/>
          </a:xfrm>
          <a:prstGeom prst="rect">
            <a:avLst/>
          </a:prstGeom>
          <a:noFill/>
          <a:ln/>
        </p:spPr>
        <p:txBody>
          <a:bodyPr wrap="square" lIns="25400" tIns="25400" rIns="25400" bIns="25400" rtlCol="0" anchor="t">
            <a:normAutofit/>
          </a:bodyPr>
          <a:lstStyle/>
          <a:p>
            <a:pPr algn="l" indent="0" marL="0">
              <a:lnSpc>
                <a:spcPct val="107759"/>
              </a:lnSpc>
              <a:buNone/>
            </a:pPr>
            <a:r>
              <a:rPr lang="en-US" sz="1875" b="1" dirty="0">
                <a:solidFill>
                  <a:srgbClr val="1B1B1B"/>
                </a:solidFill>
                <a:latin typeface="Helvetica" pitchFamily="34" charset="0"/>
                <a:ea typeface="Helvetica" pitchFamily="34" charset="-122"/>
                <a:cs typeface="Helvetica" pitchFamily="34" charset="-120"/>
              </a:rPr>
              <a:t>1 · The seam works, the scroll doesn't</a:t>
            </a:r>
            <a:endParaRPr lang="en-US" sz="1875" dirty="0"/>
          </a:p>
        </p:txBody>
      </p:sp>
      <p:sp>
        <p:nvSpPr>
          <p:cNvPr id="8" name="Text 6"/>
          <p:cNvSpPr/>
          <p:nvPr/>
        </p:nvSpPr>
        <p:spPr>
          <a:xfrm>
            <a:off x="866775" y="2243138"/>
            <a:ext cx="3703558" cy="2800350"/>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3A352D"/>
                </a:solidFill>
                <a:latin typeface="Helvetica" pitchFamily="34" charset="0"/>
                <a:ea typeface="Helvetica" pitchFamily="34" charset="-122"/>
                <a:cs typeface="Helvetica" pitchFamily="34" charset="-120"/>
              </a:rPr>
              <a:t>Keeping one column means the canvas inherits the column's width and the transcript scrolls away above it. Nothing breaks, but by step 10 the coach's earlier turns are a long way up — and on mobile the canvas is permanently collapsed to a thumbnail map.</a:t>
            </a:r>
            <a:endParaRPr lang="en-US" sz="1875" dirty="0"/>
          </a:p>
        </p:txBody>
      </p:sp>
      <p:sp>
        <p:nvSpPr>
          <p:cNvPr id="9" name="Shape 7"/>
          <p:cNvSpPr/>
          <p:nvPr/>
        </p:nvSpPr>
        <p:spPr>
          <a:xfrm>
            <a:off x="4929188" y="1314450"/>
            <a:ext cx="4110038" cy="8477250"/>
          </a:xfrm>
          <a:prstGeom prst="roundRect">
            <a:avLst>
              <a:gd name="adj" fmla="val 2781"/>
            </a:avLst>
          </a:prstGeom>
          <a:solidFill>
            <a:srgbClr val="FFFAF0"/>
          </a:solidFill>
          <a:ln w="9525">
            <a:solidFill>
              <a:srgbClr val="E8D9B4"/>
            </a:solidFill>
            <a:prstDash val="solid"/>
          </a:ln>
        </p:spPr>
      </p:sp>
      <p:sp>
        <p:nvSpPr>
          <p:cNvPr id="10" name="Text 8"/>
          <p:cNvSpPr/>
          <p:nvPr/>
        </p:nvSpPr>
        <p:spPr>
          <a:xfrm>
            <a:off x="5186363" y="1552575"/>
            <a:ext cx="3703558" cy="633412"/>
          </a:xfrm>
          <a:prstGeom prst="rect">
            <a:avLst/>
          </a:prstGeom>
          <a:noFill/>
          <a:ln/>
        </p:spPr>
        <p:txBody>
          <a:bodyPr wrap="square" lIns="25400" tIns="25400" rIns="25400" bIns="25400" rtlCol="0" anchor="t">
            <a:normAutofit/>
          </a:bodyPr>
          <a:lstStyle/>
          <a:p>
            <a:pPr algn="l" indent="0" marL="0">
              <a:lnSpc>
                <a:spcPct val="107759"/>
              </a:lnSpc>
              <a:buNone/>
            </a:pPr>
            <a:r>
              <a:rPr lang="en-US" sz="1875" b="1" dirty="0">
                <a:solidFill>
                  <a:srgbClr val="1B1B1B"/>
                </a:solidFill>
                <a:latin typeface="Helvetica" pitchFamily="34" charset="0"/>
                <a:ea typeface="Helvetica" pitchFamily="34" charset="-122"/>
                <a:cs typeface="Helvetica" pitchFamily="34" charset="-120"/>
              </a:rPr>
              <a:t>2 · Everything good is behind step 04</a:t>
            </a:r>
            <a:endParaRPr lang="en-US" sz="1875" dirty="0"/>
          </a:p>
        </p:txBody>
      </p:sp>
      <p:sp>
        <p:nvSpPr>
          <p:cNvPr id="11" name="Text 9"/>
          <p:cNvSpPr/>
          <p:nvPr/>
        </p:nvSpPr>
        <p:spPr>
          <a:xfrm>
            <a:off x="5186363" y="2243138"/>
            <a:ext cx="3703558" cy="2800350"/>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3A352D"/>
                </a:solidFill>
                <a:latin typeface="Helvetica" pitchFamily="34" charset="0"/>
                <a:ea typeface="Helvetica" pitchFamily="34" charset="-122"/>
                <a:cs typeface="Helvetica" pitchFamily="34" charset="-120"/>
              </a:rPr>
              <a:t>Say “I can't share” and you never see the canvas, the nudge, or the takeaway. Pack one designed that handover as a win, but stitched end to end it's visibly the shorter road. Worth asking whether the canvas could run locally, unshared, for that path.</a:t>
            </a:r>
            <a:endParaRPr lang="en-US" sz="1875" dirty="0"/>
          </a:p>
        </p:txBody>
      </p:sp>
      <p:sp>
        <p:nvSpPr>
          <p:cNvPr id="12" name="Shape 10"/>
          <p:cNvSpPr/>
          <p:nvPr/>
        </p:nvSpPr>
        <p:spPr>
          <a:xfrm>
            <a:off x="9248775" y="1314450"/>
            <a:ext cx="4110038" cy="8477250"/>
          </a:xfrm>
          <a:prstGeom prst="roundRect">
            <a:avLst>
              <a:gd name="adj" fmla="val 2781"/>
            </a:avLst>
          </a:prstGeom>
          <a:solidFill>
            <a:srgbClr val="FFFAF0"/>
          </a:solidFill>
          <a:ln w="9525">
            <a:solidFill>
              <a:srgbClr val="E8D9B4"/>
            </a:solidFill>
            <a:prstDash val="solid"/>
          </a:ln>
        </p:spPr>
      </p:sp>
      <p:sp>
        <p:nvSpPr>
          <p:cNvPr id="13" name="Text 11"/>
          <p:cNvSpPr/>
          <p:nvPr/>
        </p:nvSpPr>
        <p:spPr>
          <a:xfrm>
            <a:off x="9505950" y="1552575"/>
            <a:ext cx="3703558" cy="633412"/>
          </a:xfrm>
          <a:prstGeom prst="rect">
            <a:avLst/>
          </a:prstGeom>
          <a:noFill/>
          <a:ln/>
        </p:spPr>
        <p:txBody>
          <a:bodyPr wrap="square" lIns="25400" tIns="25400" rIns="25400" bIns="25400" rtlCol="0" anchor="t">
            <a:normAutofit/>
          </a:bodyPr>
          <a:lstStyle/>
          <a:p>
            <a:pPr algn="l" indent="0" marL="0">
              <a:lnSpc>
                <a:spcPct val="107759"/>
              </a:lnSpc>
              <a:buNone/>
            </a:pPr>
            <a:r>
              <a:rPr lang="en-US" sz="1875" b="1" dirty="0">
                <a:solidFill>
                  <a:srgbClr val="1B1B1B"/>
                </a:solidFill>
                <a:latin typeface="Helvetica" pitchFamily="34" charset="0"/>
                <a:ea typeface="Helvetica" pitchFamily="34" charset="-122"/>
                <a:cs typeface="Helvetica" pitchFamily="34" charset="-120"/>
              </a:rPr>
              <a:t>3 · Two chip systems now coexist</a:t>
            </a:r>
            <a:endParaRPr lang="en-US" sz="1875" dirty="0"/>
          </a:p>
        </p:txBody>
      </p:sp>
      <p:sp>
        <p:nvSpPr>
          <p:cNvPr id="14" name="Text 12"/>
          <p:cNvSpPr/>
          <p:nvPr/>
        </p:nvSpPr>
        <p:spPr>
          <a:xfrm>
            <a:off x="9505950" y="2243138"/>
            <a:ext cx="3703558" cy="2455069"/>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3A352D"/>
                </a:solidFill>
                <a:latin typeface="Helvetica" pitchFamily="34" charset="0"/>
                <a:ea typeface="Helvetica" pitchFamily="34" charset="-122"/>
                <a:cs typeface="Helvetica" pitchFamily="34" charset="-120"/>
              </a:rPr>
              <a:t>Triage answers are chips; coaching answers are sticky notes. That's a deliberate signal — chips are facts about you, stickies are your thinking — but it needs saying out loud or it reads as inconsistency.</a:t>
            </a:r>
            <a:endParaRPr lang="en-US" sz="1875" dirty="0"/>
          </a:p>
        </p:txBody>
      </p:sp>
      <p:sp>
        <p:nvSpPr>
          <p:cNvPr id="15" name="Shape 13"/>
          <p:cNvSpPr/>
          <p:nvPr/>
        </p:nvSpPr>
        <p:spPr>
          <a:xfrm>
            <a:off x="13568363" y="1314450"/>
            <a:ext cx="4110038" cy="8477250"/>
          </a:xfrm>
          <a:prstGeom prst="roundRect">
            <a:avLst>
              <a:gd name="adj" fmla="val 2781"/>
            </a:avLst>
          </a:prstGeom>
          <a:solidFill>
            <a:srgbClr val="FFFAF0"/>
          </a:solidFill>
          <a:ln w="9525">
            <a:solidFill>
              <a:srgbClr val="E8D9B4"/>
            </a:solidFill>
            <a:prstDash val="solid"/>
          </a:ln>
        </p:spPr>
      </p:sp>
      <p:sp>
        <p:nvSpPr>
          <p:cNvPr id="16" name="Text 14"/>
          <p:cNvSpPr/>
          <p:nvPr/>
        </p:nvSpPr>
        <p:spPr>
          <a:xfrm>
            <a:off x="13825538" y="1552575"/>
            <a:ext cx="3703558" cy="633412"/>
          </a:xfrm>
          <a:prstGeom prst="rect">
            <a:avLst/>
          </a:prstGeom>
          <a:noFill/>
          <a:ln/>
        </p:spPr>
        <p:txBody>
          <a:bodyPr wrap="square" lIns="25400" tIns="25400" rIns="25400" bIns="25400" rtlCol="0" anchor="t">
            <a:normAutofit/>
          </a:bodyPr>
          <a:lstStyle/>
          <a:p>
            <a:pPr algn="l" indent="0" marL="0">
              <a:lnSpc>
                <a:spcPct val="107759"/>
              </a:lnSpc>
              <a:buNone/>
            </a:pPr>
            <a:r>
              <a:rPr lang="en-US" sz="1875" b="1" dirty="0">
                <a:solidFill>
                  <a:srgbClr val="1B1B1B"/>
                </a:solidFill>
                <a:latin typeface="Helvetica" pitchFamily="34" charset="0"/>
                <a:ea typeface="Helvetica" pitchFamily="34" charset="-122"/>
                <a:cs typeface="Helvetica" pitchFamily="34" charset="-120"/>
              </a:rPr>
              <a:t>4 · Thirteen steps, no progress bar</a:t>
            </a:r>
            <a:endParaRPr lang="en-US" sz="1875" dirty="0"/>
          </a:p>
        </p:txBody>
      </p:sp>
      <p:sp>
        <p:nvSpPr>
          <p:cNvPr id="17" name="Text 15"/>
          <p:cNvSpPr/>
          <p:nvPr/>
        </p:nvSpPr>
        <p:spPr>
          <a:xfrm>
            <a:off x="13825538" y="2243138"/>
            <a:ext cx="3703558" cy="2455069"/>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3A352D"/>
                </a:solidFill>
                <a:latin typeface="Helvetica" pitchFamily="34" charset="0"/>
                <a:ea typeface="Helvetica" pitchFamily="34" charset="-122"/>
                <a:cs typeface="Helvetica" pitchFamily="34" charset="-120"/>
              </a:rPr>
              <a:t>This is the longest thing here and it deliberately never tells you how far through you are. The only orientation is the canvas filling. If testing says people feel lost, the fix is more narration from the coach, not a bar.</a:t>
            </a:r>
            <a:endParaRPr lang="en-US" sz="18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FECE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FECE6"/>
          </a:solidFill>
          <a:ln/>
        </p:spPr>
      </p:sp>
      <p:sp>
        <p:nvSpPr>
          <p:cNvPr id="3" name="Shape 1"/>
          <p:cNvSpPr/>
          <p:nvPr/>
        </p:nvSpPr>
        <p:spPr>
          <a:xfrm>
            <a:off x="609600" y="1066800"/>
            <a:ext cx="17068800" cy="19050"/>
          </a:xfrm>
          <a:prstGeom prst="rect">
            <a:avLst/>
          </a:prstGeom>
          <a:solidFill>
            <a:srgbClr val="1B1B1B"/>
          </a:solidFill>
          <a:ln/>
        </p:spPr>
      </p:sp>
      <p:sp>
        <p:nvSpPr>
          <p:cNvPr id="4" name="Text 2"/>
          <p:cNvSpPr/>
          <p:nvPr/>
        </p:nvSpPr>
        <p:spPr>
          <a:xfrm>
            <a:off x="609600" y="495300"/>
            <a:ext cx="4035147" cy="476250"/>
          </a:xfrm>
          <a:prstGeom prst="rect">
            <a:avLst/>
          </a:prstGeom>
          <a:noFill/>
          <a:ln/>
        </p:spPr>
        <p:txBody>
          <a:bodyPr wrap="square" lIns="25400" tIns="25400" rIns="25400" bIns="25400" rtlCol="0" anchor="t">
            <a:normAutofit/>
          </a:bodyPr>
          <a:lstStyle/>
          <a:p>
            <a:pPr algn="l" indent="0" marL="0">
              <a:lnSpc>
                <a:spcPct val="102222"/>
              </a:lnSpc>
              <a:buNone/>
            </a:pPr>
            <a:r>
              <a:rPr lang="en-US" sz="3000" b="1" dirty="0">
                <a:solidFill>
                  <a:srgbClr val="1B1B1B"/>
                </a:solidFill>
                <a:latin typeface="Helvetica" pitchFamily="34" charset="0"/>
                <a:ea typeface="Helvetica" pitchFamily="34" charset="-122"/>
                <a:cs typeface="Helvetica" pitchFamily="34" charset="-120"/>
              </a:rPr>
              <a:t>What I'd decide next</a:t>
            </a:r>
            <a:endParaRPr lang="en-US" sz="3000" dirty="0"/>
          </a:p>
        </p:txBody>
      </p:sp>
      <p:sp>
        <p:nvSpPr>
          <p:cNvPr id="5" name="Text 3"/>
          <p:cNvSpPr/>
          <p:nvPr/>
        </p:nvSpPr>
        <p:spPr>
          <a:xfrm>
            <a:off x="16316623" y="695325"/>
            <a:ext cx="1497955" cy="228600"/>
          </a:xfrm>
          <a:prstGeom prst="rect">
            <a:avLst/>
          </a:prstGeom>
          <a:noFill/>
          <a:ln/>
        </p:spPr>
        <p:txBody>
          <a:bodyPr wrap="none" lIns="25400" tIns="25400" rIns="25400" bIns="25400" rtlCol="0" anchor="t">
            <a:normAutofit/>
          </a:bodyPr>
          <a:lstStyle/>
          <a:p>
            <a:pPr algn="l" indent="0" marL="0">
              <a:lnSpc>
                <a:spcPct val="86957"/>
              </a:lnSpc>
              <a:buNone/>
            </a:pPr>
            <a:r>
              <a:rPr lang="en-US" sz="1500" b="1" spc="150" kern="0" dirty="0">
                <a:solidFill>
                  <a:srgbClr val="8A8479"/>
                </a:solidFill>
                <a:latin typeface="Courier New" pitchFamily="34" charset="0"/>
                <a:ea typeface="Courier New" pitchFamily="34" charset="-122"/>
                <a:cs typeface="Courier New" pitchFamily="34" charset="-120"/>
              </a:rPr>
              <a:t>THREE CALLS</a:t>
            </a:r>
            <a:endParaRPr lang="en-US" sz="1500" dirty="0"/>
          </a:p>
        </p:txBody>
      </p:sp>
      <p:sp>
        <p:nvSpPr>
          <p:cNvPr id="6" name="Text 4"/>
          <p:cNvSpPr/>
          <p:nvPr/>
        </p:nvSpPr>
        <p:spPr>
          <a:xfrm>
            <a:off x="609600" y="3770114"/>
            <a:ext cx="243780" cy="1146721"/>
          </a:xfrm>
          <a:prstGeom prst="rect">
            <a:avLst/>
          </a:prstGeom>
          <a:noFill/>
          <a:ln/>
        </p:spPr>
        <p:txBody>
          <a:bodyPr wrap="square" lIns="25400" tIns="25400" rIns="25400" bIns="25400" rtlCol="0" anchor="t">
            <a:normAutofit/>
          </a:bodyPr>
          <a:lstStyle/>
          <a:p>
            <a:pPr algn="l" indent="0" marL="0">
              <a:lnSpc>
                <a:spcPct val="86154"/>
              </a:lnSpc>
              <a:buNone/>
            </a:pPr>
            <a:r>
              <a:rPr lang="en-US" sz="4200" dirty="0">
                <a:solidFill>
                  <a:srgbClr val="6B665E"/>
                </a:solidFill>
                <a:latin typeface="Arial" pitchFamily="34" charset="0"/>
                <a:ea typeface="Arial" pitchFamily="34" charset="-122"/>
                <a:cs typeface="Arial" pitchFamily="34" charset="-120"/>
              </a:rPr>
              <a:t>1</a:t>
            </a:r>
            <a:endParaRPr lang="en-US" sz="4200" dirty="0"/>
          </a:p>
        </p:txBody>
      </p:sp>
      <p:sp>
        <p:nvSpPr>
          <p:cNvPr id="7" name="Text 5"/>
          <p:cNvSpPr/>
          <p:nvPr/>
        </p:nvSpPr>
        <p:spPr>
          <a:xfrm>
            <a:off x="986730" y="3770114"/>
            <a:ext cx="12032426" cy="426690"/>
          </a:xfrm>
          <a:prstGeom prst="rect">
            <a:avLst/>
          </a:prstGeom>
          <a:noFill/>
          <a:ln/>
        </p:spPr>
        <p:txBody>
          <a:bodyPr wrap="square" lIns="25400" tIns="25400" rIns="25400" bIns="25400" rtlCol="0" anchor="t">
            <a:normAutofit/>
          </a:bodyPr>
          <a:lstStyle/>
          <a:p>
            <a:pPr algn="l" indent="0" marL="0">
              <a:lnSpc>
                <a:spcPct val="104615"/>
              </a:lnSpc>
              <a:buNone/>
            </a:pPr>
            <a:r>
              <a:rPr lang="en-US" sz="2550" dirty="0">
                <a:solidFill>
                  <a:srgbClr val="1B1B1B"/>
                </a:solidFill>
                <a:latin typeface="Arial" pitchFamily="34" charset="0"/>
                <a:ea typeface="Arial" pitchFamily="34" charset="-122"/>
                <a:cs typeface="Arial" pitchFamily="34" charset="-120"/>
              </a:rPr>
              <a:t>Does the canvas pin, or scroll?</a:t>
            </a:r>
            <a:endParaRPr lang="en-US" sz="2550" dirty="0"/>
          </a:p>
        </p:txBody>
      </p:sp>
      <p:sp>
        <p:nvSpPr>
          <p:cNvPr id="8" name="Text 6"/>
          <p:cNvSpPr/>
          <p:nvPr/>
        </p:nvSpPr>
        <p:spPr>
          <a:xfrm>
            <a:off x="986730" y="4215854"/>
            <a:ext cx="11266727" cy="70098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3A352D"/>
                </a:solidFill>
                <a:latin typeface="Helvetica" pitchFamily="34" charset="0"/>
                <a:ea typeface="Helvetica" pitchFamily="34" charset="-122"/>
                <a:cs typeface="Helvetica" pitchFamily="34" charset="-120"/>
              </a:rPr>
              <a:t>Pinning keeps the coach’s turns in view but turns the canvas into a panel — and 2b’s inflating box stops being possible.</a:t>
            </a:r>
            <a:endParaRPr lang="en-US" sz="1800" dirty="0"/>
          </a:p>
        </p:txBody>
      </p:sp>
      <p:sp>
        <p:nvSpPr>
          <p:cNvPr id="9" name="Text 7"/>
          <p:cNvSpPr/>
          <p:nvPr/>
        </p:nvSpPr>
        <p:spPr>
          <a:xfrm>
            <a:off x="609600" y="5164485"/>
            <a:ext cx="386209" cy="1146721"/>
          </a:xfrm>
          <a:prstGeom prst="rect">
            <a:avLst/>
          </a:prstGeom>
          <a:noFill/>
          <a:ln/>
        </p:spPr>
        <p:txBody>
          <a:bodyPr wrap="square" lIns="25400" tIns="25400" rIns="25400" bIns="25400" rtlCol="0" anchor="t">
            <a:normAutofit/>
          </a:bodyPr>
          <a:lstStyle/>
          <a:p>
            <a:pPr algn="l" indent="0" marL="0">
              <a:lnSpc>
                <a:spcPct val="86154"/>
              </a:lnSpc>
              <a:buNone/>
            </a:pPr>
            <a:r>
              <a:rPr lang="en-US" sz="4200" dirty="0">
                <a:solidFill>
                  <a:srgbClr val="6B665E"/>
                </a:solidFill>
                <a:latin typeface="Arial" pitchFamily="34" charset="0"/>
                <a:ea typeface="Arial" pitchFamily="34" charset="-122"/>
                <a:cs typeface="Arial" pitchFamily="34" charset="-120"/>
              </a:rPr>
              <a:t>2</a:t>
            </a:r>
            <a:endParaRPr lang="en-US" sz="4200" dirty="0"/>
          </a:p>
        </p:txBody>
      </p:sp>
      <p:sp>
        <p:nvSpPr>
          <p:cNvPr id="10" name="Text 8"/>
          <p:cNvSpPr/>
          <p:nvPr/>
        </p:nvSpPr>
        <p:spPr>
          <a:xfrm>
            <a:off x="1129159" y="5164485"/>
            <a:ext cx="11875755" cy="426690"/>
          </a:xfrm>
          <a:prstGeom prst="rect">
            <a:avLst/>
          </a:prstGeom>
          <a:noFill/>
          <a:ln/>
        </p:spPr>
        <p:txBody>
          <a:bodyPr wrap="square" lIns="25400" tIns="25400" rIns="25400" bIns="25400" rtlCol="0" anchor="t">
            <a:normAutofit/>
          </a:bodyPr>
          <a:lstStyle/>
          <a:p>
            <a:pPr algn="l" indent="0" marL="0">
              <a:lnSpc>
                <a:spcPct val="104615"/>
              </a:lnSpc>
              <a:buNone/>
            </a:pPr>
            <a:r>
              <a:rPr lang="en-US" sz="2550" dirty="0">
                <a:solidFill>
                  <a:srgbClr val="1B1B1B"/>
                </a:solidFill>
                <a:latin typeface="Arial" pitchFamily="34" charset="0"/>
                <a:ea typeface="Arial" pitchFamily="34" charset="-122"/>
                <a:cs typeface="Arial" pitchFamily="34" charset="-120"/>
              </a:rPr>
              <a:t>Does the can’t-share path get a canvas?</a:t>
            </a:r>
            <a:endParaRPr lang="en-US" sz="2550" dirty="0"/>
          </a:p>
        </p:txBody>
      </p:sp>
      <p:sp>
        <p:nvSpPr>
          <p:cNvPr id="11" name="Text 9"/>
          <p:cNvSpPr/>
          <p:nvPr/>
        </p:nvSpPr>
        <p:spPr>
          <a:xfrm>
            <a:off x="1129159" y="5610225"/>
            <a:ext cx="11120025" cy="70098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3A352D"/>
                </a:solidFill>
                <a:latin typeface="Helvetica" pitchFamily="34" charset="0"/>
                <a:ea typeface="Helvetica" pitchFamily="34" charset="-122"/>
                <a:cs typeface="Helvetica" pitchFamily="34" charset="-120"/>
              </a:rPr>
              <a:t>Right now everything good sits behind step 04. A local, unshared canvas would put both roads on equal footing.</a:t>
            </a:r>
            <a:endParaRPr lang="en-US" sz="1800" dirty="0"/>
          </a:p>
        </p:txBody>
      </p:sp>
      <p:sp>
        <p:nvSpPr>
          <p:cNvPr id="12" name="Text 10"/>
          <p:cNvSpPr/>
          <p:nvPr/>
        </p:nvSpPr>
        <p:spPr>
          <a:xfrm>
            <a:off x="609600" y="6558855"/>
            <a:ext cx="380851" cy="815280"/>
          </a:xfrm>
          <a:prstGeom prst="rect">
            <a:avLst/>
          </a:prstGeom>
          <a:noFill/>
          <a:ln/>
        </p:spPr>
        <p:txBody>
          <a:bodyPr wrap="square" lIns="25400" tIns="25400" rIns="25400" bIns="25400" rtlCol="0" anchor="t">
            <a:normAutofit/>
          </a:bodyPr>
          <a:lstStyle/>
          <a:p>
            <a:pPr algn="l" indent="0" marL="0">
              <a:lnSpc>
                <a:spcPct val="86154"/>
              </a:lnSpc>
              <a:buNone/>
            </a:pPr>
            <a:r>
              <a:rPr lang="en-US" sz="4200" dirty="0">
                <a:solidFill>
                  <a:srgbClr val="6B665E"/>
                </a:solidFill>
                <a:latin typeface="Arial" pitchFamily="34" charset="0"/>
                <a:ea typeface="Arial" pitchFamily="34" charset="-122"/>
                <a:cs typeface="Arial" pitchFamily="34" charset="-120"/>
              </a:rPr>
              <a:t>3</a:t>
            </a:r>
            <a:endParaRPr lang="en-US" sz="4200" dirty="0"/>
          </a:p>
        </p:txBody>
      </p:sp>
      <p:sp>
        <p:nvSpPr>
          <p:cNvPr id="13" name="Text 11"/>
          <p:cNvSpPr/>
          <p:nvPr/>
        </p:nvSpPr>
        <p:spPr>
          <a:xfrm>
            <a:off x="1123801" y="6558855"/>
            <a:ext cx="11168033" cy="426690"/>
          </a:xfrm>
          <a:prstGeom prst="rect">
            <a:avLst/>
          </a:prstGeom>
          <a:noFill/>
          <a:ln/>
        </p:spPr>
        <p:txBody>
          <a:bodyPr wrap="square" lIns="25400" tIns="25400" rIns="25400" bIns="25400" rtlCol="0" anchor="t">
            <a:normAutofit/>
          </a:bodyPr>
          <a:lstStyle/>
          <a:p>
            <a:pPr algn="l" indent="0" marL="0">
              <a:lnSpc>
                <a:spcPct val="104615"/>
              </a:lnSpc>
              <a:buNone/>
            </a:pPr>
            <a:r>
              <a:rPr lang="en-US" sz="2550" dirty="0">
                <a:solidFill>
                  <a:srgbClr val="1B1B1B"/>
                </a:solidFill>
                <a:latin typeface="Arial" pitchFamily="34" charset="0"/>
                <a:ea typeface="Arial" pitchFamily="34" charset="-122"/>
                <a:cs typeface="Arial" pitchFamily="34" charset="-120"/>
              </a:rPr>
              <a:t>Does room mode run this same spine?</a:t>
            </a:r>
            <a:endParaRPr lang="en-US" sz="2550" dirty="0"/>
          </a:p>
        </p:txBody>
      </p:sp>
      <p:sp>
        <p:nvSpPr>
          <p:cNvPr id="14" name="Text 12"/>
          <p:cNvSpPr/>
          <p:nvPr/>
        </p:nvSpPr>
        <p:spPr>
          <a:xfrm>
            <a:off x="1123801" y="7004596"/>
            <a:ext cx="11168033" cy="36954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3A352D"/>
                </a:solidFill>
                <a:latin typeface="Helvetica" pitchFamily="34" charset="0"/>
                <a:ea typeface="Helvetica" pitchFamily="34" charset="-122"/>
                <a:cs typeface="Helvetica" pitchFamily="34" charset="-120"/>
              </a:rPr>
              <a:t>Same thirteen steps on a big screen with the nudge suppressed — or a shorter facilitator-led variant.</a:t>
            </a:r>
            <a:endParaRPr lang="en-US" sz="1800" dirty="0"/>
          </a:p>
        </p:txBody>
      </p:sp>
      <p:sp>
        <p:nvSpPr>
          <p:cNvPr id="15" name="Text 13"/>
          <p:cNvSpPr/>
          <p:nvPr/>
        </p:nvSpPr>
        <p:spPr>
          <a:xfrm>
            <a:off x="12344400" y="4609207"/>
            <a:ext cx="5494020" cy="1478161"/>
          </a:xfrm>
          <a:prstGeom prst="rect">
            <a:avLst/>
          </a:prstGeom>
          <a:noFill/>
          <a:ln/>
        </p:spPr>
        <p:txBody>
          <a:bodyPr wrap="square" lIns="25400" tIns="25400" rIns="25400" bIns="25400" rtlCol="0" anchor="t">
            <a:normAutofit/>
          </a:bodyPr>
          <a:lstStyle/>
          <a:p>
            <a:pPr algn="l" indent="0" marL="0">
              <a:lnSpc>
                <a:spcPct val="118125"/>
              </a:lnSpc>
              <a:buNone/>
            </a:pPr>
            <a:r>
              <a:rPr lang="en-US" sz="2100" dirty="0">
                <a:solidFill>
                  <a:srgbClr val="1F6BB8"/>
                </a:solidFill>
                <a:latin typeface="Arial" pitchFamily="34" charset="0"/>
                <a:ea typeface="Arial" pitchFamily="34" charset="-122"/>
                <a:cs typeface="Arial" pitchFamily="34" charset="-120"/>
              </a:rPr>
              <a:t>The seam itself is the part I'd protect. Everything else here can move without breaking the feeling that one conversation is still running.</a:t>
            </a:r>
            <a:endParaRPr lang="en-US" sz="2100" dirty="0"/>
          </a:p>
        </p:txBody>
      </p:sp>
      <p:sp>
        <p:nvSpPr>
          <p:cNvPr id="16" name="Text 14"/>
          <p:cNvSpPr/>
          <p:nvPr/>
        </p:nvSpPr>
        <p:spPr>
          <a:xfrm>
            <a:off x="12344400" y="6239768"/>
            <a:ext cx="5867400" cy="295275"/>
          </a:xfrm>
          <a:prstGeom prst="rect">
            <a:avLst/>
          </a:prstGeom>
          <a:noFill/>
          <a:ln/>
        </p:spPr>
        <p:txBody>
          <a:bodyPr wrap="square" lIns="25400" tIns="25400" rIns="25400" bIns="25400" rtlCol="0" anchor="t">
            <a:normAutofit/>
          </a:bodyPr>
          <a:lstStyle/>
          <a:p>
            <a:pPr algn="l" indent="0" marL="0">
              <a:lnSpc>
                <a:spcPct val="135000"/>
              </a:lnSpc>
              <a:buNone/>
            </a:pPr>
            <a:r>
              <a:rPr lang="en-US" sz="1350" dirty="0">
                <a:solidFill>
                  <a:srgbClr val="6B665E"/>
                </a:solidFill>
                <a:latin typeface="Courier New" pitchFamily="34" charset="0"/>
                <a:ea typeface="Courier New" pitchFamily="34" charset="-122"/>
                <a:cs typeface="Courier New" pitchFamily="34" charset="-120"/>
              </a:rPr>
              <a:t>bettergoals.ai · 1a + 2b · low-fidelity · September 2026</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2026-09-14T02:06:37Z</dcterms:created>
  <dcterms:modified xsi:type="dcterms:W3CDTF">2026-09-14T02:06:37Z</dcterms:modified>
</cp:coreProperties>
</file>